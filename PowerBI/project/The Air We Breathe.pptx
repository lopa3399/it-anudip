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9" d="100"/>
          <a:sy n="69" d="100"/>
        </p:scale>
        <p:origin x="-1416" y="-9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4">
  <dgm:title val=""/>
  <dgm:desc val=""/>
  <dgm:catLst>
    <dgm:cat type="accent3" pri="11400"/>
  </dgm:catLst>
  <dgm:styleLbl name="node0">
    <dgm:fillClrLst meth="cycle">
      <a:schemeClr val="accent3">
        <a:shade val="60000"/>
      </a:schemeClr>
    </dgm:fillClrLst>
    <dgm:linClrLst meth="repeat">
      <a:schemeClr val="lt1"/>
    </dgm:linClrLst>
    <dgm:effectClrLst/>
    <dgm:txLinClrLst/>
    <dgm:txFillClrLst/>
    <dgm:txEffectClrLst/>
  </dgm:styleLbl>
  <dgm:styleLbl name="node1">
    <dgm:fillClrLst meth="cycle">
      <a:schemeClr val="accent3">
        <a:shade val="50000"/>
      </a:schemeClr>
      <a:schemeClr val="accent3">
        <a:tint val="55000"/>
      </a:schemeClr>
    </dgm:fillClrLst>
    <dgm:linClrLst meth="repeat">
      <a:schemeClr val="lt1"/>
    </dgm:linClrLst>
    <dgm:effectClrLst/>
    <dgm:txLinClrLst/>
    <dgm:txFillClrLst/>
    <dgm:txEffectClrLst/>
  </dgm:styleLbl>
  <dgm:styleLbl name="alignNode1">
    <dgm:fillClrLst meth="cycle">
      <a:schemeClr val="accent3">
        <a:shade val="50000"/>
      </a:schemeClr>
      <a:schemeClr val="accent3">
        <a:tint val="55000"/>
      </a:schemeClr>
    </dgm:fillClrLst>
    <dgm:linClrLst meth="cycle">
      <a:schemeClr val="accent3">
        <a:shade val="50000"/>
      </a:schemeClr>
      <a:schemeClr val="accent3">
        <a:tint val="55000"/>
      </a:schemeClr>
    </dgm:linClrLst>
    <dgm:effectClrLst/>
    <dgm:txLinClrLst/>
    <dgm:txFillClrLst/>
    <dgm:txEffectClrLst/>
  </dgm:styleLbl>
  <dgm:styleLbl name="lnNode1">
    <dgm:fillClrLst meth="cycle">
      <a:schemeClr val="accent3">
        <a:shade val="50000"/>
      </a:schemeClr>
      <a:schemeClr val="accent3">
        <a:tint val="55000"/>
      </a:schemeClr>
    </dgm:fillClrLst>
    <dgm:linClrLst meth="repeat">
      <a:schemeClr val="lt1"/>
    </dgm:linClrLst>
    <dgm:effectClrLst/>
    <dgm:txLinClrLst/>
    <dgm:txFillClrLst/>
    <dgm:txEffectClrLst/>
  </dgm:styleLbl>
  <dgm:styleLbl name="vennNode1">
    <dgm:fillClrLst meth="cycle">
      <a:schemeClr val="accent3">
        <a:shade val="80000"/>
        <a:alpha val="50000"/>
      </a:schemeClr>
      <a:schemeClr val="accent3">
        <a:tint val="50000"/>
        <a:alpha val="50000"/>
      </a:schemeClr>
    </dgm:fillClrLst>
    <dgm:linClrLst meth="repeat">
      <a:schemeClr val="lt1"/>
    </dgm:linClrLst>
    <dgm:effectClrLst/>
    <dgm:txLinClrLst/>
    <dgm:txFillClrLst/>
    <dgm:txEffectClrLst/>
  </dgm:styleLbl>
  <dgm:styleLbl name="node2">
    <dgm:fillClrLst>
      <a:schemeClr val="accent3">
        <a:shade val="80000"/>
      </a:schemeClr>
    </dgm:fillClrLst>
    <dgm:linClrLst meth="repeat">
      <a:schemeClr val="lt1"/>
    </dgm:linClrLst>
    <dgm:effectClrLst/>
    <dgm:txLinClrLst/>
    <dgm:txFillClrLst/>
    <dgm:txEffectClrLst/>
  </dgm:styleLbl>
  <dgm:styleLbl name="node3">
    <dgm:fillClrLst>
      <a:schemeClr val="accent3">
        <a:tint val="99000"/>
      </a:schemeClr>
    </dgm:fillClrLst>
    <dgm:linClrLst meth="repeat">
      <a:schemeClr val="lt1"/>
    </dgm:linClrLst>
    <dgm:effectClrLst/>
    <dgm:txLinClrLst/>
    <dgm:txFillClrLst/>
    <dgm:txEffectClrLst/>
  </dgm:styleLbl>
  <dgm:styleLbl name="node4">
    <dgm:fillClrLst>
      <a:schemeClr val="accent3">
        <a:tint val="70000"/>
      </a:schemeClr>
    </dgm:fillClrLst>
    <dgm:linClrLst meth="repeat">
      <a:schemeClr val="lt1"/>
    </dgm:linClrLst>
    <dgm:effectClrLst/>
    <dgm:txLinClrLst/>
    <dgm:txFillClrLst/>
    <dgm:txEffectClrLst/>
  </dgm:styleLbl>
  <dgm:styleLbl name="fg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fg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bg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sibTrans1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accent3">
        <a:shade val="80000"/>
      </a:schemeClr>
    </dgm:fillClrLst>
    <dgm:linClrLst meth="repeat">
      <a:schemeClr val="lt1"/>
    </dgm:linClrLst>
    <dgm:effectClrLst/>
    <dgm:txLinClrLst/>
    <dgm:txFillClrLst/>
    <dgm:txEffectClrLst/>
  </dgm:styleLbl>
  <dgm:styleLbl name="asst1">
    <dgm:fillClrLst meth="repeat">
      <a:schemeClr val="accent3">
        <a:shade val="80000"/>
      </a:schemeClr>
    </dgm:fillClrLst>
    <dgm:linClrLst meth="repeat">
      <a:schemeClr val="lt1"/>
    </dgm:linClrLst>
    <dgm:effectClrLst/>
    <dgm:txLinClrLst/>
    <dgm:txFillClrLst/>
    <dgm:txEffectClrLst/>
  </dgm:styleLbl>
  <dgm:styleLbl name="asst2">
    <dgm:fillClrLst>
      <a:schemeClr val="accent3">
        <a:tint val="90000"/>
      </a:schemeClr>
    </dgm:fillClrLst>
    <dgm:linClrLst meth="repeat">
      <a:schemeClr val="lt1"/>
    </dgm:linClrLst>
    <dgm:effectClrLst/>
    <dgm:txLinClrLst/>
    <dgm:txFillClrLst/>
    <dgm:txEffectClrLst/>
  </dgm:styleLbl>
  <dgm:styleLbl name="asst3">
    <dgm:fillClrLst>
      <a:schemeClr val="accent3">
        <a:tint val="70000"/>
      </a:schemeClr>
    </dgm:fillClrLst>
    <dgm:linClrLst meth="repeat">
      <a:schemeClr val="lt1"/>
    </dgm:linClrLst>
    <dgm:effectClrLst/>
    <dgm:txLinClrLst/>
    <dgm:txFillClrLst/>
    <dgm:txEffectClrLst/>
  </dgm:styleLbl>
  <dgm:styleLbl name="asst4">
    <dgm:fillClrLst>
      <a:schemeClr val="accent3">
        <a:tint val="50000"/>
      </a:schemeClr>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shade val="80000"/>
      </a:schemeClr>
    </dgm:linClrLst>
    <dgm:effectClrLst/>
    <dgm:txLinClrLst/>
    <dgm:txFillClrLst/>
    <dgm:txEffectClrLst/>
  </dgm:styleLbl>
  <dgm:styleLbl name="parChTrans2D2">
    <dgm:fillClrLst meth="repeat">
      <a:schemeClr val="accent3">
        <a:tint val="90000"/>
      </a:schemeClr>
    </dgm:fillClrLst>
    <dgm:linClrLst meth="repeat">
      <a:schemeClr val="accent3">
        <a:tint val="90000"/>
      </a:schemeClr>
    </dgm:linClrLst>
    <dgm:effectClrLst/>
    <dgm:txLinClrLst/>
    <dgm:txFillClrLst/>
    <dgm:txEffectClrLst/>
  </dgm:styleLbl>
  <dgm:styleLbl name="parChTrans2D3">
    <dgm:fillClrLst meth="repeat">
      <a:schemeClr val="accent3">
        <a:tint val="70000"/>
      </a:schemeClr>
    </dgm:fillClrLst>
    <dgm:linClrLst meth="repeat">
      <a:schemeClr val="accent3">
        <a:tint val="70000"/>
      </a:schemeClr>
    </dgm:linClrLst>
    <dgm:effectClrLst/>
    <dgm:txLinClrLst/>
    <dgm:txFillClrLst/>
    <dgm:txEffectClrLst/>
  </dgm:styleLbl>
  <dgm:styleLbl name="parChTrans2D4">
    <dgm:fillClrLst meth="repeat">
      <a:schemeClr val="accent3">
        <a:tint val="50000"/>
      </a:schemeClr>
    </dgm:fillClrLst>
    <dgm:linClrLst meth="repeat">
      <a:schemeClr val="accent3">
        <a:tint val="50000"/>
      </a:schemeClr>
    </dgm:linClrLst>
    <dgm:effectClrLst/>
    <dgm:txLinClrLst/>
    <dgm:txFillClrLst meth="repeat">
      <a:schemeClr val="dk1"/>
    </dgm:txFillClrLst>
    <dgm:txEffectClrLst/>
  </dgm:styleLbl>
  <dgm:styleLbl name="parChTrans1D1">
    <dgm:fillClrLst meth="repeat">
      <a:schemeClr val="accent3">
        <a:shade val="80000"/>
      </a:schemeClr>
    </dgm:fillClrLst>
    <dgm:linClrLst meth="repeat">
      <a:schemeClr val="accent3">
        <a:shade val="80000"/>
      </a:schemeClr>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3">
        <a:tint val="90000"/>
      </a:schemeClr>
    </dgm:linClrLst>
    <dgm:effectClrLst/>
    <dgm:txLinClrLst/>
    <dgm:txFillClrLst meth="repeat">
      <a:schemeClr val="tx1"/>
    </dgm:txFillClrLst>
    <dgm:txEffectClrLst/>
  </dgm:styleLbl>
  <dgm:styleLbl name="parChTrans1D3">
    <dgm:fillClrLst meth="repeat">
      <a:schemeClr val="accent3">
        <a:tint val="70000"/>
      </a:schemeClr>
    </dgm:fillClrLst>
    <dgm:linClrLst meth="repeat">
      <a:schemeClr val="accent3">
        <a:tint val="70000"/>
      </a:schemeClr>
    </dgm:linClrLst>
    <dgm:effectClrLst/>
    <dgm:txLinClrLst/>
    <dgm:txFillClrLst meth="repeat">
      <a:schemeClr val="tx1"/>
    </dgm:txFillClrLst>
    <dgm:txEffectClrLst/>
  </dgm:styleLbl>
  <dgm:styleLbl name="parChTrans1D4">
    <dgm:fillClrLst meth="repeat">
      <a:schemeClr val="accent3">
        <a:tint val="50000"/>
      </a:schemeClr>
    </dgm:fillClrLst>
    <dgm:linClrLst meth="repeat">
      <a:schemeClr val="accent3">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55000"/>
      </a:schemeClr>
    </dgm:fillClrLst>
    <dgm:linClrLst meth="repeat">
      <a:schemeClr val="accent3">
        <a:alpha val="90000"/>
        <a:tint val="55000"/>
      </a:schemeClr>
    </dgm:linClrLst>
    <dgm:effectClrLst/>
    <dgm:txLinClrLst/>
    <dgm:txFillClrLst meth="repeat">
      <a:schemeClr val="dk1"/>
    </dgm:txFillClrLst>
    <dgm:txEffectClrLst/>
  </dgm:styleLbl>
  <dgm:styleLbl name="alignAccFollowNode1">
    <dgm:fillClrLst meth="repeat">
      <a:schemeClr val="accent3">
        <a:alpha val="90000"/>
        <a:tint val="55000"/>
      </a:schemeClr>
    </dgm:fillClrLst>
    <dgm:linClrLst meth="repeat">
      <a:schemeClr val="accent3">
        <a:alpha val="90000"/>
        <a:tint val="55000"/>
      </a:schemeClr>
    </dgm:linClrLst>
    <dgm:effectClrLst/>
    <dgm:txLinClrLst/>
    <dgm:txFillClrLst meth="repeat">
      <a:schemeClr val="dk1"/>
    </dgm:txFillClrLst>
    <dgm:txEffectClrLst/>
  </dgm:styleLbl>
  <dgm:styleLbl name="bgAccFollowNode1">
    <dgm:fillClrLst meth="repeat">
      <a:schemeClr val="accent3">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a:tint val="50000"/>
      </a:schemeClr>
    </dgm:linClrLst>
    <dgm:effectClrLst/>
    <dgm:txLinClrLst/>
    <dgm:txFillClrLst meth="repeat">
      <a:schemeClr val="dk1"/>
    </dgm:txFillClrLst>
    <dgm:txEffectClrLst/>
  </dgm:styleLbl>
  <dgm:styleLbl name="bgShp">
    <dgm:fillClrLst meth="repeat">
      <a:schemeClr val="accent3">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3">
        <a:tint val="50000"/>
        <a:alpha val="55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5984FE0-C194-4C68-9F6E-F7ED97F7EE48}" type="doc">
      <dgm:prSet loTypeId="urn:microsoft.com/office/officeart/2005/8/layout/vList2" loCatId="list" qsTypeId="urn:microsoft.com/office/officeart/2005/8/quickstyle/simple1" qsCatId="simple" csTypeId="urn:microsoft.com/office/officeart/2005/8/colors/colorful1" csCatId="colorful"/>
      <dgm:spPr/>
      <dgm:t>
        <a:bodyPr/>
        <a:lstStyle/>
        <a:p>
          <a:endParaRPr lang="en-IN"/>
        </a:p>
      </dgm:t>
    </dgm:pt>
    <dgm:pt modelId="{628512C2-D37B-4E97-98C6-751D9E9E3D4E}">
      <dgm:prSet/>
      <dgm:spPr/>
      <dgm:t>
        <a:bodyPr/>
        <a:lstStyle/>
        <a:p>
          <a:pPr rtl="0"/>
          <a:r>
            <a:rPr lang="en-US" b="1" dirty="0" smtClean="0"/>
            <a:t>Objective:</a:t>
          </a:r>
          <a:r>
            <a:rPr lang="en-US" dirty="0" smtClean="0"/>
            <a:t> To analyze the severity of air pollution across major Indian cities using key indicators like AQI, PM2.5, NO2, and CO.</a:t>
          </a:r>
          <a:endParaRPr lang="en-IN" dirty="0"/>
        </a:p>
      </dgm:t>
    </dgm:pt>
    <dgm:pt modelId="{A29B11B7-4397-40BB-B066-B1EAA3CC3867}" type="parTrans" cxnId="{58DEF5F6-01EE-4907-A780-4647462BA1EC}">
      <dgm:prSet/>
      <dgm:spPr/>
      <dgm:t>
        <a:bodyPr/>
        <a:lstStyle/>
        <a:p>
          <a:endParaRPr lang="en-IN"/>
        </a:p>
      </dgm:t>
    </dgm:pt>
    <dgm:pt modelId="{A675D5F0-DF32-43F4-9B9A-25F831B7A5CF}" type="sibTrans" cxnId="{58DEF5F6-01EE-4907-A780-4647462BA1EC}">
      <dgm:prSet/>
      <dgm:spPr/>
      <dgm:t>
        <a:bodyPr/>
        <a:lstStyle/>
        <a:p>
          <a:endParaRPr lang="en-IN"/>
        </a:p>
      </dgm:t>
    </dgm:pt>
    <dgm:pt modelId="{3DAA2F32-50BD-4BF6-A788-A236B9FD5FC9}">
      <dgm:prSet custT="1"/>
      <dgm:spPr/>
      <dgm:t>
        <a:bodyPr/>
        <a:lstStyle/>
        <a:p>
          <a:pPr rtl="0"/>
          <a:r>
            <a:rPr lang="en-US" sz="1800" b="1" dirty="0" smtClean="0"/>
            <a:t>Key High-Level Metrics:</a:t>
          </a:r>
          <a:endParaRPr lang="en-IN" sz="1800" dirty="0"/>
        </a:p>
      </dgm:t>
    </dgm:pt>
    <dgm:pt modelId="{A47F2A19-FD8D-44CD-A09F-CB99FCBC4F42}" type="parTrans" cxnId="{50DB8F0D-3057-4012-BB32-EB5BBF2721FB}">
      <dgm:prSet/>
      <dgm:spPr/>
      <dgm:t>
        <a:bodyPr/>
        <a:lstStyle/>
        <a:p>
          <a:endParaRPr lang="en-IN"/>
        </a:p>
      </dgm:t>
    </dgm:pt>
    <dgm:pt modelId="{E330911A-4FFB-4707-BA2B-06AF8E4610BF}" type="sibTrans" cxnId="{50DB8F0D-3057-4012-BB32-EB5BBF2721FB}">
      <dgm:prSet/>
      <dgm:spPr/>
      <dgm:t>
        <a:bodyPr/>
        <a:lstStyle/>
        <a:p>
          <a:endParaRPr lang="en-IN"/>
        </a:p>
      </dgm:t>
    </dgm:pt>
    <dgm:pt modelId="{894FE058-285B-40BB-B9A4-D35B38AE4347}">
      <dgm:prSet custT="1"/>
      <dgm:spPr/>
      <dgm:t>
        <a:bodyPr/>
        <a:lstStyle/>
        <a:p>
          <a:pPr rtl="0"/>
          <a:r>
            <a:rPr lang="en-US" sz="1800" b="1" smtClean="0"/>
            <a:t>National Average AQI:</a:t>
          </a:r>
          <a:r>
            <a:rPr lang="en-US" sz="1800" smtClean="0"/>
            <a:t> 251.11 (Indicates a high pollution baseline).</a:t>
          </a:r>
          <a:endParaRPr lang="en-IN" sz="1800" dirty="0"/>
        </a:p>
      </dgm:t>
    </dgm:pt>
    <dgm:pt modelId="{987C63EC-707B-4EDB-9B40-71944B0E4511}" type="parTrans" cxnId="{1C193E52-A9FA-4531-B2C0-F4A217223440}">
      <dgm:prSet/>
      <dgm:spPr/>
      <dgm:t>
        <a:bodyPr/>
        <a:lstStyle/>
        <a:p>
          <a:endParaRPr lang="en-IN"/>
        </a:p>
      </dgm:t>
    </dgm:pt>
    <dgm:pt modelId="{E001CCA6-6B9A-4A8D-ADF2-77AC8BE61367}" type="sibTrans" cxnId="{1C193E52-A9FA-4531-B2C0-F4A217223440}">
      <dgm:prSet/>
      <dgm:spPr/>
      <dgm:t>
        <a:bodyPr/>
        <a:lstStyle/>
        <a:p>
          <a:endParaRPr lang="en-IN"/>
        </a:p>
      </dgm:t>
    </dgm:pt>
    <dgm:pt modelId="{E9225055-1722-4E63-B511-596BC8CC2028}">
      <dgm:prSet custT="1"/>
      <dgm:spPr/>
      <dgm:t>
        <a:bodyPr/>
        <a:lstStyle/>
        <a:p>
          <a:pPr rtl="0"/>
          <a:r>
            <a:rPr lang="en-US" sz="1800" b="1" dirty="0" smtClean="0"/>
            <a:t>Total PM2.5 Mass:</a:t>
          </a:r>
          <a:r>
            <a:rPr lang="en-US" sz="1800" dirty="0" smtClean="0"/>
            <a:t> 4.58M.</a:t>
          </a:r>
          <a:endParaRPr lang="en-IN" sz="1800" dirty="0"/>
        </a:p>
      </dgm:t>
    </dgm:pt>
    <dgm:pt modelId="{EA23FABD-A6F1-496F-B82F-EAC27F7739EF}" type="parTrans" cxnId="{E3CA0D5E-F8BF-4242-8A3C-BBB55A7B2DE7}">
      <dgm:prSet/>
      <dgm:spPr/>
      <dgm:t>
        <a:bodyPr/>
        <a:lstStyle/>
        <a:p>
          <a:endParaRPr lang="en-IN"/>
        </a:p>
      </dgm:t>
    </dgm:pt>
    <dgm:pt modelId="{241EDAE8-ACE5-4479-9B30-E56DE1FDFFDD}" type="sibTrans" cxnId="{E3CA0D5E-F8BF-4242-8A3C-BBB55A7B2DE7}">
      <dgm:prSet/>
      <dgm:spPr/>
      <dgm:t>
        <a:bodyPr/>
        <a:lstStyle/>
        <a:p>
          <a:endParaRPr lang="en-IN"/>
        </a:p>
      </dgm:t>
    </dgm:pt>
    <dgm:pt modelId="{FC4E0FA2-F052-48CE-A926-33658E94FF3E}">
      <dgm:prSet custT="1"/>
      <dgm:spPr/>
      <dgm:t>
        <a:bodyPr/>
        <a:lstStyle/>
        <a:p>
          <a:pPr rtl="0"/>
          <a:r>
            <a:rPr lang="en-US" sz="1800" b="1" dirty="0" smtClean="0"/>
            <a:t>Average NO2 Levels:</a:t>
          </a:r>
          <a:r>
            <a:rPr lang="en-US" sz="1800" dirty="0" smtClean="0"/>
            <a:t> 75.42.</a:t>
          </a:r>
          <a:endParaRPr lang="en-IN" sz="1800" dirty="0"/>
        </a:p>
      </dgm:t>
    </dgm:pt>
    <dgm:pt modelId="{55A8AF56-44B3-4D42-AE7D-67700640FE9F}" type="parTrans" cxnId="{A6C7F9A7-8EE9-400B-93ED-ADDDF775D82E}">
      <dgm:prSet/>
      <dgm:spPr/>
      <dgm:t>
        <a:bodyPr/>
        <a:lstStyle/>
        <a:p>
          <a:endParaRPr lang="en-IN"/>
        </a:p>
      </dgm:t>
    </dgm:pt>
    <dgm:pt modelId="{C904C58D-E555-4CBD-950A-9739B033643C}" type="sibTrans" cxnId="{A6C7F9A7-8EE9-400B-93ED-ADDDF775D82E}">
      <dgm:prSet/>
      <dgm:spPr/>
      <dgm:t>
        <a:bodyPr/>
        <a:lstStyle/>
        <a:p>
          <a:endParaRPr lang="en-IN"/>
        </a:p>
      </dgm:t>
    </dgm:pt>
    <dgm:pt modelId="{F26EF538-CDE4-41CD-95BE-531543765C77}">
      <dgm:prSet custT="1"/>
      <dgm:spPr/>
      <dgm:t>
        <a:bodyPr/>
        <a:lstStyle/>
        <a:p>
          <a:pPr rtl="0"/>
          <a:r>
            <a:rPr lang="en-US" sz="1800" b="1" smtClean="0"/>
            <a:t>Average CO Levels:</a:t>
          </a:r>
          <a:r>
            <a:rPr lang="en-US" sz="1800" smtClean="0"/>
            <a:t> 5.00.</a:t>
          </a:r>
          <a:endParaRPr lang="en-IN" sz="1800"/>
        </a:p>
      </dgm:t>
    </dgm:pt>
    <dgm:pt modelId="{CEFDA643-F4A4-4712-AF30-9D96566CA296}" type="parTrans" cxnId="{E0A38ED8-BBF4-4AEF-BB4C-CA5743252A14}">
      <dgm:prSet/>
      <dgm:spPr/>
      <dgm:t>
        <a:bodyPr/>
        <a:lstStyle/>
        <a:p>
          <a:endParaRPr lang="en-IN"/>
        </a:p>
      </dgm:t>
    </dgm:pt>
    <dgm:pt modelId="{FA1A0BB6-CF5F-4380-95F9-6AD0DB01BCF4}" type="sibTrans" cxnId="{E0A38ED8-BBF4-4AEF-BB4C-CA5743252A14}">
      <dgm:prSet/>
      <dgm:spPr/>
      <dgm:t>
        <a:bodyPr/>
        <a:lstStyle/>
        <a:p>
          <a:endParaRPr lang="en-IN"/>
        </a:p>
      </dgm:t>
    </dgm:pt>
    <dgm:pt modelId="{D71377D2-B4A5-4B47-9A32-3878EB33D3C7}" type="pres">
      <dgm:prSet presAssocID="{25984FE0-C194-4C68-9F6E-F7ED97F7EE48}" presName="linear" presStyleCnt="0">
        <dgm:presLayoutVars>
          <dgm:animLvl val="lvl"/>
          <dgm:resizeHandles val="exact"/>
        </dgm:presLayoutVars>
      </dgm:prSet>
      <dgm:spPr/>
    </dgm:pt>
    <dgm:pt modelId="{95C8F747-B42C-4D16-8F5F-D1D7A7EB754B}" type="pres">
      <dgm:prSet presAssocID="{628512C2-D37B-4E97-98C6-751D9E9E3D4E}" presName="parentText" presStyleLbl="node1" presStyleIdx="0" presStyleCnt="6">
        <dgm:presLayoutVars>
          <dgm:chMax val="0"/>
          <dgm:bulletEnabled val="1"/>
        </dgm:presLayoutVars>
      </dgm:prSet>
      <dgm:spPr/>
    </dgm:pt>
    <dgm:pt modelId="{549726FC-371C-45DA-96A2-29B86A152313}" type="pres">
      <dgm:prSet presAssocID="{A675D5F0-DF32-43F4-9B9A-25F831B7A5CF}" presName="spacer" presStyleCnt="0"/>
      <dgm:spPr/>
    </dgm:pt>
    <dgm:pt modelId="{9A9ED6A3-EBAA-487B-AA08-333DECCB4256}" type="pres">
      <dgm:prSet presAssocID="{3DAA2F32-50BD-4BF6-A788-A236B9FD5FC9}" presName="parentText" presStyleLbl="node1" presStyleIdx="1" presStyleCnt="6">
        <dgm:presLayoutVars>
          <dgm:chMax val="0"/>
          <dgm:bulletEnabled val="1"/>
        </dgm:presLayoutVars>
      </dgm:prSet>
      <dgm:spPr/>
    </dgm:pt>
    <dgm:pt modelId="{A236DBA7-F88E-4096-8022-84C3F13F4272}" type="pres">
      <dgm:prSet presAssocID="{E330911A-4FFB-4707-BA2B-06AF8E4610BF}" presName="spacer" presStyleCnt="0"/>
      <dgm:spPr/>
    </dgm:pt>
    <dgm:pt modelId="{52F4214C-A649-4BE8-91A9-043D2828BAE3}" type="pres">
      <dgm:prSet presAssocID="{894FE058-285B-40BB-B9A4-D35B38AE4347}" presName="parentText" presStyleLbl="node1" presStyleIdx="2" presStyleCnt="6">
        <dgm:presLayoutVars>
          <dgm:chMax val="0"/>
          <dgm:bulletEnabled val="1"/>
        </dgm:presLayoutVars>
      </dgm:prSet>
      <dgm:spPr/>
    </dgm:pt>
    <dgm:pt modelId="{73521261-4B37-4A8B-902D-280493436033}" type="pres">
      <dgm:prSet presAssocID="{E001CCA6-6B9A-4A8D-ADF2-77AC8BE61367}" presName="spacer" presStyleCnt="0"/>
      <dgm:spPr/>
    </dgm:pt>
    <dgm:pt modelId="{7B7BB711-13AE-4B65-8108-4BF98D79E7BC}" type="pres">
      <dgm:prSet presAssocID="{E9225055-1722-4E63-B511-596BC8CC2028}" presName="parentText" presStyleLbl="node1" presStyleIdx="3" presStyleCnt="6">
        <dgm:presLayoutVars>
          <dgm:chMax val="0"/>
          <dgm:bulletEnabled val="1"/>
        </dgm:presLayoutVars>
      </dgm:prSet>
      <dgm:spPr/>
    </dgm:pt>
    <dgm:pt modelId="{57DEDB83-DC30-4A72-AB35-180897D1BF49}" type="pres">
      <dgm:prSet presAssocID="{241EDAE8-ACE5-4479-9B30-E56DE1FDFFDD}" presName="spacer" presStyleCnt="0"/>
      <dgm:spPr/>
    </dgm:pt>
    <dgm:pt modelId="{190E1904-393A-43FB-BC6F-33D172B80159}" type="pres">
      <dgm:prSet presAssocID="{FC4E0FA2-F052-48CE-A926-33658E94FF3E}" presName="parentText" presStyleLbl="node1" presStyleIdx="4" presStyleCnt="6">
        <dgm:presLayoutVars>
          <dgm:chMax val="0"/>
          <dgm:bulletEnabled val="1"/>
        </dgm:presLayoutVars>
      </dgm:prSet>
      <dgm:spPr/>
    </dgm:pt>
    <dgm:pt modelId="{04EE30C0-F8FC-4D96-9AF5-08B8B024694A}" type="pres">
      <dgm:prSet presAssocID="{C904C58D-E555-4CBD-950A-9739B033643C}" presName="spacer" presStyleCnt="0"/>
      <dgm:spPr/>
    </dgm:pt>
    <dgm:pt modelId="{3E3281D2-D393-4703-8EBB-8C73237B56BD}" type="pres">
      <dgm:prSet presAssocID="{F26EF538-CDE4-41CD-95BE-531543765C77}" presName="parentText" presStyleLbl="node1" presStyleIdx="5" presStyleCnt="6" custLinFactY="4005" custLinFactNeighborX="126" custLinFactNeighborY="100000">
        <dgm:presLayoutVars>
          <dgm:chMax val="0"/>
          <dgm:bulletEnabled val="1"/>
        </dgm:presLayoutVars>
      </dgm:prSet>
      <dgm:spPr/>
    </dgm:pt>
  </dgm:ptLst>
  <dgm:cxnLst>
    <dgm:cxn modelId="{9B3450A0-3186-4E62-BEC3-20401A53B4D0}" type="presOf" srcId="{E9225055-1722-4E63-B511-596BC8CC2028}" destId="{7B7BB711-13AE-4B65-8108-4BF98D79E7BC}" srcOrd="0" destOrd="0" presId="urn:microsoft.com/office/officeart/2005/8/layout/vList2"/>
    <dgm:cxn modelId="{6E8B1DD7-71C7-432C-886A-565602AB8C1E}" type="presOf" srcId="{628512C2-D37B-4E97-98C6-751D9E9E3D4E}" destId="{95C8F747-B42C-4D16-8F5F-D1D7A7EB754B}" srcOrd="0" destOrd="0" presId="urn:microsoft.com/office/officeart/2005/8/layout/vList2"/>
    <dgm:cxn modelId="{1C193E52-A9FA-4531-B2C0-F4A217223440}" srcId="{25984FE0-C194-4C68-9F6E-F7ED97F7EE48}" destId="{894FE058-285B-40BB-B9A4-D35B38AE4347}" srcOrd="2" destOrd="0" parTransId="{987C63EC-707B-4EDB-9B40-71944B0E4511}" sibTransId="{E001CCA6-6B9A-4A8D-ADF2-77AC8BE61367}"/>
    <dgm:cxn modelId="{50DB8F0D-3057-4012-BB32-EB5BBF2721FB}" srcId="{25984FE0-C194-4C68-9F6E-F7ED97F7EE48}" destId="{3DAA2F32-50BD-4BF6-A788-A236B9FD5FC9}" srcOrd="1" destOrd="0" parTransId="{A47F2A19-FD8D-44CD-A09F-CB99FCBC4F42}" sibTransId="{E330911A-4FFB-4707-BA2B-06AF8E4610BF}"/>
    <dgm:cxn modelId="{E3CA0D5E-F8BF-4242-8A3C-BBB55A7B2DE7}" srcId="{25984FE0-C194-4C68-9F6E-F7ED97F7EE48}" destId="{E9225055-1722-4E63-B511-596BC8CC2028}" srcOrd="3" destOrd="0" parTransId="{EA23FABD-A6F1-496F-B82F-EAC27F7739EF}" sibTransId="{241EDAE8-ACE5-4479-9B30-E56DE1FDFFDD}"/>
    <dgm:cxn modelId="{587D7BFF-F311-4293-822A-48181F881730}" type="presOf" srcId="{25984FE0-C194-4C68-9F6E-F7ED97F7EE48}" destId="{D71377D2-B4A5-4B47-9A32-3878EB33D3C7}" srcOrd="0" destOrd="0" presId="urn:microsoft.com/office/officeart/2005/8/layout/vList2"/>
    <dgm:cxn modelId="{58DEF5F6-01EE-4907-A780-4647462BA1EC}" srcId="{25984FE0-C194-4C68-9F6E-F7ED97F7EE48}" destId="{628512C2-D37B-4E97-98C6-751D9E9E3D4E}" srcOrd="0" destOrd="0" parTransId="{A29B11B7-4397-40BB-B066-B1EAA3CC3867}" sibTransId="{A675D5F0-DF32-43F4-9B9A-25F831B7A5CF}"/>
    <dgm:cxn modelId="{A5F5347E-4EAB-4A14-B450-B6F050B65DEE}" type="presOf" srcId="{894FE058-285B-40BB-B9A4-D35B38AE4347}" destId="{52F4214C-A649-4BE8-91A9-043D2828BAE3}" srcOrd="0" destOrd="0" presId="urn:microsoft.com/office/officeart/2005/8/layout/vList2"/>
    <dgm:cxn modelId="{E7E3782E-7EDD-4DBA-9BD0-4F312CBAEE5A}" type="presOf" srcId="{F26EF538-CDE4-41CD-95BE-531543765C77}" destId="{3E3281D2-D393-4703-8EBB-8C73237B56BD}" srcOrd="0" destOrd="0" presId="urn:microsoft.com/office/officeart/2005/8/layout/vList2"/>
    <dgm:cxn modelId="{0E0801C8-3B99-40BD-858A-47ABE3305908}" type="presOf" srcId="{FC4E0FA2-F052-48CE-A926-33658E94FF3E}" destId="{190E1904-393A-43FB-BC6F-33D172B80159}" srcOrd="0" destOrd="0" presId="urn:microsoft.com/office/officeart/2005/8/layout/vList2"/>
    <dgm:cxn modelId="{581CAD4A-E0E9-43F0-9E24-E7CE190A0E20}" type="presOf" srcId="{3DAA2F32-50BD-4BF6-A788-A236B9FD5FC9}" destId="{9A9ED6A3-EBAA-487B-AA08-333DECCB4256}" srcOrd="0" destOrd="0" presId="urn:microsoft.com/office/officeart/2005/8/layout/vList2"/>
    <dgm:cxn modelId="{E0A38ED8-BBF4-4AEF-BB4C-CA5743252A14}" srcId="{25984FE0-C194-4C68-9F6E-F7ED97F7EE48}" destId="{F26EF538-CDE4-41CD-95BE-531543765C77}" srcOrd="5" destOrd="0" parTransId="{CEFDA643-F4A4-4712-AF30-9D96566CA296}" sibTransId="{FA1A0BB6-CF5F-4380-95F9-6AD0DB01BCF4}"/>
    <dgm:cxn modelId="{A6C7F9A7-8EE9-400B-93ED-ADDDF775D82E}" srcId="{25984FE0-C194-4C68-9F6E-F7ED97F7EE48}" destId="{FC4E0FA2-F052-48CE-A926-33658E94FF3E}" srcOrd="4" destOrd="0" parTransId="{55A8AF56-44B3-4D42-AE7D-67700640FE9F}" sibTransId="{C904C58D-E555-4CBD-950A-9739B033643C}"/>
    <dgm:cxn modelId="{633AFA75-D259-4174-886E-EA6A216757A7}" type="presParOf" srcId="{D71377D2-B4A5-4B47-9A32-3878EB33D3C7}" destId="{95C8F747-B42C-4D16-8F5F-D1D7A7EB754B}" srcOrd="0" destOrd="0" presId="urn:microsoft.com/office/officeart/2005/8/layout/vList2"/>
    <dgm:cxn modelId="{31808422-B95C-4577-9DA4-9054305E6800}" type="presParOf" srcId="{D71377D2-B4A5-4B47-9A32-3878EB33D3C7}" destId="{549726FC-371C-45DA-96A2-29B86A152313}" srcOrd="1" destOrd="0" presId="urn:microsoft.com/office/officeart/2005/8/layout/vList2"/>
    <dgm:cxn modelId="{551FD915-7560-47D2-8490-53A68F1DFA44}" type="presParOf" srcId="{D71377D2-B4A5-4B47-9A32-3878EB33D3C7}" destId="{9A9ED6A3-EBAA-487B-AA08-333DECCB4256}" srcOrd="2" destOrd="0" presId="urn:microsoft.com/office/officeart/2005/8/layout/vList2"/>
    <dgm:cxn modelId="{EB7B8B44-880A-4998-8CDD-CD79271C69FD}" type="presParOf" srcId="{D71377D2-B4A5-4B47-9A32-3878EB33D3C7}" destId="{A236DBA7-F88E-4096-8022-84C3F13F4272}" srcOrd="3" destOrd="0" presId="urn:microsoft.com/office/officeart/2005/8/layout/vList2"/>
    <dgm:cxn modelId="{FE6C6D7B-FA70-4C60-AFC1-5146C2B36312}" type="presParOf" srcId="{D71377D2-B4A5-4B47-9A32-3878EB33D3C7}" destId="{52F4214C-A649-4BE8-91A9-043D2828BAE3}" srcOrd="4" destOrd="0" presId="urn:microsoft.com/office/officeart/2005/8/layout/vList2"/>
    <dgm:cxn modelId="{EC4847E3-D00B-45EC-B4B2-123F17DE5AD1}" type="presParOf" srcId="{D71377D2-B4A5-4B47-9A32-3878EB33D3C7}" destId="{73521261-4B37-4A8B-902D-280493436033}" srcOrd="5" destOrd="0" presId="urn:microsoft.com/office/officeart/2005/8/layout/vList2"/>
    <dgm:cxn modelId="{AD7301C8-B264-41AE-AB3A-46F869FE2CB3}" type="presParOf" srcId="{D71377D2-B4A5-4B47-9A32-3878EB33D3C7}" destId="{7B7BB711-13AE-4B65-8108-4BF98D79E7BC}" srcOrd="6" destOrd="0" presId="urn:microsoft.com/office/officeart/2005/8/layout/vList2"/>
    <dgm:cxn modelId="{5B881467-F3BA-4433-BFE9-1A6F9698BABE}" type="presParOf" srcId="{D71377D2-B4A5-4B47-9A32-3878EB33D3C7}" destId="{57DEDB83-DC30-4A72-AB35-180897D1BF49}" srcOrd="7" destOrd="0" presId="urn:microsoft.com/office/officeart/2005/8/layout/vList2"/>
    <dgm:cxn modelId="{856A98CE-04A4-49F5-848A-84E86BE229F8}" type="presParOf" srcId="{D71377D2-B4A5-4B47-9A32-3878EB33D3C7}" destId="{190E1904-393A-43FB-BC6F-33D172B80159}" srcOrd="8" destOrd="0" presId="urn:microsoft.com/office/officeart/2005/8/layout/vList2"/>
    <dgm:cxn modelId="{F09F60EB-4184-4F39-B30F-DCD3E8A016B4}" type="presParOf" srcId="{D71377D2-B4A5-4B47-9A32-3878EB33D3C7}" destId="{04EE30C0-F8FC-4D96-9AF5-08B8B024694A}" srcOrd="9" destOrd="0" presId="urn:microsoft.com/office/officeart/2005/8/layout/vList2"/>
    <dgm:cxn modelId="{1ACF50B7-96CE-42EF-B8DE-6BF963F3F45D}" type="presParOf" srcId="{D71377D2-B4A5-4B47-9A32-3878EB33D3C7}" destId="{3E3281D2-D393-4703-8EBB-8C73237B56BD}" srcOrd="1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7115D74-D8A3-41F9-A81D-1344C2B1BDC8}" type="doc">
      <dgm:prSet loTypeId="urn:microsoft.com/office/officeart/2005/8/layout/vList2" loCatId="list" qsTypeId="urn:microsoft.com/office/officeart/2005/8/quickstyle/simple3" qsCatId="simple" csTypeId="urn:microsoft.com/office/officeart/2005/8/colors/accent3_4" csCatId="accent3"/>
      <dgm:spPr/>
      <dgm:t>
        <a:bodyPr/>
        <a:lstStyle/>
        <a:p>
          <a:endParaRPr lang="en-IN"/>
        </a:p>
      </dgm:t>
    </dgm:pt>
    <dgm:pt modelId="{B0AD2BBB-60BA-4E4B-8683-C247282DE4C8}">
      <dgm:prSet/>
      <dgm:spPr/>
      <dgm:t>
        <a:bodyPr/>
        <a:lstStyle/>
        <a:p>
          <a:pPr rtl="0"/>
          <a:r>
            <a:rPr lang="en-US" b="1" smtClean="0"/>
            <a:t>PM2.5 Distribution:</a:t>
          </a:r>
          <a:r>
            <a:rPr lang="en-US" smtClean="0"/>
            <a:t> A significant portion of cities fall under "Hazardous" or "Very Unhealthy" categories (see pie chart).</a:t>
          </a:r>
          <a:endParaRPr lang="en-IN"/>
        </a:p>
      </dgm:t>
    </dgm:pt>
    <dgm:pt modelId="{516397DF-6960-4675-AA87-CCA5206C0019}" type="parTrans" cxnId="{9E387161-D0B1-4FAD-905D-8211C0C45C45}">
      <dgm:prSet/>
      <dgm:spPr/>
      <dgm:t>
        <a:bodyPr/>
        <a:lstStyle/>
        <a:p>
          <a:endParaRPr lang="en-IN"/>
        </a:p>
      </dgm:t>
    </dgm:pt>
    <dgm:pt modelId="{DAEBAD47-33AF-4C6E-8F8B-86C200837050}" type="sibTrans" cxnId="{9E387161-D0B1-4FAD-905D-8211C0C45C45}">
      <dgm:prSet/>
      <dgm:spPr/>
      <dgm:t>
        <a:bodyPr/>
        <a:lstStyle/>
        <a:p>
          <a:endParaRPr lang="en-IN"/>
        </a:p>
      </dgm:t>
    </dgm:pt>
    <dgm:pt modelId="{C6D36137-9653-4163-887D-8AE45431EB50}">
      <dgm:prSet/>
      <dgm:spPr/>
      <dgm:t>
        <a:bodyPr/>
        <a:lstStyle/>
        <a:p>
          <a:pPr rtl="0"/>
          <a:r>
            <a:rPr lang="en-US" b="1" dirty="0" smtClean="0"/>
            <a:t>CO &amp; NO2 Categories:</a:t>
          </a:r>
          <a:r>
            <a:rPr lang="en-US" dirty="0" smtClean="0"/>
            <a:t> * CO levels are predominantly in the "Moderate" to "Good" range for most cities.</a:t>
          </a:r>
          <a:endParaRPr lang="en-IN" dirty="0"/>
        </a:p>
      </dgm:t>
    </dgm:pt>
    <dgm:pt modelId="{419C1496-4771-47F5-A091-0F6D18372950}" type="parTrans" cxnId="{C3578B8B-04FF-4F65-893F-B828592E1FAA}">
      <dgm:prSet/>
      <dgm:spPr/>
      <dgm:t>
        <a:bodyPr/>
        <a:lstStyle/>
        <a:p>
          <a:endParaRPr lang="en-IN"/>
        </a:p>
      </dgm:t>
    </dgm:pt>
    <dgm:pt modelId="{DA17E797-A1DB-4AD6-A70E-0390BEC5F134}" type="sibTrans" cxnId="{C3578B8B-04FF-4F65-893F-B828592E1FAA}">
      <dgm:prSet/>
      <dgm:spPr/>
      <dgm:t>
        <a:bodyPr/>
        <a:lstStyle/>
        <a:p>
          <a:endParaRPr lang="en-IN"/>
        </a:p>
      </dgm:t>
    </dgm:pt>
    <dgm:pt modelId="{A9791E14-D1B0-40BE-81A2-04C370844678}">
      <dgm:prSet/>
      <dgm:spPr/>
      <dgm:t>
        <a:bodyPr/>
        <a:lstStyle/>
        <a:p>
          <a:pPr rtl="0"/>
          <a:r>
            <a:rPr lang="en-US" dirty="0" smtClean="0"/>
            <a:t>NO2 levels show a split, with over 30% of cities reaching "Moderate" pollution levels.</a:t>
          </a:r>
          <a:endParaRPr lang="en-IN" dirty="0"/>
        </a:p>
      </dgm:t>
    </dgm:pt>
    <dgm:pt modelId="{F9798B8A-8B99-495D-A728-8F4F770A62AA}" type="parTrans" cxnId="{06862D77-1C20-45B2-BE99-257732AD8735}">
      <dgm:prSet/>
      <dgm:spPr/>
      <dgm:t>
        <a:bodyPr/>
        <a:lstStyle/>
        <a:p>
          <a:endParaRPr lang="en-IN"/>
        </a:p>
      </dgm:t>
    </dgm:pt>
    <dgm:pt modelId="{68F7A416-C7EA-43BB-BF13-AAD1498A946B}" type="sibTrans" cxnId="{06862D77-1C20-45B2-BE99-257732AD8735}">
      <dgm:prSet/>
      <dgm:spPr/>
      <dgm:t>
        <a:bodyPr/>
        <a:lstStyle/>
        <a:p>
          <a:endParaRPr lang="en-IN"/>
        </a:p>
      </dgm:t>
    </dgm:pt>
    <dgm:pt modelId="{406FDB42-6DE0-4CEB-B610-1D3D5771F901}">
      <dgm:prSet/>
      <dgm:spPr/>
      <dgm:t>
        <a:bodyPr/>
        <a:lstStyle/>
        <a:p>
          <a:pPr rtl="0"/>
          <a:r>
            <a:rPr lang="en-US" b="1" smtClean="0"/>
            <a:t>PM10 Status:</a:t>
          </a:r>
          <a:r>
            <a:rPr lang="en-US" smtClean="0"/>
            <a:t> A funnel analysis showing the distribution from "Satisfactory" to "Severe."</a:t>
          </a:r>
          <a:endParaRPr lang="en-IN"/>
        </a:p>
      </dgm:t>
    </dgm:pt>
    <dgm:pt modelId="{413C3D8D-25A5-4517-890B-E6334DDA3A0E}" type="parTrans" cxnId="{6DC2BC21-C152-42D9-B66E-57532188F4A1}">
      <dgm:prSet/>
      <dgm:spPr/>
      <dgm:t>
        <a:bodyPr/>
        <a:lstStyle/>
        <a:p>
          <a:endParaRPr lang="en-IN"/>
        </a:p>
      </dgm:t>
    </dgm:pt>
    <dgm:pt modelId="{F6A70631-F4DE-4607-890F-F9DF309A38F1}" type="sibTrans" cxnId="{6DC2BC21-C152-42D9-B66E-57532188F4A1}">
      <dgm:prSet/>
      <dgm:spPr/>
      <dgm:t>
        <a:bodyPr/>
        <a:lstStyle/>
        <a:p>
          <a:endParaRPr lang="en-IN"/>
        </a:p>
      </dgm:t>
    </dgm:pt>
    <dgm:pt modelId="{DD9268AD-26D0-4528-9B2B-5DCDF87694D4}" type="pres">
      <dgm:prSet presAssocID="{B7115D74-D8A3-41F9-A81D-1344C2B1BDC8}" presName="linear" presStyleCnt="0">
        <dgm:presLayoutVars>
          <dgm:animLvl val="lvl"/>
          <dgm:resizeHandles val="exact"/>
        </dgm:presLayoutVars>
      </dgm:prSet>
      <dgm:spPr/>
    </dgm:pt>
    <dgm:pt modelId="{820A1243-183D-4A07-AC19-D1B21FCA2D0C}" type="pres">
      <dgm:prSet presAssocID="{B0AD2BBB-60BA-4E4B-8683-C247282DE4C8}" presName="parentText" presStyleLbl="node1" presStyleIdx="0" presStyleCnt="4">
        <dgm:presLayoutVars>
          <dgm:chMax val="0"/>
          <dgm:bulletEnabled val="1"/>
        </dgm:presLayoutVars>
      </dgm:prSet>
      <dgm:spPr/>
    </dgm:pt>
    <dgm:pt modelId="{6D10120A-CD85-45E3-B741-B94CA39D2E6D}" type="pres">
      <dgm:prSet presAssocID="{DAEBAD47-33AF-4C6E-8F8B-86C200837050}" presName="spacer" presStyleCnt="0"/>
      <dgm:spPr/>
    </dgm:pt>
    <dgm:pt modelId="{07402AB6-90FD-478E-B868-A8E286B47F49}" type="pres">
      <dgm:prSet presAssocID="{C6D36137-9653-4163-887D-8AE45431EB50}" presName="parentText" presStyleLbl="node1" presStyleIdx="1" presStyleCnt="4">
        <dgm:presLayoutVars>
          <dgm:chMax val="0"/>
          <dgm:bulletEnabled val="1"/>
        </dgm:presLayoutVars>
      </dgm:prSet>
      <dgm:spPr/>
    </dgm:pt>
    <dgm:pt modelId="{5E786FA2-7A11-48D2-8663-B473B0EE813B}" type="pres">
      <dgm:prSet presAssocID="{DA17E797-A1DB-4AD6-A70E-0390BEC5F134}" presName="spacer" presStyleCnt="0"/>
      <dgm:spPr/>
    </dgm:pt>
    <dgm:pt modelId="{603A6298-6F65-4D72-92D7-5342252D1E5E}" type="pres">
      <dgm:prSet presAssocID="{A9791E14-D1B0-40BE-81A2-04C370844678}" presName="parentText" presStyleLbl="node1" presStyleIdx="2" presStyleCnt="4">
        <dgm:presLayoutVars>
          <dgm:chMax val="0"/>
          <dgm:bulletEnabled val="1"/>
        </dgm:presLayoutVars>
      </dgm:prSet>
      <dgm:spPr/>
    </dgm:pt>
    <dgm:pt modelId="{934D7887-4933-4252-A95E-9B9DB7166A2B}" type="pres">
      <dgm:prSet presAssocID="{68F7A416-C7EA-43BB-BF13-AAD1498A946B}" presName="spacer" presStyleCnt="0"/>
      <dgm:spPr/>
    </dgm:pt>
    <dgm:pt modelId="{5F869688-03F3-4514-AF49-58004C79E23B}" type="pres">
      <dgm:prSet presAssocID="{406FDB42-6DE0-4CEB-B610-1D3D5771F901}" presName="parentText" presStyleLbl="node1" presStyleIdx="3" presStyleCnt="4">
        <dgm:presLayoutVars>
          <dgm:chMax val="0"/>
          <dgm:bulletEnabled val="1"/>
        </dgm:presLayoutVars>
      </dgm:prSet>
      <dgm:spPr/>
    </dgm:pt>
  </dgm:ptLst>
  <dgm:cxnLst>
    <dgm:cxn modelId="{06862D77-1C20-45B2-BE99-257732AD8735}" srcId="{B7115D74-D8A3-41F9-A81D-1344C2B1BDC8}" destId="{A9791E14-D1B0-40BE-81A2-04C370844678}" srcOrd="2" destOrd="0" parTransId="{F9798B8A-8B99-495D-A728-8F4F770A62AA}" sibTransId="{68F7A416-C7EA-43BB-BF13-AAD1498A946B}"/>
    <dgm:cxn modelId="{9E387161-D0B1-4FAD-905D-8211C0C45C45}" srcId="{B7115D74-D8A3-41F9-A81D-1344C2B1BDC8}" destId="{B0AD2BBB-60BA-4E4B-8683-C247282DE4C8}" srcOrd="0" destOrd="0" parTransId="{516397DF-6960-4675-AA87-CCA5206C0019}" sibTransId="{DAEBAD47-33AF-4C6E-8F8B-86C200837050}"/>
    <dgm:cxn modelId="{6DC2BC21-C152-42D9-B66E-57532188F4A1}" srcId="{B7115D74-D8A3-41F9-A81D-1344C2B1BDC8}" destId="{406FDB42-6DE0-4CEB-B610-1D3D5771F901}" srcOrd="3" destOrd="0" parTransId="{413C3D8D-25A5-4517-890B-E6334DDA3A0E}" sibTransId="{F6A70631-F4DE-4607-890F-F9DF309A38F1}"/>
    <dgm:cxn modelId="{C3578B8B-04FF-4F65-893F-B828592E1FAA}" srcId="{B7115D74-D8A3-41F9-A81D-1344C2B1BDC8}" destId="{C6D36137-9653-4163-887D-8AE45431EB50}" srcOrd="1" destOrd="0" parTransId="{419C1496-4771-47F5-A091-0F6D18372950}" sibTransId="{DA17E797-A1DB-4AD6-A70E-0390BEC5F134}"/>
    <dgm:cxn modelId="{5C848E86-4919-4446-A726-7CFAEB7DC117}" type="presOf" srcId="{C6D36137-9653-4163-887D-8AE45431EB50}" destId="{07402AB6-90FD-478E-B868-A8E286B47F49}" srcOrd="0" destOrd="0" presId="urn:microsoft.com/office/officeart/2005/8/layout/vList2"/>
    <dgm:cxn modelId="{408F08DA-B987-44C9-A48A-2A5D841193FB}" type="presOf" srcId="{B0AD2BBB-60BA-4E4B-8683-C247282DE4C8}" destId="{820A1243-183D-4A07-AC19-D1B21FCA2D0C}" srcOrd="0" destOrd="0" presId="urn:microsoft.com/office/officeart/2005/8/layout/vList2"/>
    <dgm:cxn modelId="{877DE45A-285D-4C70-88E3-F45234DAC307}" type="presOf" srcId="{B7115D74-D8A3-41F9-A81D-1344C2B1BDC8}" destId="{DD9268AD-26D0-4528-9B2B-5DCDF87694D4}" srcOrd="0" destOrd="0" presId="urn:microsoft.com/office/officeart/2005/8/layout/vList2"/>
    <dgm:cxn modelId="{0A3A5EE8-4D4C-4800-93C3-D10324000AD0}" type="presOf" srcId="{406FDB42-6DE0-4CEB-B610-1D3D5771F901}" destId="{5F869688-03F3-4514-AF49-58004C79E23B}" srcOrd="0" destOrd="0" presId="urn:microsoft.com/office/officeart/2005/8/layout/vList2"/>
    <dgm:cxn modelId="{19F790F6-FF88-4593-BD92-542FD2A2137F}" type="presOf" srcId="{A9791E14-D1B0-40BE-81A2-04C370844678}" destId="{603A6298-6F65-4D72-92D7-5342252D1E5E}" srcOrd="0" destOrd="0" presId="urn:microsoft.com/office/officeart/2005/8/layout/vList2"/>
    <dgm:cxn modelId="{A104D78C-0BC3-4A68-918B-B09ADDC7F6C1}" type="presParOf" srcId="{DD9268AD-26D0-4528-9B2B-5DCDF87694D4}" destId="{820A1243-183D-4A07-AC19-D1B21FCA2D0C}" srcOrd="0" destOrd="0" presId="urn:microsoft.com/office/officeart/2005/8/layout/vList2"/>
    <dgm:cxn modelId="{8BD6926F-8154-414A-9E0D-F21F7F95C251}" type="presParOf" srcId="{DD9268AD-26D0-4528-9B2B-5DCDF87694D4}" destId="{6D10120A-CD85-45E3-B741-B94CA39D2E6D}" srcOrd="1" destOrd="0" presId="urn:microsoft.com/office/officeart/2005/8/layout/vList2"/>
    <dgm:cxn modelId="{20B23E08-5FBA-42A4-AC79-49584EBE8CED}" type="presParOf" srcId="{DD9268AD-26D0-4528-9B2B-5DCDF87694D4}" destId="{07402AB6-90FD-478E-B868-A8E286B47F49}" srcOrd="2" destOrd="0" presId="urn:microsoft.com/office/officeart/2005/8/layout/vList2"/>
    <dgm:cxn modelId="{E1421930-4817-4412-B9AD-1C04D5302E81}" type="presParOf" srcId="{DD9268AD-26D0-4528-9B2B-5DCDF87694D4}" destId="{5E786FA2-7A11-48D2-8663-B473B0EE813B}" srcOrd="3" destOrd="0" presId="urn:microsoft.com/office/officeart/2005/8/layout/vList2"/>
    <dgm:cxn modelId="{C107677B-CD05-4EE5-B0B9-BE5450863A3A}" type="presParOf" srcId="{DD9268AD-26D0-4528-9B2B-5DCDF87694D4}" destId="{603A6298-6F65-4D72-92D7-5342252D1E5E}" srcOrd="4" destOrd="0" presId="urn:microsoft.com/office/officeart/2005/8/layout/vList2"/>
    <dgm:cxn modelId="{E29FEF43-FA4F-48B5-A653-677DA6205D97}" type="presParOf" srcId="{DD9268AD-26D0-4528-9B2B-5DCDF87694D4}" destId="{934D7887-4933-4252-A95E-9B9DB7166A2B}" srcOrd="5" destOrd="0" presId="urn:microsoft.com/office/officeart/2005/8/layout/vList2"/>
    <dgm:cxn modelId="{CA0FA460-BC53-4385-B9BE-8FA40ECAC309}" type="presParOf" srcId="{DD9268AD-26D0-4528-9B2B-5DCDF87694D4}" destId="{5F869688-03F3-4514-AF49-58004C79E23B}" srcOrd="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AA2A243-BAD9-4C47-B09F-A519C72EC9FD}" type="doc">
      <dgm:prSet loTypeId="urn:microsoft.com/office/officeart/2005/8/layout/target3" loCatId="relationship" qsTypeId="urn:microsoft.com/office/officeart/2005/8/quickstyle/simple1" qsCatId="simple" csTypeId="urn:microsoft.com/office/officeart/2005/8/colors/accent1_2" csCatId="accent1"/>
      <dgm:spPr/>
      <dgm:t>
        <a:bodyPr/>
        <a:lstStyle/>
        <a:p>
          <a:endParaRPr lang="en-IN"/>
        </a:p>
      </dgm:t>
    </dgm:pt>
    <dgm:pt modelId="{D69D6407-5DF2-4FC3-A64E-110B50C243F2}">
      <dgm:prSet/>
      <dgm:spPr/>
      <dgm:t>
        <a:bodyPr/>
        <a:lstStyle/>
        <a:p>
          <a:pPr rtl="0"/>
          <a:r>
            <a:rPr lang="en-US" b="1" smtClean="0"/>
            <a:t>Summary:</a:t>
          </a:r>
          <a:r>
            <a:rPr lang="en-US" smtClean="0"/>
            <a:t> Urban centers like Delhi, Mumbai, and Kolkata are consistently exceeding safe air quality limits.</a:t>
          </a:r>
          <a:endParaRPr lang="en-IN"/>
        </a:p>
      </dgm:t>
    </dgm:pt>
    <dgm:pt modelId="{E238EBBD-0028-4DBD-BCE7-AADA5C80A679}" type="parTrans" cxnId="{A14C6D7F-D618-4815-9E24-9358E5D9CE18}">
      <dgm:prSet/>
      <dgm:spPr/>
      <dgm:t>
        <a:bodyPr/>
        <a:lstStyle/>
        <a:p>
          <a:endParaRPr lang="en-IN"/>
        </a:p>
      </dgm:t>
    </dgm:pt>
    <dgm:pt modelId="{C3D391E3-D23D-4469-BE46-0CC3EAC60A00}" type="sibTrans" cxnId="{A14C6D7F-D618-4815-9E24-9358E5D9CE18}">
      <dgm:prSet/>
      <dgm:spPr/>
      <dgm:t>
        <a:bodyPr/>
        <a:lstStyle/>
        <a:p>
          <a:endParaRPr lang="en-IN"/>
        </a:p>
      </dgm:t>
    </dgm:pt>
    <dgm:pt modelId="{227812DC-888C-42E1-ABDD-33ED29C15A31}">
      <dgm:prSet/>
      <dgm:spPr/>
      <dgm:t>
        <a:bodyPr/>
        <a:lstStyle/>
        <a:p>
          <a:pPr rtl="0"/>
          <a:r>
            <a:rPr lang="en-US" b="1" smtClean="0"/>
            <a:t>Data Insight:</a:t>
          </a:r>
          <a:r>
            <a:rPr lang="en-US" smtClean="0"/>
            <a:t> While CO levels remain manageable, PM2.5 and NO2 are the primary drivers of the "Hazardous" AQI ratings.</a:t>
          </a:r>
          <a:endParaRPr lang="en-IN"/>
        </a:p>
      </dgm:t>
    </dgm:pt>
    <dgm:pt modelId="{65BA1C73-9BA0-4CBE-A4DB-9844334B0566}" type="parTrans" cxnId="{A6122EA7-26AA-48D3-84C5-B024984C86E4}">
      <dgm:prSet/>
      <dgm:spPr/>
      <dgm:t>
        <a:bodyPr/>
        <a:lstStyle/>
        <a:p>
          <a:endParaRPr lang="en-IN"/>
        </a:p>
      </dgm:t>
    </dgm:pt>
    <dgm:pt modelId="{3834B7BC-B7AF-45D7-8DF2-5279C65E2DF8}" type="sibTrans" cxnId="{A6122EA7-26AA-48D3-84C5-B024984C86E4}">
      <dgm:prSet/>
      <dgm:spPr/>
      <dgm:t>
        <a:bodyPr/>
        <a:lstStyle/>
        <a:p>
          <a:endParaRPr lang="en-IN"/>
        </a:p>
      </dgm:t>
    </dgm:pt>
    <dgm:pt modelId="{AE3FD80F-888C-4F3E-A2C0-95B464C4392C}">
      <dgm:prSet/>
      <dgm:spPr/>
      <dgm:t>
        <a:bodyPr/>
        <a:lstStyle/>
        <a:p>
          <a:pPr rtl="0"/>
          <a:r>
            <a:rPr lang="en-US" b="1" smtClean="0"/>
            <a:t>Call to Action:</a:t>
          </a:r>
          <a:r>
            <a:rPr lang="en-US" smtClean="0"/>
            <a:t> * Implement stricter industrial emission controls in metro hubs.</a:t>
          </a:r>
          <a:endParaRPr lang="en-IN"/>
        </a:p>
      </dgm:t>
    </dgm:pt>
    <dgm:pt modelId="{14ABBB94-FC06-42BD-9A4A-FD506C601000}" type="parTrans" cxnId="{29B9374C-F277-4685-BB00-64E402464E1A}">
      <dgm:prSet/>
      <dgm:spPr/>
      <dgm:t>
        <a:bodyPr/>
        <a:lstStyle/>
        <a:p>
          <a:endParaRPr lang="en-IN"/>
        </a:p>
      </dgm:t>
    </dgm:pt>
    <dgm:pt modelId="{833B3EF4-2AAB-48C1-86A8-20FC172BED4D}" type="sibTrans" cxnId="{29B9374C-F277-4685-BB00-64E402464E1A}">
      <dgm:prSet/>
      <dgm:spPr/>
      <dgm:t>
        <a:bodyPr/>
        <a:lstStyle/>
        <a:p>
          <a:endParaRPr lang="en-IN"/>
        </a:p>
      </dgm:t>
    </dgm:pt>
    <dgm:pt modelId="{2488E4CC-541E-4BA4-8A69-03B003C6E4F8}">
      <dgm:prSet/>
      <dgm:spPr/>
      <dgm:t>
        <a:bodyPr/>
        <a:lstStyle/>
        <a:p>
          <a:pPr rtl="0"/>
          <a:r>
            <a:rPr lang="en-US" smtClean="0"/>
            <a:t>Enhance green cover and public transport to reduce NO2 from vehicular </a:t>
          </a:r>
          <a:r>
            <a:rPr lang="en-IN" smtClean="0"/>
            <a:t>exhaust.</a:t>
          </a:r>
          <a:endParaRPr lang="en-IN"/>
        </a:p>
      </dgm:t>
    </dgm:pt>
    <dgm:pt modelId="{902D637D-21B9-4A96-87B8-E0C83D69F4CF}" type="parTrans" cxnId="{B16C6F1D-3FA5-466A-9CB6-27694AA5A6FC}">
      <dgm:prSet/>
      <dgm:spPr/>
      <dgm:t>
        <a:bodyPr/>
        <a:lstStyle/>
        <a:p>
          <a:endParaRPr lang="en-IN"/>
        </a:p>
      </dgm:t>
    </dgm:pt>
    <dgm:pt modelId="{4D6F4C80-4993-424D-8D6C-8CCF65DD021A}" type="sibTrans" cxnId="{B16C6F1D-3FA5-466A-9CB6-27694AA5A6FC}">
      <dgm:prSet/>
      <dgm:spPr/>
      <dgm:t>
        <a:bodyPr/>
        <a:lstStyle/>
        <a:p>
          <a:endParaRPr lang="en-IN"/>
        </a:p>
      </dgm:t>
    </dgm:pt>
    <dgm:pt modelId="{C668B658-19CD-442B-A86E-F718C0DAC02B}" type="pres">
      <dgm:prSet presAssocID="{BAA2A243-BAD9-4C47-B09F-A519C72EC9FD}" presName="Name0" presStyleCnt="0">
        <dgm:presLayoutVars>
          <dgm:chMax val="7"/>
          <dgm:dir/>
          <dgm:animLvl val="lvl"/>
          <dgm:resizeHandles val="exact"/>
        </dgm:presLayoutVars>
      </dgm:prSet>
      <dgm:spPr/>
    </dgm:pt>
    <dgm:pt modelId="{45563474-9AB2-4DA5-B896-8022210755C9}" type="pres">
      <dgm:prSet presAssocID="{D69D6407-5DF2-4FC3-A64E-110B50C243F2}" presName="circle1" presStyleLbl="node1" presStyleIdx="0" presStyleCnt="4"/>
      <dgm:spPr/>
    </dgm:pt>
    <dgm:pt modelId="{2FC0081E-F695-4A21-BE5B-A937C2D00073}" type="pres">
      <dgm:prSet presAssocID="{D69D6407-5DF2-4FC3-A64E-110B50C243F2}" presName="space" presStyleCnt="0"/>
      <dgm:spPr/>
    </dgm:pt>
    <dgm:pt modelId="{AF19F208-1D39-4E39-8957-4B8A1B8FE1EA}" type="pres">
      <dgm:prSet presAssocID="{D69D6407-5DF2-4FC3-A64E-110B50C243F2}" presName="rect1" presStyleLbl="alignAcc1" presStyleIdx="0" presStyleCnt="4"/>
      <dgm:spPr/>
    </dgm:pt>
    <dgm:pt modelId="{57767A49-448E-4E86-BC42-2EF63A0A2A23}" type="pres">
      <dgm:prSet presAssocID="{227812DC-888C-42E1-ABDD-33ED29C15A31}" presName="vertSpace2" presStyleLbl="node1" presStyleIdx="0" presStyleCnt="4"/>
      <dgm:spPr/>
    </dgm:pt>
    <dgm:pt modelId="{B91174AF-40DE-4383-90AA-F7F8C101758D}" type="pres">
      <dgm:prSet presAssocID="{227812DC-888C-42E1-ABDD-33ED29C15A31}" presName="circle2" presStyleLbl="node1" presStyleIdx="1" presStyleCnt="4"/>
      <dgm:spPr/>
    </dgm:pt>
    <dgm:pt modelId="{C52623D4-6668-4829-A23C-7EBEBF0509E1}" type="pres">
      <dgm:prSet presAssocID="{227812DC-888C-42E1-ABDD-33ED29C15A31}" presName="rect2" presStyleLbl="alignAcc1" presStyleIdx="1" presStyleCnt="4"/>
      <dgm:spPr/>
    </dgm:pt>
    <dgm:pt modelId="{6CA9FA5B-E9CB-4DA1-A0E0-2886B8CAAACB}" type="pres">
      <dgm:prSet presAssocID="{AE3FD80F-888C-4F3E-A2C0-95B464C4392C}" presName="vertSpace3" presStyleLbl="node1" presStyleIdx="1" presStyleCnt="4"/>
      <dgm:spPr/>
    </dgm:pt>
    <dgm:pt modelId="{32B86162-29CD-4287-A8B1-3CBE749C7388}" type="pres">
      <dgm:prSet presAssocID="{AE3FD80F-888C-4F3E-A2C0-95B464C4392C}" presName="circle3" presStyleLbl="node1" presStyleIdx="2" presStyleCnt="4"/>
      <dgm:spPr/>
    </dgm:pt>
    <dgm:pt modelId="{A573B078-2CD1-4049-8E5C-CB981E43705B}" type="pres">
      <dgm:prSet presAssocID="{AE3FD80F-888C-4F3E-A2C0-95B464C4392C}" presName="rect3" presStyleLbl="alignAcc1" presStyleIdx="2" presStyleCnt="4"/>
      <dgm:spPr/>
    </dgm:pt>
    <dgm:pt modelId="{B9B3F19E-A895-4F17-A930-7E175BFD717B}" type="pres">
      <dgm:prSet presAssocID="{2488E4CC-541E-4BA4-8A69-03B003C6E4F8}" presName="vertSpace4" presStyleLbl="node1" presStyleIdx="2" presStyleCnt="4"/>
      <dgm:spPr/>
    </dgm:pt>
    <dgm:pt modelId="{362AB059-058F-4944-BA91-5E34F91D4285}" type="pres">
      <dgm:prSet presAssocID="{2488E4CC-541E-4BA4-8A69-03B003C6E4F8}" presName="circle4" presStyleLbl="node1" presStyleIdx="3" presStyleCnt="4"/>
      <dgm:spPr/>
    </dgm:pt>
    <dgm:pt modelId="{972FD5B9-60F5-4161-8239-DDDC1FEC4AFE}" type="pres">
      <dgm:prSet presAssocID="{2488E4CC-541E-4BA4-8A69-03B003C6E4F8}" presName="rect4" presStyleLbl="alignAcc1" presStyleIdx="3" presStyleCnt="4"/>
      <dgm:spPr/>
    </dgm:pt>
    <dgm:pt modelId="{A3855AD5-F25C-42B6-B06A-89B747D6701C}" type="pres">
      <dgm:prSet presAssocID="{D69D6407-5DF2-4FC3-A64E-110B50C243F2}" presName="rect1ParTxNoCh" presStyleLbl="alignAcc1" presStyleIdx="3" presStyleCnt="4">
        <dgm:presLayoutVars>
          <dgm:chMax val="1"/>
          <dgm:bulletEnabled val="1"/>
        </dgm:presLayoutVars>
      </dgm:prSet>
      <dgm:spPr/>
    </dgm:pt>
    <dgm:pt modelId="{099E0D29-BF56-4694-A42E-BA6D79D03B1D}" type="pres">
      <dgm:prSet presAssocID="{227812DC-888C-42E1-ABDD-33ED29C15A31}" presName="rect2ParTxNoCh" presStyleLbl="alignAcc1" presStyleIdx="3" presStyleCnt="4">
        <dgm:presLayoutVars>
          <dgm:chMax val="1"/>
          <dgm:bulletEnabled val="1"/>
        </dgm:presLayoutVars>
      </dgm:prSet>
      <dgm:spPr/>
    </dgm:pt>
    <dgm:pt modelId="{4CA31830-15FF-43D0-AE6E-E3C8E4EC0197}" type="pres">
      <dgm:prSet presAssocID="{AE3FD80F-888C-4F3E-A2C0-95B464C4392C}" presName="rect3ParTxNoCh" presStyleLbl="alignAcc1" presStyleIdx="3" presStyleCnt="4">
        <dgm:presLayoutVars>
          <dgm:chMax val="1"/>
          <dgm:bulletEnabled val="1"/>
        </dgm:presLayoutVars>
      </dgm:prSet>
      <dgm:spPr/>
    </dgm:pt>
    <dgm:pt modelId="{66417349-0466-44E8-87AF-34C991C30AE5}" type="pres">
      <dgm:prSet presAssocID="{2488E4CC-541E-4BA4-8A69-03B003C6E4F8}" presName="rect4ParTxNoCh" presStyleLbl="alignAcc1" presStyleIdx="3" presStyleCnt="4">
        <dgm:presLayoutVars>
          <dgm:chMax val="1"/>
          <dgm:bulletEnabled val="1"/>
        </dgm:presLayoutVars>
      </dgm:prSet>
      <dgm:spPr/>
    </dgm:pt>
  </dgm:ptLst>
  <dgm:cxnLst>
    <dgm:cxn modelId="{A14C6D7F-D618-4815-9E24-9358E5D9CE18}" srcId="{BAA2A243-BAD9-4C47-B09F-A519C72EC9FD}" destId="{D69D6407-5DF2-4FC3-A64E-110B50C243F2}" srcOrd="0" destOrd="0" parTransId="{E238EBBD-0028-4DBD-BCE7-AADA5C80A679}" sibTransId="{C3D391E3-D23D-4469-BE46-0CC3EAC60A00}"/>
    <dgm:cxn modelId="{B4ABEB41-8DCB-44C0-A82D-ED86EF0EE5D8}" type="presOf" srcId="{AE3FD80F-888C-4F3E-A2C0-95B464C4392C}" destId="{4CA31830-15FF-43D0-AE6E-E3C8E4EC0197}" srcOrd="1" destOrd="0" presId="urn:microsoft.com/office/officeart/2005/8/layout/target3"/>
    <dgm:cxn modelId="{4FEFDEB0-4A5B-4599-9344-66F645A250BC}" type="presOf" srcId="{AE3FD80F-888C-4F3E-A2C0-95B464C4392C}" destId="{A573B078-2CD1-4049-8E5C-CB981E43705B}" srcOrd="0" destOrd="0" presId="urn:microsoft.com/office/officeart/2005/8/layout/target3"/>
    <dgm:cxn modelId="{756AD35B-EC1D-4411-881D-0AD2850D24EE}" type="presOf" srcId="{D69D6407-5DF2-4FC3-A64E-110B50C243F2}" destId="{AF19F208-1D39-4E39-8957-4B8A1B8FE1EA}" srcOrd="0" destOrd="0" presId="urn:microsoft.com/office/officeart/2005/8/layout/target3"/>
    <dgm:cxn modelId="{A1A7875A-22A6-42EC-B902-0AECB1F5A001}" type="presOf" srcId="{2488E4CC-541E-4BA4-8A69-03B003C6E4F8}" destId="{66417349-0466-44E8-87AF-34C991C30AE5}" srcOrd="1" destOrd="0" presId="urn:microsoft.com/office/officeart/2005/8/layout/target3"/>
    <dgm:cxn modelId="{B4E6C6F5-EFC0-4FE4-8FAB-73B7A3F9C5B7}" type="presOf" srcId="{D69D6407-5DF2-4FC3-A64E-110B50C243F2}" destId="{A3855AD5-F25C-42B6-B06A-89B747D6701C}" srcOrd="1" destOrd="0" presId="urn:microsoft.com/office/officeart/2005/8/layout/target3"/>
    <dgm:cxn modelId="{847B6082-4C7B-4241-94E0-04803097BB11}" type="presOf" srcId="{BAA2A243-BAD9-4C47-B09F-A519C72EC9FD}" destId="{C668B658-19CD-442B-A86E-F718C0DAC02B}" srcOrd="0" destOrd="0" presId="urn:microsoft.com/office/officeart/2005/8/layout/target3"/>
    <dgm:cxn modelId="{59ED4488-A157-4A00-980F-73858F34EE50}" type="presOf" srcId="{227812DC-888C-42E1-ABDD-33ED29C15A31}" destId="{099E0D29-BF56-4694-A42E-BA6D79D03B1D}" srcOrd="1" destOrd="0" presId="urn:microsoft.com/office/officeart/2005/8/layout/target3"/>
    <dgm:cxn modelId="{A6122EA7-26AA-48D3-84C5-B024984C86E4}" srcId="{BAA2A243-BAD9-4C47-B09F-A519C72EC9FD}" destId="{227812DC-888C-42E1-ABDD-33ED29C15A31}" srcOrd="1" destOrd="0" parTransId="{65BA1C73-9BA0-4CBE-A4DB-9844334B0566}" sibTransId="{3834B7BC-B7AF-45D7-8DF2-5279C65E2DF8}"/>
    <dgm:cxn modelId="{B16C6F1D-3FA5-466A-9CB6-27694AA5A6FC}" srcId="{BAA2A243-BAD9-4C47-B09F-A519C72EC9FD}" destId="{2488E4CC-541E-4BA4-8A69-03B003C6E4F8}" srcOrd="3" destOrd="0" parTransId="{902D637D-21B9-4A96-87B8-E0C83D69F4CF}" sibTransId="{4D6F4C80-4993-424D-8D6C-8CCF65DD021A}"/>
    <dgm:cxn modelId="{C4A5A20C-6530-417A-BD38-30C41CD9575C}" type="presOf" srcId="{227812DC-888C-42E1-ABDD-33ED29C15A31}" destId="{C52623D4-6668-4829-A23C-7EBEBF0509E1}" srcOrd="0" destOrd="0" presId="urn:microsoft.com/office/officeart/2005/8/layout/target3"/>
    <dgm:cxn modelId="{29B9374C-F277-4685-BB00-64E402464E1A}" srcId="{BAA2A243-BAD9-4C47-B09F-A519C72EC9FD}" destId="{AE3FD80F-888C-4F3E-A2C0-95B464C4392C}" srcOrd="2" destOrd="0" parTransId="{14ABBB94-FC06-42BD-9A4A-FD506C601000}" sibTransId="{833B3EF4-2AAB-48C1-86A8-20FC172BED4D}"/>
    <dgm:cxn modelId="{2B165142-04F1-48AA-BC80-6D5E527E6F2E}" type="presOf" srcId="{2488E4CC-541E-4BA4-8A69-03B003C6E4F8}" destId="{972FD5B9-60F5-4161-8239-DDDC1FEC4AFE}" srcOrd="0" destOrd="0" presId="urn:microsoft.com/office/officeart/2005/8/layout/target3"/>
    <dgm:cxn modelId="{FF15D898-CBA3-4816-9105-094B129319FE}" type="presParOf" srcId="{C668B658-19CD-442B-A86E-F718C0DAC02B}" destId="{45563474-9AB2-4DA5-B896-8022210755C9}" srcOrd="0" destOrd="0" presId="urn:microsoft.com/office/officeart/2005/8/layout/target3"/>
    <dgm:cxn modelId="{CCC1638D-7D2E-41FC-B22D-BB37C924A553}" type="presParOf" srcId="{C668B658-19CD-442B-A86E-F718C0DAC02B}" destId="{2FC0081E-F695-4A21-BE5B-A937C2D00073}" srcOrd="1" destOrd="0" presId="urn:microsoft.com/office/officeart/2005/8/layout/target3"/>
    <dgm:cxn modelId="{30D841BB-6BDB-4024-B749-0EF808F707EC}" type="presParOf" srcId="{C668B658-19CD-442B-A86E-F718C0DAC02B}" destId="{AF19F208-1D39-4E39-8957-4B8A1B8FE1EA}" srcOrd="2" destOrd="0" presId="urn:microsoft.com/office/officeart/2005/8/layout/target3"/>
    <dgm:cxn modelId="{475DE8BC-8FAC-456C-910F-2968F21DD9D6}" type="presParOf" srcId="{C668B658-19CD-442B-A86E-F718C0DAC02B}" destId="{57767A49-448E-4E86-BC42-2EF63A0A2A23}" srcOrd="3" destOrd="0" presId="urn:microsoft.com/office/officeart/2005/8/layout/target3"/>
    <dgm:cxn modelId="{2FEB4DF6-69A9-4186-A623-F53EC3D26FF6}" type="presParOf" srcId="{C668B658-19CD-442B-A86E-F718C0DAC02B}" destId="{B91174AF-40DE-4383-90AA-F7F8C101758D}" srcOrd="4" destOrd="0" presId="urn:microsoft.com/office/officeart/2005/8/layout/target3"/>
    <dgm:cxn modelId="{6001887F-6643-4547-B8D6-F5A64FAA3884}" type="presParOf" srcId="{C668B658-19CD-442B-A86E-F718C0DAC02B}" destId="{C52623D4-6668-4829-A23C-7EBEBF0509E1}" srcOrd="5" destOrd="0" presId="urn:microsoft.com/office/officeart/2005/8/layout/target3"/>
    <dgm:cxn modelId="{1541ED89-6FAD-4FAB-9639-ACC2C685A7DE}" type="presParOf" srcId="{C668B658-19CD-442B-A86E-F718C0DAC02B}" destId="{6CA9FA5B-E9CB-4DA1-A0E0-2886B8CAAACB}" srcOrd="6" destOrd="0" presId="urn:microsoft.com/office/officeart/2005/8/layout/target3"/>
    <dgm:cxn modelId="{C3223782-531E-4E66-A2B3-4A57D1416D64}" type="presParOf" srcId="{C668B658-19CD-442B-A86E-F718C0DAC02B}" destId="{32B86162-29CD-4287-A8B1-3CBE749C7388}" srcOrd="7" destOrd="0" presId="urn:microsoft.com/office/officeart/2005/8/layout/target3"/>
    <dgm:cxn modelId="{1941F8CE-1EEC-4DE1-A783-B2455F58E726}" type="presParOf" srcId="{C668B658-19CD-442B-A86E-F718C0DAC02B}" destId="{A573B078-2CD1-4049-8E5C-CB981E43705B}" srcOrd="8" destOrd="0" presId="urn:microsoft.com/office/officeart/2005/8/layout/target3"/>
    <dgm:cxn modelId="{441BAFB0-1C3D-43A4-B812-0839B8DA4877}" type="presParOf" srcId="{C668B658-19CD-442B-A86E-F718C0DAC02B}" destId="{B9B3F19E-A895-4F17-A930-7E175BFD717B}" srcOrd="9" destOrd="0" presId="urn:microsoft.com/office/officeart/2005/8/layout/target3"/>
    <dgm:cxn modelId="{29DE6C9E-D011-42E4-93C3-EAC352B26562}" type="presParOf" srcId="{C668B658-19CD-442B-A86E-F718C0DAC02B}" destId="{362AB059-058F-4944-BA91-5E34F91D4285}" srcOrd="10" destOrd="0" presId="urn:microsoft.com/office/officeart/2005/8/layout/target3"/>
    <dgm:cxn modelId="{FB2CD8D1-9813-46BB-B9B3-4199B448DF89}" type="presParOf" srcId="{C668B658-19CD-442B-A86E-F718C0DAC02B}" destId="{972FD5B9-60F5-4161-8239-DDDC1FEC4AFE}" srcOrd="11" destOrd="0" presId="urn:microsoft.com/office/officeart/2005/8/layout/target3"/>
    <dgm:cxn modelId="{7859C9E9-1C5D-4BDC-83FE-39AF9A03BC9C}" type="presParOf" srcId="{C668B658-19CD-442B-A86E-F718C0DAC02B}" destId="{A3855AD5-F25C-42B6-B06A-89B747D6701C}" srcOrd="12" destOrd="0" presId="urn:microsoft.com/office/officeart/2005/8/layout/target3"/>
    <dgm:cxn modelId="{CBCC06A3-F433-4D36-92C1-7AAE2C2779B8}" type="presParOf" srcId="{C668B658-19CD-442B-A86E-F718C0DAC02B}" destId="{099E0D29-BF56-4694-A42E-BA6D79D03B1D}" srcOrd="13" destOrd="0" presId="urn:microsoft.com/office/officeart/2005/8/layout/target3"/>
    <dgm:cxn modelId="{F08AD524-022C-430C-9A58-5523F8210CC8}" type="presParOf" srcId="{C668B658-19CD-442B-A86E-F718C0DAC02B}" destId="{4CA31830-15FF-43D0-AE6E-E3C8E4EC0197}" srcOrd="14" destOrd="0" presId="urn:microsoft.com/office/officeart/2005/8/layout/target3"/>
    <dgm:cxn modelId="{9D02E212-F217-416E-979E-23F3D3E16EEA}" type="presParOf" srcId="{C668B658-19CD-442B-A86E-F718C0DAC02B}" destId="{66417349-0466-44E8-87AF-34C991C30AE5}" srcOrd="15" destOrd="0" presId="urn:microsoft.com/office/officeart/2005/8/layout/targe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5A85C5A-9A20-46A4-82D7-E59B4536B2C4}" type="doc">
      <dgm:prSet loTypeId="urn:microsoft.com/office/officeart/2005/8/layout/vList3" loCatId="list" qsTypeId="urn:microsoft.com/office/officeart/2005/8/quickstyle/simple1" qsCatId="simple" csTypeId="urn:microsoft.com/office/officeart/2005/8/colors/accent1_2" csCatId="accent1"/>
      <dgm:spPr/>
      <dgm:t>
        <a:bodyPr/>
        <a:lstStyle/>
        <a:p>
          <a:endParaRPr lang="en-IN"/>
        </a:p>
      </dgm:t>
    </dgm:pt>
    <dgm:pt modelId="{691D2EF7-2E3E-4DD7-B86C-4293C39D5384}">
      <dgm:prSet/>
      <dgm:spPr/>
      <dgm:t>
        <a:bodyPr/>
        <a:lstStyle/>
        <a:p>
          <a:pPr rtl="0"/>
          <a:r>
            <a:rPr lang="en-US" b="1" smtClean="0"/>
            <a:t>Primary Pollutants Identified:</a:t>
          </a:r>
          <a:r>
            <a:rPr lang="en-US" smtClean="0"/>
            <a:t> The analysis focuses on $CO$, $NO_2$, $O_3$, $PM10$, $PM2.5$, and $SO_2$.</a:t>
          </a:r>
          <a:endParaRPr lang="en-IN"/>
        </a:p>
      </dgm:t>
    </dgm:pt>
    <dgm:pt modelId="{FE5B1897-30A3-4D47-B202-A36A6DE4268C}" type="parTrans" cxnId="{9254ABB2-2AD8-45DE-ABC4-4E7822D47EEF}">
      <dgm:prSet/>
      <dgm:spPr/>
      <dgm:t>
        <a:bodyPr/>
        <a:lstStyle/>
        <a:p>
          <a:endParaRPr lang="en-IN"/>
        </a:p>
      </dgm:t>
    </dgm:pt>
    <dgm:pt modelId="{A8B714A9-E716-46D6-82A5-F3CAF1F9AB6C}" type="sibTrans" cxnId="{9254ABB2-2AD8-45DE-ABC4-4E7822D47EEF}">
      <dgm:prSet/>
      <dgm:spPr/>
      <dgm:t>
        <a:bodyPr/>
        <a:lstStyle/>
        <a:p>
          <a:endParaRPr lang="en-IN"/>
        </a:p>
      </dgm:t>
    </dgm:pt>
    <dgm:pt modelId="{1D9AA5AE-77D7-45F4-B5CA-44D461A71596}">
      <dgm:prSet/>
      <dgm:spPr/>
      <dgm:t>
        <a:bodyPr/>
        <a:lstStyle/>
        <a:p>
          <a:pPr rtl="0"/>
          <a:r>
            <a:rPr lang="en-US" b="1" smtClean="0"/>
            <a:t>Observed Trends:</a:t>
          </a:r>
          <a:r>
            <a:rPr lang="en-US" smtClean="0"/>
            <a:t> Data indicates that pollution levels reach "Morning peaks".</a:t>
          </a:r>
          <a:endParaRPr lang="en-IN"/>
        </a:p>
      </dgm:t>
    </dgm:pt>
    <dgm:pt modelId="{3DD4407F-DAFC-49DA-86DB-E2A4E7A7C30F}" type="parTrans" cxnId="{F539836F-3B14-4409-A6BD-CE7A2F60CD15}">
      <dgm:prSet/>
      <dgm:spPr/>
      <dgm:t>
        <a:bodyPr/>
        <a:lstStyle/>
        <a:p>
          <a:endParaRPr lang="en-IN"/>
        </a:p>
      </dgm:t>
    </dgm:pt>
    <dgm:pt modelId="{D4BA24FA-2FCB-46A1-8A04-FDE78514B3C7}" type="sibTrans" cxnId="{F539836F-3B14-4409-A6BD-CE7A2F60CD15}">
      <dgm:prSet/>
      <dgm:spPr/>
      <dgm:t>
        <a:bodyPr/>
        <a:lstStyle/>
        <a:p>
          <a:endParaRPr lang="en-IN"/>
        </a:p>
      </dgm:t>
    </dgm:pt>
    <dgm:pt modelId="{AE83F6E3-2A87-4D4C-9B03-ECCE9D30BCAA}">
      <dgm:prSet/>
      <dgm:spPr/>
      <dgm:t>
        <a:bodyPr/>
        <a:lstStyle/>
        <a:p>
          <a:pPr rtl="0"/>
          <a:r>
            <a:rPr lang="en-US" b="1" smtClean="0"/>
            <a:t>Primary Cause:</a:t>
          </a:r>
          <a:r>
            <a:rPr lang="en-US" smtClean="0"/>
            <a:t> "Vehicle exhaust" is identified as the first possible cause for these elevated levels.</a:t>
          </a:r>
          <a:endParaRPr lang="en-IN"/>
        </a:p>
      </dgm:t>
    </dgm:pt>
    <dgm:pt modelId="{BEAADD6D-AB22-43B8-B593-221CDED06296}" type="parTrans" cxnId="{98D71104-642F-47DD-911B-B7010FF79A0B}">
      <dgm:prSet/>
      <dgm:spPr/>
      <dgm:t>
        <a:bodyPr/>
        <a:lstStyle/>
        <a:p>
          <a:endParaRPr lang="en-IN"/>
        </a:p>
      </dgm:t>
    </dgm:pt>
    <dgm:pt modelId="{20106E61-E0A2-4CDB-8773-6B2C7289D5E3}" type="sibTrans" cxnId="{98D71104-642F-47DD-911B-B7010FF79A0B}">
      <dgm:prSet/>
      <dgm:spPr/>
      <dgm:t>
        <a:bodyPr/>
        <a:lstStyle/>
        <a:p>
          <a:endParaRPr lang="en-IN"/>
        </a:p>
      </dgm:t>
    </dgm:pt>
    <dgm:pt modelId="{5550C81A-9083-4B68-88F5-026DDC4AB23F}" type="pres">
      <dgm:prSet presAssocID="{85A85C5A-9A20-46A4-82D7-E59B4536B2C4}" presName="linearFlow" presStyleCnt="0">
        <dgm:presLayoutVars>
          <dgm:dir/>
          <dgm:resizeHandles val="exact"/>
        </dgm:presLayoutVars>
      </dgm:prSet>
      <dgm:spPr/>
    </dgm:pt>
    <dgm:pt modelId="{48B9F0DC-B3AC-419A-9B9F-463EEBBFEBCC}" type="pres">
      <dgm:prSet presAssocID="{691D2EF7-2E3E-4DD7-B86C-4293C39D5384}" presName="composite" presStyleCnt="0"/>
      <dgm:spPr/>
    </dgm:pt>
    <dgm:pt modelId="{7FFD873E-548E-4701-8E14-203C2E60F8DE}" type="pres">
      <dgm:prSet presAssocID="{691D2EF7-2E3E-4DD7-B86C-4293C39D5384}" presName="imgShp" presStyleLbl="fgImgPlace1" presStyleIdx="0" presStyleCnt="3"/>
      <dgm:spPr/>
    </dgm:pt>
    <dgm:pt modelId="{C09B222D-42CB-4985-A81E-2887875217F1}" type="pres">
      <dgm:prSet presAssocID="{691D2EF7-2E3E-4DD7-B86C-4293C39D5384}" presName="txShp" presStyleLbl="node1" presStyleIdx="0" presStyleCnt="3">
        <dgm:presLayoutVars>
          <dgm:bulletEnabled val="1"/>
        </dgm:presLayoutVars>
      </dgm:prSet>
      <dgm:spPr/>
    </dgm:pt>
    <dgm:pt modelId="{BA3C3782-E8BE-4024-A2BE-7B0C0F654734}" type="pres">
      <dgm:prSet presAssocID="{A8B714A9-E716-46D6-82A5-F3CAF1F9AB6C}" presName="spacing" presStyleCnt="0"/>
      <dgm:spPr/>
    </dgm:pt>
    <dgm:pt modelId="{37F4A1A7-4E53-4834-B9A9-76D1F3C91B9B}" type="pres">
      <dgm:prSet presAssocID="{1D9AA5AE-77D7-45F4-B5CA-44D461A71596}" presName="composite" presStyleCnt="0"/>
      <dgm:spPr/>
    </dgm:pt>
    <dgm:pt modelId="{0287FED3-26B7-4B0D-8392-5F11EAD4DF61}" type="pres">
      <dgm:prSet presAssocID="{1D9AA5AE-77D7-45F4-B5CA-44D461A71596}" presName="imgShp" presStyleLbl="fgImgPlace1" presStyleIdx="1" presStyleCnt="3"/>
      <dgm:spPr/>
    </dgm:pt>
    <dgm:pt modelId="{24B13565-CE81-459F-9F67-46395C2F8F20}" type="pres">
      <dgm:prSet presAssocID="{1D9AA5AE-77D7-45F4-B5CA-44D461A71596}" presName="txShp" presStyleLbl="node1" presStyleIdx="1" presStyleCnt="3">
        <dgm:presLayoutVars>
          <dgm:bulletEnabled val="1"/>
        </dgm:presLayoutVars>
      </dgm:prSet>
      <dgm:spPr/>
    </dgm:pt>
    <dgm:pt modelId="{C71BF2EE-5B6A-409C-AA51-5C0B72A4AAFC}" type="pres">
      <dgm:prSet presAssocID="{D4BA24FA-2FCB-46A1-8A04-FDE78514B3C7}" presName="spacing" presStyleCnt="0"/>
      <dgm:spPr/>
    </dgm:pt>
    <dgm:pt modelId="{92C2EE08-FB13-4C3B-9274-55A027DD45C9}" type="pres">
      <dgm:prSet presAssocID="{AE83F6E3-2A87-4D4C-9B03-ECCE9D30BCAA}" presName="composite" presStyleCnt="0"/>
      <dgm:spPr/>
    </dgm:pt>
    <dgm:pt modelId="{99E1402C-B269-4A8F-9B66-D18475D976E8}" type="pres">
      <dgm:prSet presAssocID="{AE83F6E3-2A87-4D4C-9B03-ECCE9D30BCAA}" presName="imgShp" presStyleLbl="fgImgPlace1" presStyleIdx="2" presStyleCnt="3"/>
      <dgm:spPr/>
    </dgm:pt>
    <dgm:pt modelId="{39866816-F1F3-4314-ADD9-636F77DD6331}" type="pres">
      <dgm:prSet presAssocID="{AE83F6E3-2A87-4D4C-9B03-ECCE9D30BCAA}" presName="txShp" presStyleLbl="node1" presStyleIdx="2" presStyleCnt="3">
        <dgm:presLayoutVars>
          <dgm:bulletEnabled val="1"/>
        </dgm:presLayoutVars>
      </dgm:prSet>
      <dgm:spPr/>
    </dgm:pt>
  </dgm:ptLst>
  <dgm:cxnLst>
    <dgm:cxn modelId="{16F505A3-BAFE-4E9E-BC2B-2E64FBF14EBC}" type="presOf" srcId="{691D2EF7-2E3E-4DD7-B86C-4293C39D5384}" destId="{C09B222D-42CB-4985-A81E-2887875217F1}" srcOrd="0" destOrd="0" presId="urn:microsoft.com/office/officeart/2005/8/layout/vList3"/>
    <dgm:cxn modelId="{BF23B585-B85A-4C3F-8C05-12A9DC214216}" type="presOf" srcId="{1D9AA5AE-77D7-45F4-B5CA-44D461A71596}" destId="{24B13565-CE81-459F-9F67-46395C2F8F20}" srcOrd="0" destOrd="0" presId="urn:microsoft.com/office/officeart/2005/8/layout/vList3"/>
    <dgm:cxn modelId="{F539836F-3B14-4409-A6BD-CE7A2F60CD15}" srcId="{85A85C5A-9A20-46A4-82D7-E59B4536B2C4}" destId="{1D9AA5AE-77D7-45F4-B5CA-44D461A71596}" srcOrd="1" destOrd="0" parTransId="{3DD4407F-DAFC-49DA-86DB-E2A4E7A7C30F}" sibTransId="{D4BA24FA-2FCB-46A1-8A04-FDE78514B3C7}"/>
    <dgm:cxn modelId="{98D71104-642F-47DD-911B-B7010FF79A0B}" srcId="{85A85C5A-9A20-46A4-82D7-E59B4536B2C4}" destId="{AE83F6E3-2A87-4D4C-9B03-ECCE9D30BCAA}" srcOrd="2" destOrd="0" parTransId="{BEAADD6D-AB22-43B8-B593-221CDED06296}" sibTransId="{20106E61-E0A2-4CDB-8773-6B2C7289D5E3}"/>
    <dgm:cxn modelId="{9254ABB2-2AD8-45DE-ABC4-4E7822D47EEF}" srcId="{85A85C5A-9A20-46A4-82D7-E59B4536B2C4}" destId="{691D2EF7-2E3E-4DD7-B86C-4293C39D5384}" srcOrd="0" destOrd="0" parTransId="{FE5B1897-30A3-4D47-B202-A36A6DE4268C}" sibTransId="{A8B714A9-E716-46D6-82A5-F3CAF1F9AB6C}"/>
    <dgm:cxn modelId="{90FC3C6D-EC6D-46C2-A469-8856CE73EF14}" type="presOf" srcId="{AE83F6E3-2A87-4D4C-9B03-ECCE9D30BCAA}" destId="{39866816-F1F3-4314-ADD9-636F77DD6331}" srcOrd="0" destOrd="0" presId="urn:microsoft.com/office/officeart/2005/8/layout/vList3"/>
    <dgm:cxn modelId="{57CB72FA-14B0-4754-AE28-6FF16E9DFD05}" type="presOf" srcId="{85A85C5A-9A20-46A4-82D7-E59B4536B2C4}" destId="{5550C81A-9083-4B68-88F5-026DDC4AB23F}" srcOrd="0" destOrd="0" presId="urn:microsoft.com/office/officeart/2005/8/layout/vList3"/>
    <dgm:cxn modelId="{D7C2920F-9DE8-42C6-8C6C-EA83D4EB83CE}" type="presParOf" srcId="{5550C81A-9083-4B68-88F5-026DDC4AB23F}" destId="{48B9F0DC-B3AC-419A-9B9F-463EEBBFEBCC}" srcOrd="0" destOrd="0" presId="urn:microsoft.com/office/officeart/2005/8/layout/vList3"/>
    <dgm:cxn modelId="{9D2A2A67-D36C-4908-875B-7DD6C5D512C0}" type="presParOf" srcId="{48B9F0DC-B3AC-419A-9B9F-463EEBBFEBCC}" destId="{7FFD873E-548E-4701-8E14-203C2E60F8DE}" srcOrd="0" destOrd="0" presId="urn:microsoft.com/office/officeart/2005/8/layout/vList3"/>
    <dgm:cxn modelId="{EC3262CD-FC93-48BE-A30D-9C08EAE45E8D}" type="presParOf" srcId="{48B9F0DC-B3AC-419A-9B9F-463EEBBFEBCC}" destId="{C09B222D-42CB-4985-A81E-2887875217F1}" srcOrd="1" destOrd="0" presId="urn:microsoft.com/office/officeart/2005/8/layout/vList3"/>
    <dgm:cxn modelId="{90FC6498-7988-4984-8193-A20F8BAE124C}" type="presParOf" srcId="{5550C81A-9083-4B68-88F5-026DDC4AB23F}" destId="{BA3C3782-E8BE-4024-A2BE-7B0C0F654734}" srcOrd="1" destOrd="0" presId="urn:microsoft.com/office/officeart/2005/8/layout/vList3"/>
    <dgm:cxn modelId="{D5338A28-27E7-4F5F-844B-B621D339B2F1}" type="presParOf" srcId="{5550C81A-9083-4B68-88F5-026DDC4AB23F}" destId="{37F4A1A7-4E53-4834-B9A9-76D1F3C91B9B}" srcOrd="2" destOrd="0" presId="urn:microsoft.com/office/officeart/2005/8/layout/vList3"/>
    <dgm:cxn modelId="{27074567-7D00-43E2-9DCC-E1D6ED87BA10}" type="presParOf" srcId="{37F4A1A7-4E53-4834-B9A9-76D1F3C91B9B}" destId="{0287FED3-26B7-4B0D-8392-5F11EAD4DF61}" srcOrd="0" destOrd="0" presId="urn:microsoft.com/office/officeart/2005/8/layout/vList3"/>
    <dgm:cxn modelId="{A09C2B72-796E-42B9-8FA0-1DC63C5B1566}" type="presParOf" srcId="{37F4A1A7-4E53-4834-B9A9-76D1F3C91B9B}" destId="{24B13565-CE81-459F-9F67-46395C2F8F20}" srcOrd="1" destOrd="0" presId="urn:microsoft.com/office/officeart/2005/8/layout/vList3"/>
    <dgm:cxn modelId="{458DFF26-68E0-4645-9FCD-C71A8AAA87FE}" type="presParOf" srcId="{5550C81A-9083-4B68-88F5-026DDC4AB23F}" destId="{C71BF2EE-5B6A-409C-AA51-5C0B72A4AAFC}" srcOrd="3" destOrd="0" presId="urn:microsoft.com/office/officeart/2005/8/layout/vList3"/>
    <dgm:cxn modelId="{B89EE9FB-339F-4620-A4E8-86E3E700B778}" type="presParOf" srcId="{5550C81A-9083-4B68-88F5-026DDC4AB23F}" destId="{92C2EE08-FB13-4C3B-9274-55A027DD45C9}" srcOrd="4" destOrd="0" presId="urn:microsoft.com/office/officeart/2005/8/layout/vList3"/>
    <dgm:cxn modelId="{06A2614D-EEC5-44DF-825C-9D5E537FA131}" type="presParOf" srcId="{92C2EE08-FB13-4C3B-9274-55A027DD45C9}" destId="{99E1402C-B269-4A8F-9B66-D18475D976E8}" srcOrd="0" destOrd="0" presId="urn:microsoft.com/office/officeart/2005/8/layout/vList3"/>
    <dgm:cxn modelId="{BD7E8CA8-4C59-4D50-B6D8-1FA20F8938D2}" type="presParOf" srcId="{92C2EE08-FB13-4C3B-9274-55A027DD45C9}" destId="{39866816-F1F3-4314-ADD9-636F77DD6331}" srcOrd="1" destOrd="0" presId="urn:microsoft.com/office/officeart/2005/8/layout/vList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C8F747-B42C-4D16-8F5F-D1D7A7EB754B}">
      <dsp:nvSpPr>
        <dsp:cNvPr id="0" name=""/>
        <dsp:cNvSpPr/>
      </dsp:nvSpPr>
      <dsp:spPr>
        <a:xfrm>
          <a:off x="0" y="44021"/>
          <a:ext cx="8229600" cy="6364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lvl="0" algn="l" defTabSz="711200" rtl="0">
            <a:lnSpc>
              <a:spcPct val="90000"/>
            </a:lnSpc>
            <a:spcBef>
              <a:spcPct val="0"/>
            </a:spcBef>
            <a:spcAft>
              <a:spcPct val="35000"/>
            </a:spcAft>
          </a:pPr>
          <a:r>
            <a:rPr lang="en-US" sz="1600" b="1" kern="1200" dirty="0" smtClean="0"/>
            <a:t>Objective:</a:t>
          </a:r>
          <a:r>
            <a:rPr lang="en-US" sz="1600" kern="1200" dirty="0" smtClean="0"/>
            <a:t> To analyze the severity of air pollution across major Indian cities using key indicators like AQI, PM2.5, NO2, and CO.</a:t>
          </a:r>
          <a:endParaRPr lang="en-IN" sz="1600" kern="1200" dirty="0"/>
        </a:p>
      </dsp:txBody>
      <dsp:txXfrm>
        <a:off x="31070" y="75091"/>
        <a:ext cx="8167460" cy="574340"/>
      </dsp:txXfrm>
    </dsp:sp>
    <dsp:sp modelId="{9A9ED6A3-EBAA-487B-AA08-333DECCB4256}">
      <dsp:nvSpPr>
        <dsp:cNvPr id="0" name=""/>
        <dsp:cNvSpPr/>
      </dsp:nvSpPr>
      <dsp:spPr>
        <a:xfrm>
          <a:off x="0" y="726581"/>
          <a:ext cx="8229600" cy="6364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b="1" kern="1200" dirty="0" smtClean="0"/>
            <a:t>Key High-Level Metrics:</a:t>
          </a:r>
          <a:endParaRPr lang="en-IN" sz="1800" kern="1200" dirty="0"/>
        </a:p>
      </dsp:txBody>
      <dsp:txXfrm>
        <a:off x="31070" y="757651"/>
        <a:ext cx="8167460" cy="574340"/>
      </dsp:txXfrm>
    </dsp:sp>
    <dsp:sp modelId="{52F4214C-A649-4BE8-91A9-043D2828BAE3}">
      <dsp:nvSpPr>
        <dsp:cNvPr id="0" name=""/>
        <dsp:cNvSpPr/>
      </dsp:nvSpPr>
      <dsp:spPr>
        <a:xfrm>
          <a:off x="0" y="1409141"/>
          <a:ext cx="8229600" cy="636480"/>
        </a:xfrm>
        <a:prstGeom prst="roundRect">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b="1" kern="1200" smtClean="0"/>
            <a:t>National Average AQI:</a:t>
          </a:r>
          <a:r>
            <a:rPr lang="en-US" sz="1800" kern="1200" smtClean="0"/>
            <a:t> 251.11 (Indicates a high pollution baseline).</a:t>
          </a:r>
          <a:endParaRPr lang="en-IN" sz="1800" kern="1200" dirty="0"/>
        </a:p>
      </dsp:txBody>
      <dsp:txXfrm>
        <a:off x="31070" y="1440211"/>
        <a:ext cx="8167460" cy="574340"/>
      </dsp:txXfrm>
    </dsp:sp>
    <dsp:sp modelId="{7B7BB711-13AE-4B65-8108-4BF98D79E7BC}">
      <dsp:nvSpPr>
        <dsp:cNvPr id="0" name=""/>
        <dsp:cNvSpPr/>
      </dsp:nvSpPr>
      <dsp:spPr>
        <a:xfrm>
          <a:off x="0" y="2091701"/>
          <a:ext cx="8229600" cy="636480"/>
        </a:xfrm>
        <a:prstGeom prst="roundRect">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b="1" kern="1200" dirty="0" smtClean="0"/>
            <a:t>Total PM2.5 Mass:</a:t>
          </a:r>
          <a:r>
            <a:rPr lang="en-US" sz="1800" kern="1200" dirty="0" smtClean="0"/>
            <a:t> 4.58M.</a:t>
          </a:r>
          <a:endParaRPr lang="en-IN" sz="1800" kern="1200" dirty="0"/>
        </a:p>
      </dsp:txBody>
      <dsp:txXfrm>
        <a:off x="31070" y="2122771"/>
        <a:ext cx="8167460" cy="574340"/>
      </dsp:txXfrm>
    </dsp:sp>
    <dsp:sp modelId="{190E1904-393A-43FB-BC6F-33D172B80159}">
      <dsp:nvSpPr>
        <dsp:cNvPr id="0" name=""/>
        <dsp:cNvSpPr/>
      </dsp:nvSpPr>
      <dsp:spPr>
        <a:xfrm>
          <a:off x="0" y="2774261"/>
          <a:ext cx="8229600" cy="6364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b="1" kern="1200" dirty="0" smtClean="0"/>
            <a:t>Average NO2 Levels:</a:t>
          </a:r>
          <a:r>
            <a:rPr lang="en-US" sz="1800" kern="1200" dirty="0" smtClean="0"/>
            <a:t> 75.42.</a:t>
          </a:r>
          <a:endParaRPr lang="en-IN" sz="1800" kern="1200" dirty="0"/>
        </a:p>
      </dsp:txBody>
      <dsp:txXfrm>
        <a:off x="31070" y="2805331"/>
        <a:ext cx="8167460" cy="574340"/>
      </dsp:txXfrm>
    </dsp:sp>
    <dsp:sp modelId="{3E3281D2-D393-4703-8EBB-8C73237B56BD}">
      <dsp:nvSpPr>
        <dsp:cNvPr id="0" name=""/>
        <dsp:cNvSpPr/>
      </dsp:nvSpPr>
      <dsp:spPr>
        <a:xfrm>
          <a:off x="0" y="3500842"/>
          <a:ext cx="8229600" cy="6364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lvl="0" algn="l" defTabSz="800100" rtl="0">
            <a:lnSpc>
              <a:spcPct val="90000"/>
            </a:lnSpc>
            <a:spcBef>
              <a:spcPct val="0"/>
            </a:spcBef>
            <a:spcAft>
              <a:spcPct val="35000"/>
            </a:spcAft>
          </a:pPr>
          <a:r>
            <a:rPr lang="en-US" sz="1800" b="1" kern="1200" smtClean="0"/>
            <a:t>Average CO Levels:</a:t>
          </a:r>
          <a:r>
            <a:rPr lang="en-US" sz="1800" kern="1200" smtClean="0"/>
            <a:t> 5.00.</a:t>
          </a:r>
          <a:endParaRPr lang="en-IN" sz="1800" kern="1200"/>
        </a:p>
      </dsp:txBody>
      <dsp:txXfrm>
        <a:off x="31070" y="3531912"/>
        <a:ext cx="8167460" cy="57434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0A1243-183D-4A07-AC19-D1B21FCA2D0C}">
      <dsp:nvSpPr>
        <dsp:cNvPr id="0" name=""/>
        <dsp:cNvSpPr/>
      </dsp:nvSpPr>
      <dsp:spPr>
        <a:xfrm>
          <a:off x="0" y="31409"/>
          <a:ext cx="8229600" cy="914940"/>
        </a:xfrm>
        <a:prstGeom prst="roundRect">
          <a:avLst/>
        </a:prstGeom>
        <a:gradFill rotWithShape="0">
          <a:gsLst>
            <a:gs pos="0">
              <a:schemeClr val="accent3">
                <a:shade val="50000"/>
                <a:hueOff val="0"/>
                <a:satOff val="0"/>
                <a:lumOff val="0"/>
                <a:alphaOff val="0"/>
                <a:tint val="50000"/>
                <a:satMod val="300000"/>
              </a:schemeClr>
            </a:gs>
            <a:gs pos="35000">
              <a:schemeClr val="accent3">
                <a:shade val="50000"/>
                <a:hueOff val="0"/>
                <a:satOff val="0"/>
                <a:lumOff val="0"/>
                <a:alphaOff val="0"/>
                <a:tint val="37000"/>
                <a:satMod val="300000"/>
              </a:schemeClr>
            </a:gs>
            <a:gs pos="100000">
              <a:schemeClr val="accent3">
                <a:shade val="50000"/>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7630" tIns="87630" rIns="87630" bIns="87630" numCol="1" spcCol="1270" anchor="ctr" anchorCtr="0">
          <a:noAutofit/>
        </a:bodyPr>
        <a:lstStyle/>
        <a:p>
          <a:pPr lvl="0" algn="l" defTabSz="1022350" rtl="0">
            <a:lnSpc>
              <a:spcPct val="90000"/>
            </a:lnSpc>
            <a:spcBef>
              <a:spcPct val="0"/>
            </a:spcBef>
            <a:spcAft>
              <a:spcPct val="35000"/>
            </a:spcAft>
          </a:pPr>
          <a:r>
            <a:rPr lang="en-US" sz="2300" b="1" kern="1200" smtClean="0"/>
            <a:t>PM2.5 Distribution:</a:t>
          </a:r>
          <a:r>
            <a:rPr lang="en-US" sz="2300" kern="1200" smtClean="0"/>
            <a:t> A significant portion of cities fall under "Hazardous" or "Very Unhealthy" categories (see pie chart).</a:t>
          </a:r>
          <a:endParaRPr lang="en-IN" sz="2300" kern="1200"/>
        </a:p>
      </dsp:txBody>
      <dsp:txXfrm>
        <a:off x="44664" y="76073"/>
        <a:ext cx="8140272" cy="825612"/>
      </dsp:txXfrm>
    </dsp:sp>
    <dsp:sp modelId="{07402AB6-90FD-478E-B868-A8E286B47F49}">
      <dsp:nvSpPr>
        <dsp:cNvPr id="0" name=""/>
        <dsp:cNvSpPr/>
      </dsp:nvSpPr>
      <dsp:spPr>
        <a:xfrm>
          <a:off x="0" y="1012589"/>
          <a:ext cx="8229600" cy="914940"/>
        </a:xfrm>
        <a:prstGeom prst="roundRect">
          <a:avLst/>
        </a:prstGeom>
        <a:gradFill rotWithShape="0">
          <a:gsLst>
            <a:gs pos="0">
              <a:schemeClr val="accent3">
                <a:shade val="50000"/>
                <a:hueOff val="133778"/>
                <a:satOff val="-2135"/>
                <a:lumOff val="20553"/>
                <a:alphaOff val="0"/>
                <a:tint val="50000"/>
                <a:satMod val="300000"/>
              </a:schemeClr>
            </a:gs>
            <a:gs pos="35000">
              <a:schemeClr val="accent3">
                <a:shade val="50000"/>
                <a:hueOff val="133778"/>
                <a:satOff val="-2135"/>
                <a:lumOff val="20553"/>
                <a:alphaOff val="0"/>
                <a:tint val="37000"/>
                <a:satMod val="300000"/>
              </a:schemeClr>
            </a:gs>
            <a:gs pos="100000">
              <a:schemeClr val="accent3">
                <a:shade val="50000"/>
                <a:hueOff val="133778"/>
                <a:satOff val="-2135"/>
                <a:lumOff val="2055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7630" tIns="87630" rIns="87630" bIns="87630" numCol="1" spcCol="1270" anchor="ctr" anchorCtr="0">
          <a:noAutofit/>
        </a:bodyPr>
        <a:lstStyle/>
        <a:p>
          <a:pPr lvl="0" algn="l" defTabSz="1022350" rtl="0">
            <a:lnSpc>
              <a:spcPct val="90000"/>
            </a:lnSpc>
            <a:spcBef>
              <a:spcPct val="0"/>
            </a:spcBef>
            <a:spcAft>
              <a:spcPct val="35000"/>
            </a:spcAft>
          </a:pPr>
          <a:r>
            <a:rPr lang="en-US" sz="2300" b="1" kern="1200" dirty="0" smtClean="0"/>
            <a:t>CO &amp; NO2 Categories:</a:t>
          </a:r>
          <a:r>
            <a:rPr lang="en-US" sz="2300" kern="1200" dirty="0" smtClean="0"/>
            <a:t> * CO levels are predominantly in the "Moderate" to "Good" range for most cities.</a:t>
          </a:r>
          <a:endParaRPr lang="en-IN" sz="2300" kern="1200" dirty="0"/>
        </a:p>
      </dsp:txBody>
      <dsp:txXfrm>
        <a:off x="44664" y="1057253"/>
        <a:ext cx="8140272" cy="825612"/>
      </dsp:txXfrm>
    </dsp:sp>
    <dsp:sp modelId="{603A6298-6F65-4D72-92D7-5342252D1E5E}">
      <dsp:nvSpPr>
        <dsp:cNvPr id="0" name=""/>
        <dsp:cNvSpPr/>
      </dsp:nvSpPr>
      <dsp:spPr>
        <a:xfrm>
          <a:off x="0" y="1993769"/>
          <a:ext cx="8229600" cy="914940"/>
        </a:xfrm>
        <a:prstGeom prst="roundRect">
          <a:avLst/>
        </a:prstGeom>
        <a:gradFill rotWithShape="0">
          <a:gsLst>
            <a:gs pos="0">
              <a:schemeClr val="accent3">
                <a:shade val="50000"/>
                <a:hueOff val="267555"/>
                <a:satOff val="-4269"/>
                <a:lumOff val="41107"/>
                <a:alphaOff val="0"/>
                <a:tint val="50000"/>
                <a:satMod val="300000"/>
              </a:schemeClr>
            </a:gs>
            <a:gs pos="35000">
              <a:schemeClr val="accent3">
                <a:shade val="50000"/>
                <a:hueOff val="267555"/>
                <a:satOff val="-4269"/>
                <a:lumOff val="41107"/>
                <a:alphaOff val="0"/>
                <a:tint val="37000"/>
                <a:satMod val="300000"/>
              </a:schemeClr>
            </a:gs>
            <a:gs pos="100000">
              <a:schemeClr val="accent3">
                <a:shade val="50000"/>
                <a:hueOff val="267555"/>
                <a:satOff val="-4269"/>
                <a:lumOff val="41107"/>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7630" tIns="87630" rIns="87630" bIns="87630" numCol="1" spcCol="1270" anchor="ctr" anchorCtr="0">
          <a:noAutofit/>
        </a:bodyPr>
        <a:lstStyle/>
        <a:p>
          <a:pPr lvl="0" algn="l" defTabSz="1022350" rtl="0">
            <a:lnSpc>
              <a:spcPct val="90000"/>
            </a:lnSpc>
            <a:spcBef>
              <a:spcPct val="0"/>
            </a:spcBef>
            <a:spcAft>
              <a:spcPct val="35000"/>
            </a:spcAft>
          </a:pPr>
          <a:r>
            <a:rPr lang="en-US" sz="2300" kern="1200" dirty="0" smtClean="0"/>
            <a:t>NO2 levels show a split, with over 30% of cities reaching "Moderate" pollution levels.</a:t>
          </a:r>
          <a:endParaRPr lang="en-IN" sz="2300" kern="1200" dirty="0"/>
        </a:p>
      </dsp:txBody>
      <dsp:txXfrm>
        <a:off x="44664" y="2038433"/>
        <a:ext cx="8140272" cy="825612"/>
      </dsp:txXfrm>
    </dsp:sp>
    <dsp:sp modelId="{5F869688-03F3-4514-AF49-58004C79E23B}">
      <dsp:nvSpPr>
        <dsp:cNvPr id="0" name=""/>
        <dsp:cNvSpPr/>
      </dsp:nvSpPr>
      <dsp:spPr>
        <a:xfrm>
          <a:off x="0" y="2974949"/>
          <a:ext cx="8229600" cy="914940"/>
        </a:xfrm>
        <a:prstGeom prst="roundRect">
          <a:avLst/>
        </a:prstGeom>
        <a:gradFill rotWithShape="0">
          <a:gsLst>
            <a:gs pos="0">
              <a:schemeClr val="accent3">
                <a:shade val="50000"/>
                <a:hueOff val="133778"/>
                <a:satOff val="-2135"/>
                <a:lumOff val="20553"/>
                <a:alphaOff val="0"/>
                <a:tint val="50000"/>
                <a:satMod val="300000"/>
              </a:schemeClr>
            </a:gs>
            <a:gs pos="35000">
              <a:schemeClr val="accent3">
                <a:shade val="50000"/>
                <a:hueOff val="133778"/>
                <a:satOff val="-2135"/>
                <a:lumOff val="20553"/>
                <a:alphaOff val="0"/>
                <a:tint val="37000"/>
                <a:satMod val="300000"/>
              </a:schemeClr>
            </a:gs>
            <a:gs pos="100000">
              <a:schemeClr val="accent3">
                <a:shade val="50000"/>
                <a:hueOff val="133778"/>
                <a:satOff val="-2135"/>
                <a:lumOff val="2055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87630" tIns="87630" rIns="87630" bIns="87630" numCol="1" spcCol="1270" anchor="ctr" anchorCtr="0">
          <a:noAutofit/>
        </a:bodyPr>
        <a:lstStyle/>
        <a:p>
          <a:pPr lvl="0" algn="l" defTabSz="1022350" rtl="0">
            <a:lnSpc>
              <a:spcPct val="90000"/>
            </a:lnSpc>
            <a:spcBef>
              <a:spcPct val="0"/>
            </a:spcBef>
            <a:spcAft>
              <a:spcPct val="35000"/>
            </a:spcAft>
          </a:pPr>
          <a:r>
            <a:rPr lang="en-US" sz="2300" b="1" kern="1200" smtClean="0"/>
            <a:t>PM10 Status:</a:t>
          </a:r>
          <a:r>
            <a:rPr lang="en-US" sz="2300" kern="1200" smtClean="0"/>
            <a:t> A funnel analysis showing the distribution from "Satisfactory" to "Severe."</a:t>
          </a:r>
          <a:endParaRPr lang="en-IN" sz="2300" kern="1200"/>
        </a:p>
      </dsp:txBody>
      <dsp:txXfrm>
        <a:off x="44664" y="3019613"/>
        <a:ext cx="8140272" cy="82561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563474-9AB2-4DA5-B896-8022210755C9}">
      <dsp:nvSpPr>
        <dsp:cNvPr id="0" name=""/>
        <dsp:cNvSpPr/>
      </dsp:nvSpPr>
      <dsp:spPr>
        <a:xfrm>
          <a:off x="0" y="0"/>
          <a:ext cx="4137323" cy="4137323"/>
        </a:xfrm>
        <a:prstGeom prst="pie">
          <a:avLst>
            <a:gd name="adj1" fmla="val 5400000"/>
            <a:gd name="adj2" fmla="val 1620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F19F208-1D39-4E39-8957-4B8A1B8FE1EA}">
      <dsp:nvSpPr>
        <dsp:cNvPr id="0" name=""/>
        <dsp:cNvSpPr/>
      </dsp:nvSpPr>
      <dsp:spPr>
        <a:xfrm>
          <a:off x="2068661" y="0"/>
          <a:ext cx="6160938" cy="4137323"/>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lvl="0" algn="ctr" defTabSz="844550" rtl="0">
            <a:lnSpc>
              <a:spcPct val="90000"/>
            </a:lnSpc>
            <a:spcBef>
              <a:spcPct val="0"/>
            </a:spcBef>
            <a:spcAft>
              <a:spcPct val="35000"/>
            </a:spcAft>
          </a:pPr>
          <a:r>
            <a:rPr lang="en-US" sz="1900" b="1" kern="1200" smtClean="0"/>
            <a:t>Summary:</a:t>
          </a:r>
          <a:r>
            <a:rPr lang="en-US" sz="1900" kern="1200" smtClean="0"/>
            <a:t> Urban centers like Delhi, Mumbai, and Kolkata are consistently exceeding safe air quality limits.</a:t>
          </a:r>
          <a:endParaRPr lang="en-IN" sz="1900" kern="1200"/>
        </a:p>
      </dsp:txBody>
      <dsp:txXfrm>
        <a:off x="2068661" y="0"/>
        <a:ext cx="6160938" cy="879181"/>
      </dsp:txXfrm>
    </dsp:sp>
    <dsp:sp modelId="{B91174AF-40DE-4383-90AA-F7F8C101758D}">
      <dsp:nvSpPr>
        <dsp:cNvPr id="0" name=""/>
        <dsp:cNvSpPr/>
      </dsp:nvSpPr>
      <dsp:spPr>
        <a:xfrm>
          <a:off x="543023" y="879181"/>
          <a:ext cx="3051275" cy="3051275"/>
        </a:xfrm>
        <a:prstGeom prst="pie">
          <a:avLst>
            <a:gd name="adj1" fmla="val 5400000"/>
            <a:gd name="adj2" fmla="val 1620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52623D4-6668-4829-A23C-7EBEBF0509E1}">
      <dsp:nvSpPr>
        <dsp:cNvPr id="0" name=""/>
        <dsp:cNvSpPr/>
      </dsp:nvSpPr>
      <dsp:spPr>
        <a:xfrm>
          <a:off x="2068661" y="879181"/>
          <a:ext cx="6160938" cy="3051275"/>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lvl="0" algn="ctr" defTabSz="844550" rtl="0">
            <a:lnSpc>
              <a:spcPct val="90000"/>
            </a:lnSpc>
            <a:spcBef>
              <a:spcPct val="0"/>
            </a:spcBef>
            <a:spcAft>
              <a:spcPct val="35000"/>
            </a:spcAft>
          </a:pPr>
          <a:r>
            <a:rPr lang="en-US" sz="1900" b="1" kern="1200" smtClean="0"/>
            <a:t>Data Insight:</a:t>
          </a:r>
          <a:r>
            <a:rPr lang="en-US" sz="1900" kern="1200" smtClean="0"/>
            <a:t> While CO levels remain manageable, PM2.5 and NO2 are the primary drivers of the "Hazardous" AQI ratings.</a:t>
          </a:r>
          <a:endParaRPr lang="en-IN" sz="1900" kern="1200"/>
        </a:p>
      </dsp:txBody>
      <dsp:txXfrm>
        <a:off x="2068661" y="879181"/>
        <a:ext cx="6160938" cy="879181"/>
      </dsp:txXfrm>
    </dsp:sp>
    <dsp:sp modelId="{32B86162-29CD-4287-A8B1-3CBE749C7388}">
      <dsp:nvSpPr>
        <dsp:cNvPr id="0" name=""/>
        <dsp:cNvSpPr/>
      </dsp:nvSpPr>
      <dsp:spPr>
        <a:xfrm>
          <a:off x="1086047" y="1758362"/>
          <a:ext cx="1965228" cy="1965228"/>
        </a:xfrm>
        <a:prstGeom prst="pie">
          <a:avLst>
            <a:gd name="adj1" fmla="val 5400000"/>
            <a:gd name="adj2" fmla="val 1620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A573B078-2CD1-4049-8E5C-CB981E43705B}">
      <dsp:nvSpPr>
        <dsp:cNvPr id="0" name=""/>
        <dsp:cNvSpPr/>
      </dsp:nvSpPr>
      <dsp:spPr>
        <a:xfrm>
          <a:off x="2068661" y="1758362"/>
          <a:ext cx="6160938" cy="1965228"/>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lvl="0" algn="ctr" defTabSz="844550" rtl="0">
            <a:lnSpc>
              <a:spcPct val="90000"/>
            </a:lnSpc>
            <a:spcBef>
              <a:spcPct val="0"/>
            </a:spcBef>
            <a:spcAft>
              <a:spcPct val="35000"/>
            </a:spcAft>
          </a:pPr>
          <a:r>
            <a:rPr lang="en-US" sz="1900" b="1" kern="1200" smtClean="0"/>
            <a:t>Call to Action:</a:t>
          </a:r>
          <a:r>
            <a:rPr lang="en-US" sz="1900" kern="1200" smtClean="0"/>
            <a:t> * Implement stricter industrial emission controls in metro hubs.</a:t>
          </a:r>
          <a:endParaRPr lang="en-IN" sz="1900" kern="1200"/>
        </a:p>
      </dsp:txBody>
      <dsp:txXfrm>
        <a:off x="2068661" y="1758362"/>
        <a:ext cx="6160938" cy="879181"/>
      </dsp:txXfrm>
    </dsp:sp>
    <dsp:sp modelId="{362AB059-058F-4944-BA91-5E34F91D4285}">
      <dsp:nvSpPr>
        <dsp:cNvPr id="0" name=""/>
        <dsp:cNvSpPr/>
      </dsp:nvSpPr>
      <dsp:spPr>
        <a:xfrm>
          <a:off x="1629070" y="2637543"/>
          <a:ext cx="879181" cy="879181"/>
        </a:xfrm>
        <a:prstGeom prst="pie">
          <a:avLst>
            <a:gd name="adj1" fmla="val 5400000"/>
            <a:gd name="adj2" fmla="val 16200000"/>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972FD5B9-60F5-4161-8239-DDDC1FEC4AFE}">
      <dsp:nvSpPr>
        <dsp:cNvPr id="0" name=""/>
        <dsp:cNvSpPr/>
      </dsp:nvSpPr>
      <dsp:spPr>
        <a:xfrm>
          <a:off x="2068661" y="2637543"/>
          <a:ext cx="6160938" cy="879181"/>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lvl="0" algn="ctr" defTabSz="844550" rtl="0">
            <a:lnSpc>
              <a:spcPct val="90000"/>
            </a:lnSpc>
            <a:spcBef>
              <a:spcPct val="0"/>
            </a:spcBef>
            <a:spcAft>
              <a:spcPct val="35000"/>
            </a:spcAft>
          </a:pPr>
          <a:r>
            <a:rPr lang="en-US" sz="1900" kern="1200" smtClean="0"/>
            <a:t>Enhance green cover and public transport to reduce NO2 from vehicular </a:t>
          </a:r>
          <a:r>
            <a:rPr lang="en-IN" sz="1900" kern="1200" smtClean="0"/>
            <a:t>exhaust.</a:t>
          </a:r>
          <a:endParaRPr lang="en-IN" sz="1900" kern="1200"/>
        </a:p>
      </dsp:txBody>
      <dsp:txXfrm>
        <a:off x="2068661" y="2637543"/>
        <a:ext cx="6160938" cy="879181"/>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09B222D-42CB-4985-A81E-2887875217F1}">
      <dsp:nvSpPr>
        <dsp:cNvPr id="0" name=""/>
        <dsp:cNvSpPr/>
      </dsp:nvSpPr>
      <dsp:spPr>
        <a:xfrm rot="10800000">
          <a:off x="1635909" y="525"/>
          <a:ext cx="5472684" cy="1029805"/>
        </a:xfrm>
        <a:prstGeom prst="homePlat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4115" tIns="76200" rIns="142240" bIns="76200" numCol="1" spcCol="1270" anchor="ctr" anchorCtr="0">
          <a:noAutofit/>
        </a:bodyPr>
        <a:lstStyle/>
        <a:p>
          <a:pPr lvl="0" algn="ctr" defTabSz="889000" rtl="0">
            <a:lnSpc>
              <a:spcPct val="90000"/>
            </a:lnSpc>
            <a:spcBef>
              <a:spcPct val="0"/>
            </a:spcBef>
            <a:spcAft>
              <a:spcPct val="35000"/>
            </a:spcAft>
          </a:pPr>
          <a:r>
            <a:rPr lang="en-US" sz="2000" b="1" kern="1200" smtClean="0"/>
            <a:t>Primary Pollutants Identified:</a:t>
          </a:r>
          <a:r>
            <a:rPr lang="en-US" sz="2000" kern="1200" smtClean="0"/>
            <a:t> The analysis focuses on $CO$, $NO_2$, $O_3$, $PM10$, $PM2.5$, and $SO_2$.</a:t>
          </a:r>
          <a:endParaRPr lang="en-IN" sz="2000" kern="1200"/>
        </a:p>
      </dsp:txBody>
      <dsp:txXfrm rot="10800000">
        <a:off x="1893360" y="525"/>
        <a:ext cx="5215233" cy="1029805"/>
      </dsp:txXfrm>
    </dsp:sp>
    <dsp:sp modelId="{7FFD873E-548E-4701-8E14-203C2E60F8DE}">
      <dsp:nvSpPr>
        <dsp:cNvPr id="0" name=""/>
        <dsp:cNvSpPr/>
      </dsp:nvSpPr>
      <dsp:spPr>
        <a:xfrm>
          <a:off x="1121006" y="525"/>
          <a:ext cx="1029805" cy="1029805"/>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4B13565-CE81-459F-9F67-46395C2F8F20}">
      <dsp:nvSpPr>
        <dsp:cNvPr id="0" name=""/>
        <dsp:cNvSpPr/>
      </dsp:nvSpPr>
      <dsp:spPr>
        <a:xfrm rot="10800000">
          <a:off x="1635909" y="1337734"/>
          <a:ext cx="5472684" cy="1029805"/>
        </a:xfrm>
        <a:prstGeom prst="homePlat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4115" tIns="76200" rIns="142240" bIns="76200" numCol="1" spcCol="1270" anchor="ctr" anchorCtr="0">
          <a:noAutofit/>
        </a:bodyPr>
        <a:lstStyle/>
        <a:p>
          <a:pPr lvl="0" algn="ctr" defTabSz="889000" rtl="0">
            <a:lnSpc>
              <a:spcPct val="90000"/>
            </a:lnSpc>
            <a:spcBef>
              <a:spcPct val="0"/>
            </a:spcBef>
            <a:spcAft>
              <a:spcPct val="35000"/>
            </a:spcAft>
          </a:pPr>
          <a:r>
            <a:rPr lang="en-US" sz="2000" b="1" kern="1200" smtClean="0"/>
            <a:t>Observed Trends:</a:t>
          </a:r>
          <a:r>
            <a:rPr lang="en-US" sz="2000" kern="1200" smtClean="0"/>
            <a:t> Data indicates that pollution levels reach "Morning peaks".</a:t>
          </a:r>
          <a:endParaRPr lang="en-IN" sz="2000" kern="1200"/>
        </a:p>
      </dsp:txBody>
      <dsp:txXfrm rot="10800000">
        <a:off x="1893360" y="1337734"/>
        <a:ext cx="5215233" cy="1029805"/>
      </dsp:txXfrm>
    </dsp:sp>
    <dsp:sp modelId="{0287FED3-26B7-4B0D-8392-5F11EAD4DF61}">
      <dsp:nvSpPr>
        <dsp:cNvPr id="0" name=""/>
        <dsp:cNvSpPr/>
      </dsp:nvSpPr>
      <dsp:spPr>
        <a:xfrm>
          <a:off x="1121006" y="1337734"/>
          <a:ext cx="1029805" cy="1029805"/>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39866816-F1F3-4314-ADD9-636F77DD6331}">
      <dsp:nvSpPr>
        <dsp:cNvPr id="0" name=""/>
        <dsp:cNvSpPr/>
      </dsp:nvSpPr>
      <dsp:spPr>
        <a:xfrm rot="10800000">
          <a:off x="1635909" y="2674944"/>
          <a:ext cx="5472684" cy="1029805"/>
        </a:xfrm>
        <a:prstGeom prst="homePlate">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454115" tIns="76200" rIns="142240" bIns="76200" numCol="1" spcCol="1270" anchor="ctr" anchorCtr="0">
          <a:noAutofit/>
        </a:bodyPr>
        <a:lstStyle/>
        <a:p>
          <a:pPr lvl="0" algn="ctr" defTabSz="889000" rtl="0">
            <a:lnSpc>
              <a:spcPct val="90000"/>
            </a:lnSpc>
            <a:spcBef>
              <a:spcPct val="0"/>
            </a:spcBef>
            <a:spcAft>
              <a:spcPct val="35000"/>
            </a:spcAft>
          </a:pPr>
          <a:r>
            <a:rPr lang="en-US" sz="2000" b="1" kern="1200" smtClean="0"/>
            <a:t>Primary Cause:</a:t>
          </a:r>
          <a:r>
            <a:rPr lang="en-US" sz="2000" kern="1200" smtClean="0"/>
            <a:t> "Vehicle exhaust" is identified as the first possible cause for these elevated levels.</a:t>
          </a:r>
          <a:endParaRPr lang="en-IN" sz="2000" kern="1200"/>
        </a:p>
      </dsp:txBody>
      <dsp:txXfrm rot="10800000">
        <a:off x="1893360" y="2674944"/>
        <a:ext cx="5215233" cy="1029805"/>
      </dsp:txXfrm>
    </dsp:sp>
    <dsp:sp modelId="{99E1402C-B269-4A8F-9B66-D18475D976E8}">
      <dsp:nvSpPr>
        <dsp:cNvPr id="0" name=""/>
        <dsp:cNvSpPr/>
      </dsp:nvSpPr>
      <dsp:spPr>
        <a:xfrm>
          <a:off x="1121006" y="2674944"/>
          <a:ext cx="1029805" cy="1029805"/>
        </a:xfrm>
        <a:prstGeom prst="ellipse">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IN"/>
          </a:p>
        </p:txBody>
      </p:sp>
      <p:sp>
        <p:nvSpPr>
          <p:cNvPr id="4" name="Date Placeholder 3"/>
          <p:cNvSpPr>
            <a:spLocks noGrp="1"/>
          </p:cNvSpPr>
          <p:nvPr>
            <p:ph type="dt" sz="half" idx="10"/>
          </p:nvPr>
        </p:nvSpPr>
        <p:spPr/>
        <p:txBody>
          <a:bodyPr/>
          <a:lstStyle/>
          <a:p>
            <a:fld id="{08C702F1-85A5-46A4-B1F3-D509595545BE}" type="datetimeFigureOut">
              <a:rPr lang="en-IN" smtClean="0"/>
              <a:t>10-01-2026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24070437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08C702F1-85A5-46A4-B1F3-D509595545BE}" type="datetimeFigureOut">
              <a:rPr lang="en-IN" smtClean="0"/>
              <a:t>10-01-2026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3158405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08C702F1-85A5-46A4-B1F3-D509595545BE}" type="datetimeFigureOut">
              <a:rPr lang="en-IN" smtClean="0"/>
              <a:t>10-01-2026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3897927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Date Placeholder 4"/>
          <p:cNvSpPr>
            <a:spLocks noGrp="1"/>
          </p:cNvSpPr>
          <p:nvPr>
            <p:ph type="dt" sz="half" idx="10"/>
          </p:nvPr>
        </p:nvSpPr>
        <p:spPr/>
        <p:txBody>
          <a:bodyPr/>
          <a:lstStyle/>
          <a:p>
            <a:fld id="{08C702F1-85A5-46A4-B1F3-D509595545BE}" type="datetimeFigureOut">
              <a:rPr lang="en-IN" smtClean="0"/>
              <a:t>10-01-2026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22055172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7" name="Date Placeholder 6"/>
          <p:cNvSpPr>
            <a:spLocks noGrp="1"/>
          </p:cNvSpPr>
          <p:nvPr>
            <p:ph type="dt" sz="half" idx="10"/>
          </p:nvPr>
        </p:nvSpPr>
        <p:spPr/>
        <p:txBody>
          <a:bodyPr/>
          <a:lstStyle/>
          <a:p>
            <a:fld id="{08C702F1-85A5-46A4-B1F3-D509595545BE}" type="datetimeFigureOut">
              <a:rPr lang="en-IN" smtClean="0"/>
              <a:t>10-01-2026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38731371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Date Placeholder 2"/>
          <p:cNvSpPr>
            <a:spLocks noGrp="1"/>
          </p:cNvSpPr>
          <p:nvPr>
            <p:ph type="dt" sz="half" idx="10"/>
          </p:nvPr>
        </p:nvSpPr>
        <p:spPr/>
        <p:txBody>
          <a:bodyPr/>
          <a:lstStyle/>
          <a:p>
            <a:fld id="{08C702F1-85A5-46A4-B1F3-D509595545BE}" type="datetimeFigureOut">
              <a:rPr lang="en-IN" smtClean="0"/>
              <a:t>10-01-2026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6310025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C702F1-85A5-46A4-B1F3-D509595545BE}" type="datetimeFigureOut">
              <a:rPr lang="en-IN" smtClean="0"/>
              <a:t>10-01-2026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4527730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8C702F1-85A5-46A4-B1F3-D509595545BE}" type="datetimeFigureOut">
              <a:rPr lang="en-IN" smtClean="0"/>
              <a:t>10-01-2026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975181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08C702F1-85A5-46A4-B1F3-D509595545BE}" type="datetimeFigureOut">
              <a:rPr lang="en-IN" smtClean="0"/>
              <a:t>10-01-2026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1396290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08C702F1-85A5-46A4-B1F3-D509595545BE}" type="datetimeFigureOut">
              <a:rPr lang="en-IN" smtClean="0"/>
              <a:t>10-01-2026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1507605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10"/>
          </p:nvPr>
        </p:nvSpPr>
        <p:spPr/>
        <p:txBody>
          <a:bodyPr/>
          <a:lstStyle/>
          <a:p>
            <a:fld id="{08C702F1-85A5-46A4-B1F3-D509595545BE}" type="datetimeFigureOut">
              <a:rPr lang="en-IN" smtClean="0"/>
              <a:t>10-01-2026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64AE3C7-1479-4F11-B603-DF64D366A913}" type="slidenum">
              <a:rPr lang="en-IN" smtClean="0"/>
              <a:t>‹#›</a:t>
            </a:fld>
            <a:endParaRPr lang="en-IN"/>
          </a:p>
        </p:txBody>
      </p:sp>
    </p:spTree>
    <p:extLst>
      <p:ext uri="{BB962C8B-B14F-4D97-AF65-F5344CB8AC3E}">
        <p14:creationId xmlns:p14="http://schemas.microsoft.com/office/powerpoint/2010/main" val="6739823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8C702F1-85A5-46A4-B1F3-D509595545BE}" type="datetimeFigureOut">
              <a:rPr lang="en-IN" smtClean="0"/>
              <a:t>10-01-2026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4AE3C7-1479-4F11-B603-DF64D366A913}" type="slidenum">
              <a:rPr lang="en-IN" smtClean="0"/>
              <a:t>‹#›</a:t>
            </a:fld>
            <a:endParaRPr lang="en-IN"/>
          </a:p>
        </p:txBody>
      </p:sp>
    </p:spTree>
    <p:extLst>
      <p:ext uri="{BB962C8B-B14F-4D97-AF65-F5344CB8AC3E}">
        <p14:creationId xmlns:p14="http://schemas.microsoft.com/office/powerpoint/2010/main" val="19252443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980729"/>
            <a:ext cx="7772400" cy="1872207"/>
          </a:xfrm>
        </p:spPr>
        <p:style>
          <a:lnRef idx="1">
            <a:schemeClr val="accent3"/>
          </a:lnRef>
          <a:fillRef idx="3">
            <a:schemeClr val="accent3"/>
          </a:fillRef>
          <a:effectRef idx="2">
            <a:schemeClr val="accent3"/>
          </a:effectRef>
          <a:fontRef idx="minor">
            <a:schemeClr val="lt1"/>
          </a:fontRef>
        </p:style>
        <p:txBody>
          <a:bodyPr>
            <a:normAutofit fontScale="90000"/>
          </a:bodyPr>
          <a:lstStyle/>
          <a:p>
            <a:r>
              <a:rPr lang="en-US" dirty="0" smtClean="0">
                <a:solidFill>
                  <a:schemeClr val="tx2">
                    <a:lumMod val="50000"/>
                  </a:schemeClr>
                </a:solidFill>
                <a:effectLst>
                  <a:outerShdw blurRad="38100" dist="38100" dir="2700000" algn="tl">
                    <a:srgbClr val="000000">
                      <a:alpha val="43137"/>
                    </a:srgbClr>
                  </a:outerShdw>
                </a:effectLst>
              </a:rPr>
              <a:t>The Air We Breathe: A National Analysis of India’s Air Pollution Crisis</a:t>
            </a:r>
            <a:endParaRPr lang="en-IN" dirty="0">
              <a:solidFill>
                <a:schemeClr val="tx2">
                  <a:lumMod val="50000"/>
                </a:schemeClr>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1371600" y="3429000"/>
            <a:ext cx="6400800" cy="2209800"/>
          </a:xfrm>
        </p:spPr>
        <p:txBody>
          <a:bodyPr>
            <a:normAutofit/>
          </a:bodyPr>
          <a:lstStyle/>
          <a:p>
            <a:r>
              <a:rPr lang="en-US" sz="2400" dirty="0" smtClean="0">
                <a:solidFill>
                  <a:schemeClr val="tx2">
                    <a:lumMod val="50000"/>
                  </a:schemeClr>
                </a:solidFill>
              </a:rPr>
              <a:t>Data-Driven Insights into Urban Air Quality and Pollutant Trends</a:t>
            </a:r>
          </a:p>
          <a:p>
            <a:r>
              <a:rPr lang="en-IN" sz="2400" b="1" dirty="0" smtClean="0">
                <a:solidFill>
                  <a:schemeClr val="tx2">
                    <a:lumMod val="50000"/>
                  </a:schemeClr>
                </a:solidFill>
              </a:rPr>
              <a:t>Presenter Name:</a:t>
            </a:r>
            <a:r>
              <a:rPr lang="en-IN" sz="2400" dirty="0" smtClean="0">
                <a:solidFill>
                  <a:schemeClr val="tx2">
                    <a:lumMod val="50000"/>
                  </a:schemeClr>
                </a:solidFill>
              </a:rPr>
              <a:t> LOPAMUDRA ROY</a:t>
            </a:r>
            <a:endParaRPr lang="en-IN" sz="2400" dirty="0">
              <a:solidFill>
                <a:schemeClr val="tx2">
                  <a:lumMod val="50000"/>
                </a:schemeClr>
              </a:solidFill>
            </a:endParaRPr>
          </a:p>
        </p:txBody>
      </p:sp>
    </p:spTree>
    <p:extLst>
      <p:ext uri="{BB962C8B-B14F-4D97-AF65-F5344CB8AC3E}">
        <p14:creationId xmlns:p14="http://schemas.microsoft.com/office/powerpoint/2010/main" val="13671251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rmAutofit/>
          </a:bodyPr>
          <a:lstStyle/>
          <a:p>
            <a:r>
              <a:rPr lang="en-IN" sz="3600" dirty="0" smtClean="0">
                <a:solidFill>
                  <a:schemeClr val="tx2">
                    <a:lumMod val="50000"/>
                  </a:schemeClr>
                </a:solidFill>
              </a:rPr>
              <a:t>Project Overview &amp; Executive Summary</a:t>
            </a:r>
            <a:endParaRPr lang="en-IN" sz="3600" dirty="0">
              <a:solidFill>
                <a:schemeClr val="tx2">
                  <a:lumMod val="50000"/>
                </a:schemeClr>
              </a:solidFill>
            </a:endParaRP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48582066"/>
              </p:ext>
            </p:extLst>
          </p:nvPr>
        </p:nvGraphicFramePr>
        <p:xfrm>
          <a:off x="457200" y="1988840"/>
          <a:ext cx="8229600" cy="413732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920544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Autofit/>
          </a:bodyPr>
          <a:lstStyle/>
          <a:p>
            <a:r>
              <a:rPr lang="en-US" sz="3600" dirty="0" smtClean="0">
                <a:solidFill>
                  <a:schemeClr val="tx2">
                    <a:lumMod val="50000"/>
                  </a:schemeClr>
                </a:solidFill>
                <a:effectLst>
                  <a:outerShdw blurRad="38100" dist="38100" dir="2700000" algn="tl">
                    <a:srgbClr val="000000">
                      <a:alpha val="43137"/>
                    </a:srgbClr>
                  </a:outerShdw>
                </a:effectLst>
              </a:rPr>
              <a:t>Pollutant Breakdown &amp; Health Risk Categories</a:t>
            </a:r>
            <a:endParaRPr lang="en-IN" sz="3600" dirty="0">
              <a:solidFill>
                <a:schemeClr val="tx2">
                  <a:lumMod val="50000"/>
                </a:schemeClr>
              </a:solidFill>
              <a:effectLst>
                <a:outerShdw blurRad="38100" dist="38100" dir="2700000" algn="tl">
                  <a:srgbClr val="000000">
                    <a:alpha val="43137"/>
                  </a:srgbClr>
                </a:outerShdw>
              </a:effectLst>
            </a:endParaRP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4229771826"/>
              </p:ext>
            </p:extLst>
          </p:nvPr>
        </p:nvGraphicFramePr>
        <p:xfrm>
          <a:off x="457200" y="2204864"/>
          <a:ext cx="8229600" cy="392129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7982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Autofit/>
          </a:bodyPr>
          <a:lstStyle/>
          <a:p>
            <a:r>
              <a:rPr lang="en-US" sz="3600" dirty="0" smtClean="0">
                <a:solidFill>
                  <a:schemeClr val="tx2">
                    <a:lumMod val="50000"/>
                  </a:schemeClr>
                </a:solidFill>
                <a:effectLst>
                  <a:outerShdw blurRad="38100" dist="38100" dir="2700000" algn="tl">
                    <a:srgbClr val="000000">
                      <a:alpha val="43137"/>
                    </a:srgbClr>
                  </a:outerShdw>
                </a:effectLst>
              </a:rPr>
              <a:t>Geographic Hotspots (Top 3 Polluted Cities/States)</a:t>
            </a:r>
            <a:endParaRPr lang="en-IN" sz="3600" dirty="0">
              <a:solidFill>
                <a:schemeClr val="tx2">
                  <a:lumMod val="50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457200" y="1988840"/>
            <a:ext cx="8229600" cy="4137323"/>
          </a:xfrm>
        </p:spPr>
        <p:txBody>
          <a:bodyPr>
            <a:normAutofit fontScale="77500" lnSpcReduction="20000"/>
          </a:bodyPr>
          <a:lstStyle/>
          <a:p>
            <a:r>
              <a:rPr lang="en-IN" sz="3100" b="1" dirty="0"/>
              <a:t>Slide 4: Geographic Hotspots (Top 3 Polluted Cities/States)</a:t>
            </a:r>
          </a:p>
          <a:p>
            <a:r>
              <a:rPr lang="en-IN" sz="3100" b="1" dirty="0"/>
              <a:t>Highest Average AQI:</a:t>
            </a:r>
            <a:endParaRPr lang="en-IN" sz="3100" dirty="0"/>
          </a:p>
          <a:p>
            <a:pPr lvl="1"/>
            <a:r>
              <a:rPr lang="en-IN" sz="3100" b="1" dirty="0"/>
              <a:t>Mumbai:</a:t>
            </a:r>
            <a:r>
              <a:rPr lang="en-IN" sz="3100" dirty="0"/>
              <a:t> 253</a:t>
            </a:r>
          </a:p>
          <a:p>
            <a:pPr lvl="1"/>
            <a:r>
              <a:rPr lang="en-IN" sz="3100" b="1" dirty="0"/>
              <a:t>Delhi:</a:t>
            </a:r>
            <a:r>
              <a:rPr lang="en-IN" sz="3100" dirty="0"/>
              <a:t> 251</a:t>
            </a:r>
          </a:p>
          <a:p>
            <a:pPr lvl="1"/>
            <a:r>
              <a:rPr lang="en-IN" sz="3100" b="1" dirty="0"/>
              <a:t>Kolkata:</a:t>
            </a:r>
            <a:r>
              <a:rPr lang="en-IN" sz="3100" dirty="0"/>
              <a:t> 251</a:t>
            </a:r>
          </a:p>
          <a:p>
            <a:r>
              <a:rPr lang="en-IN" sz="3100" b="1" dirty="0"/>
              <a:t>Pollutant Specifics:</a:t>
            </a:r>
            <a:endParaRPr lang="en-IN" sz="3100" dirty="0"/>
          </a:p>
          <a:p>
            <a:pPr lvl="1"/>
            <a:r>
              <a:rPr lang="en-IN" sz="3100" b="1" dirty="0"/>
              <a:t>Ozone ($O_3$):</a:t>
            </a:r>
            <a:r>
              <a:rPr lang="en-IN" sz="3100" dirty="0"/>
              <a:t> Kolkata leads in Ozone concentration among the top three.</a:t>
            </a:r>
          </a:p>
          <a:p>
            <a:pPr lvl="1"/>
            <a:r>
              <a:rPr lang="en-IN" sz="3100" b="1" dirty="0"/>
              <a:t>Nitrogen Dioxide ($NO_2$):</a:t>
            </a:r>
            <a:r>
              <a:rPr lang="en-IN" sz="3100" dirty="0"/>
              <a:t> Delhi shows the highest average $NO_2$ (75.91), followed closely by Mumbai and </a:t>
            </a:r>
            <a:r>
              <a:rPr lang="en-IN" sz="3100" dirty="0" smtClean="0"/>
              <a:t>Kolkata.</a:t>
            </a:r>
            <a:endParaRPr lang="en-IN" sz="3100" dirty="0"/>
          </a:p>
          <a:p>
            <a:endParaRPr lang="en-IN" dirty="0"/>
          </a:p>
        </p:txBody>
      </p:sp>
    </p:spTree>
    <p:extLst>
      <p:ext uri="{BB962C8B-B14F-4D97-AF65-F5344CB8AC3E}">
        <p14:creationId xmlns:p14="http://schemas.microsoft.com/office/powerpoint/2010/main" val="723458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lstStyle/>
          <a:p>
            <a:r>
              <a:rPr lang="en-IN" dirty="0" smtClean="0">
                <a:solidFill>
                  <a:schemeClr val="tx2">
                    <a:lumMod val="50000"/>
                  </a:schemeClr>
                </a:solidFill>
                <a:effectLst>
                  <a:outerShdw blurRad="38100" dist="38100" dir="2700000" algn="tl">
                    <a:srgbClr val="000000">
                      <a:alpha val="43137"/>
                    </a:srgbClr>
                  </a:outerShdw>
                </a:effectLst>
              </a:rPr>
              <a:t>Conclusion &amp; Recommendations</a:t>
            </a:r>
            <a:endParaRPr lang="en-IN" dirty="0">
              <a:solidFill>
                <a:schemeClr val="tx2">
                  <a:lumMod val="50000"/>
                </a:schemeClr>
              </a:solidFill>
              <a:effectLst>
                <a:outerShdw blurRad="38100" dist="38100" dir="2700000" algn="tl">
                  <a:srgbClr val="000000">
                    <a:alpha val="43137"/>
                  </a:srgbClr>
                </a:outerShdw>
              </a:effectLst>
            </a:endParaRP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332560189"/>
              </p:ext>
            </p:extLst>
          </p:nvPr>
        </p:nvGraphicFramePr>
        <p:xfrm>
          <a:off x="457200" y="1988840"/>
          <a:ext cx="8229600" cy="413732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8538253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rmAutofit fontScale="90000"/>
          </a:bodyPr>
          <a:lstStyle/>
          <a:p>
            <a:r>
              <a:rPr lang="en-IN" dirty="0" smtClean="0">
                <a:solidFill>
                  <a:schemeClr val="tx2">
                    <a:lumMod val="50000"/>
                  </a:schemeClr>
                </a:solidFill>
                <a:effectLst>
                  <a:outerShdw blurRad="38100" dist="38100" dir="2700000" algn="tl">
                    <a:srgbClr val="000000">
                      <a:alpha val="43137"/>
                    </a:srgbClr>
                  </a:outerShdw>
                </a:effectLst>
              </a:rPr>
              <a:t>Air Pollution: Root Causes and Observations</a:t>
            </a:r>
            <a:endParaRPr lang="en-IN" dirty="0">
              <a:solidFill>
                <a:schemeClr val="tx2">
                  <a:lumMod val="50000"/>
                </a:schemeClr>
              </a:solidFill>
              <a:effectLst>
                <a:outerShdw blurRad="38100" dist="38100" dir="2700000" algn="tl">
                  <a:srgbClr val="000000">
                    <a:alpha val="43137"/>
                  </a:srgbClr>
                </a:outerShdw>
              </a:effectLst>
            </a:endParaRP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475822525"/>
              </p:ext>
            </p:extLst>
          </p:nvPr>
        </p:nvGraphicFramePr>
        <p:xfrm>
          <a:off x="457200" y="2420888"/>
          <a:ext cx="8229600" cy="37052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773272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rmAutofit fontScale="90000"/>
          </a:bodyPr>
          <a:lstStyle/>
          <a:p>
            <a:r>
              <a:rPr lang="en-US" dirty="0" smtClean="0">
                <a:solidFill>
                  <a:schemeClr val="tx2">
                    <a:lumMod val="50000"/>
                  </a:schemeClr>
                </a:solidFill>
                <a:effectLst>
                  <a:outerShdw blurRad="38100" dist="38100" dir="2700000" algn="tl">
                    <a:srgbClr val="000000">
                      <a:alpha val="43137"/>
                    </a:srgbClr>
                  </a:outerShdw>
                </a:effectLst>
              </a:rPr>
              <a:t>Impact Assessment (The Human Cost)</a:t>
            </a:r>
            <a:endParaRPr lang="en-IN" dirty="0">
              <a:solidFill>
                <a:schemeClr val="tx2">
                  <a:lumMod val="50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457200" y="2348880"/>
            <a:ext cx="8229600" cy="3777283"/>
          </a:xfrm>
        </p:spPr>
        <p:txBody>
          <a:bodyPr/>
          <a:lstStyle/>
          <a:p>
            <a:r>
              <a:rPr lang="en-US" sz="2400" b="1" dirty="0" smtClean="0"/>
              <a:t>Health Effects:</a:t>
            </a:r>
            <a:r>
              <a:rPr lang="en-US" sz="2400" dirty="0" smtClean="0"/>
              <a:t> Exposure to these pollutants leads to "Headaches and reduced oxygen transport".</a:t>
            </a:r>
          </a:p>
          <a:p>
            <a:r>
              <a:rPr lang="en-US" sz="2400" b="1" dirty="0" smtClean="0"/>
              <a:t>Environmental Impact:</a:t>
            </a:r>
            <a:r>
              <a:rPr lang="en-US" sz="2400" dirty="0" smtClean="0"/>
              <a:t> The dashboard highlights the direct correlation between vehicle emissions and immediate physiological impacts on the urban population.</a:t>
            </a:r>
          </a:p>
          <a:p>
            <a:endParaRPr lang="en-IN" dirty="0"/>
          </a:p>
        </p:txBody>
      </p:sp>
    </p:spTree>
    <p:extLst>
      <p:ext uri="{BB962C8B-B14F-4D97-AF65-F5344CB8AC3E}">
        <p14:creationId xmlns:p14="http://schemas.microsoft.com/office/powerpoint/2010/main" val="36604897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rmAutofit fontScale="90000"/>
          </a:bodyPr>
          <a:lstStyle/>
          <a:p>
            <a:r>
              <a:rPr lang="en-IN" dirty="0" smtClean="0">
                <a:solidFill>
                  <a:schemeClr val="tx2">
                    <a:lumMod val="50000"/>
                  </a:schemeClr>
                </a:solidFill>
                <a:effectLst>
                  <a:outerShdw blurRad="38100" dist="38100" dir="2700000" algn="tl">
                    <a:srgbClr val="000000">
                      <a:alpha val="43137"/>
                    </a:srgbClr>
                  </a:outerShdw>
                </a:effectLst>
              </a:rPr>
              <a:t>Strategic Recommendations &amp; Action Plan</a:t>
            </a:r>
            <a:endParaRPr lang="en-IN" dirty="0">
              <a:solidFill>
                <a:schemeClr val="tx2">
                  <a:lumMod val="50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457200" y="2204864"/>
            <a:ext cx="8229600" cy="3921299"/>
          </a:xfrm>
        </p:spPr>
        <p:txBody>
          <a:bodyPr>
            <a:normAutofit/>
          </a:bodyPr>
          <a:lstStyle/>
          <a:p>
            <a:r>
              <a:rPr lang="en-US" sz="2400" b="1" dirty="0" smtClean="0"/>
              <a:t>Infrastructure Improvements:</a:t>
            </a:r>
            <a:r>
              <a:rPr lang="en-US" sz="2400" dirty="0" smtClean="0"/>
              <a:t> A primary recommendation is to "Improve traffic flow" to reduce idling and peak-time emissions.</a:t>
            </a:r>
          </a:p>
          <a:p>
            <a:r>
              <a:rPr lang="en-US" sz="2400" b="1" dirty="0" smtClean="0"/>
              <a:t>Policy Shift:</a:t>
            </a:r>
            <a:r>
              <a:rPr lang="en-US" sz="2400" dirty="0" smtClean="0"/>
              <a:t> Transitioning toward cleaner energy through "EV promotion" is a critical suggested action.</a:t>
            </a:r>
          </a:p>
          <a:p>
            <a:r>
              <a:rPr lang="en-US" sz="2400" b="1" dirty="0" smtClean="0"/>
              <a:t>Targeted Mitigation:</a:t>
            </a:r>
            <a:r>
              <a:rPr lang="en-US" sz="2400" dirty="0" smtClean="0"/>
              <a:t> Reducing the impact of "Vehicle exhaust" should be the highest priority for local governing bodies.</a:t>
            </a:r>
          </a:p>
          <a:p>
            <a:endParaRPr lang="en-IN" dirty="0"/>
          </a:p>
        </p:txBody>
      </p:sp>
    </p:spTree>
    <p:extLst>
      <p:ext uri="{BB962C8B-B14F-4D97-AF65-F5344CB8AC3E}">
        <p14:creationId xmlns:p14="http://schemas.microsoft.com/office/powerpoint/2010/main" val="1592127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rmAutofit fontScale="90000"/>
          </a:bodyPr>
          <a:lstStyle/>
          <a:p>
            <a:r>
              <a:rPr lang="en-IN" dirty="0" smtClean="0">
                <a:solidFill>
                  <a:schemeClr val="tx2">
                    <a:lumMod val="50000"/>
                  </a:schemeClr>
                </a:solidFill>
                <a:effectLst>
                  <a:outerShdw blurRad="38100" dist="38100" dir="2700000" algn="tl">
                    <a:srgbClr val="000000">
                      <a:alpha val="43137"/>
                    </a:srgbClr>
                  </a:outerShdw>
                </a:effectLst>
              </a:rPr>
              <a:t>Strategic Conclusion &amp; Recommendations</a:t>
            </a:r>
            <a:endParaRPr lang="en-IN" dirty="0">
              <a:solidFill>
                <a:schemeClr val="tx2">
                  <a:lumMod val="50000"/>
                </a:schemeClr>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457200" y="2348880"/>
            <a:ext cx="8229600" cy="3777283"/>
          </a:xfrm>
        </p:spPr>
        <p:txBody>
          <a:bodyPr>
            <a:normAutofit/>
          </a:bodyPr>
          <a:lstStyle/>
          <a:p>
            <a:pPr marL="0" indent="0">
              <a:buNone/>
            </a:pPr>
            <a:r>
              <a:rPr lang="en-US" sz="2400" b="1" dirty="0" smtClean="0"/>
              <a:t>The </a:t>
            </a:r>
            <a:r>
              <a:rPr lang="en-US" sz="2400" b="1" dirty="0"/>
              <a:t>Data Verdict:</a:t>
            </a:r>
            <a:r>
              <a:rPr lang="en-US" sz="2400" dirty="0" smtClean="0"/>
              <a:t> Analysis of 2015–2023 trends confirms a national air quality crisis, with a </a:t>
            </a:r>
            <a:r>
              <a:rPr lang="en-US" sz="2400" b="1" dirty="0"/>
              <a:t>National Average AQI of 251.11</a:t>
            </a:r>
            <a:r>
              <a:rPr lang="en-US" sz="2400" dirty="0" smtClean="0"/>
              <a:t>. While a temporary decline was seen in 2020, pollution has rebounded to "Hazardous" levels, with </a:t>
            </a:r>
            <a:r>
              <a:rPr lang="en-US" sz="2400" b="1" dirty="0"/>
              <a:t>Delhi, Mumbai, and Kolkata</a:t>
            </a:r>
            <a:r>
              <a:rPr lang="en-US" sz="2400" dirty="0" smtClean="0"/>
              <a:t> emerging as the most affected hotspots for </a:t>
            </a:r>
            <a:r>
              <a:rPr lang="en-US" sz="2400" dirty="0"/>
              <a:t>$</a:t>
            </a:r>
            <a:r>
              <a:rPr lang="en-US" sz="2400" dirty="0" smtClean="0"/>
              <a:t>PM_2.5 and </a:t>
            </a:r>
            <a:r>
              <a:rPr lang="en-US" sz="2400" dirty="0"/>
              <a:t>$</a:t>
            </a:r>
            <a:r>
              <a:rPr lang="en-US" sz="2400" dirty="0" smtClean="0"/>
              <a:t>NO_2.</a:t>
            </a:r>
            <a:endParaRPr lang="en-IN" sz="2400" dirty="0"/>
          </a:p>
        </p:txBody>
      </p:sp>
    </p:spTree>
    <p:extLst>
      <p:ext uri="{BB962C8B-B14F-4D97-AF65-F5344CB8AC3E}">
        <p14:creationId xmlns:p14="http://schemas.microsoft.com/office/powerpoint/2010/main" val="1539103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style>
          <a:lnRef idx="1">
            <a:schemeClr val="accent3"/>
          </a:lnRef>
          <a:fillRef idx="3">
            <a:schemeClr val="accent3"/>
          </a:fillRef>
          <a:effectRef idx="2">
            <a:schemeClr val="accent3"/>
          </a:effectRef>
          <a:fontRef idx="minor">
            <a:schemeClr val="lt1"/>
          </a:fontRef>
        </p:style>
        <p:txBody>
          <a:bodyPr>
            <a:normAutofit fontScale="90000"/>
          </a:bodyPr>
          <a:lstStyle/>
          <a:p>
            <a:r>
              <a:rPr lang="en-US" b="1" dirty="0" smtClean="0">
                <a:solidFill>
                  <a:schemeClr val="tx2">
                    <a:lumMod val="50000"/>
                  </a:schemeClr>
                </a:solidFill>
                <a:effectLst>
                  <a:outerShdw blurRad="38100" dist="38100" dir="2700000" algn="tl">
                    <a:srgbClr val="000000">
                      <a:alpha val="43137"/>
                    </a:srgbClr>
                  </a:outerShdw>
                </a:effectLst>
              </a:rPr>
              <a:t/>
            </a:r>
            <a:br>
              <a:rPr lang="en-US" b="1" dirty="0" smtClean="0">
                <a:solidFill>
                  <a:schemeClr val="tx2">
                    <a:lumMod val="50000"/>
                  </a:schemeClr>
                </a:solidFill>
                <a:effectLst>
                  <a:outerShdw blurRad="38100" dist="38100" dir="2700000" algn="tl">
                    <a:srgbClr val="000000">
                      <a:alpha val="43137"/>
                    </a:srgbClr>
                  </a:outerShdw>
                </a:effectLst>
              </a:rPr>
            </a:br>
            <a:r>
              <a:rPr lang="en-US" b="1" dirty="0" smtClean="0">
                <a:solidFill>
                  <a:schemeClr val="tx2">
                    <a:lumMod val="50000"/>
                  </a:schemeClr>
                </a:solidFill>
                <a:effectLst>
                  <a:outerShdw blurRad="38100" dist="38100" dir="2700000" algn="tl">
                    <a:srgbClr val="000000">
                      <a:alpha val="43137"/>
                    </a:srgbClr>
                  </a:outerShdw>
                </a:effectLst>
              </a:rPr>
              <a:t>Key Recommendations:</a:t>
            </a:r>
            <a:r>
              <a:rPr lang="en-US" dirty="0" smtClean="0"/>
              <a:t/>
            </a:r>
            <a:br>
              <a:rPr lang="en-US" dirty="0" smtClean="0"/>
            </a:br>
            <a:endParaRPr lang="en-IN" dirty="0"/>
          </a:p>
        </p:txBody>
      </p:sp>
      <p:sp>
        <p:nvSpPr>
          <p:cNvPr id="4" name="Content Placeholder 3"/>
          <p:cNvSpPr>
            <a:spLocks noGrp="1"/>
          </p:cNvSpPr>
          <p:nvPr>
            <p:ph idx="1"/>
          </p:nvPr>
        </p:nvSpPr>
        <p:spPr/>
        <p:txBody>
          <a:bodyPr>
            <a:normAutofit fontScale="25000" lnSpcReduction="20000"/>
          </a:bodyPr>
          <a:lstStyle/>
          <a:p>
            <a:r>
              <a:rPr lang="en-US" sz="8000" b="1" dirty="0" smtClean="0"/>
              <a:t>Decarbonizing </a:t>
            </a:r>
            <a:r>
              <a:rPr lang="en-US" sz="8000" b="1" dirty="0"/>
              <a:t>Transport:</a:t>
            </a:r>
            <a:r>
              <a:rPr lang="en-US" sz="8000" dirty="0"/>
              <a:t> Prioritize the transition to </a:t>
            </a:r>
            <a:r>
              <a:rPr lang="en-US" sz="8000" b="1" dirty="0"/>
              <a:t>Electric Vehicles (EVs)</a:t>
            </a:r>
            <a:r>
              <a:rPr lang="en-US" sz="8000" dirty="0"/>
              <a:t> and improve traffic flow to mitigate "Morning Peaks" caused by vehicle exhaust, which the data identifies as a primary pollutant source.</a:t>
            </a:r>
          </a:p>
          <a:p>
            <a:r>
              <a:rPr lang="en-US" sz="8000" b="1" dirty="0"/>
              <a:t>Stricter Industrial Oversight:</a:t>
            </a:r>
            <a:r>
              <a:rPr lang="en-US" sz="8000" dirty="0"/>
              <a:t> Implement 24/7 real-time monitoring of $SO_2$ and $NO_2$ in industrial clusters to prevent cities from entering the "Severe" category.</a:t>
            </a:r>
          </a:p>
          <a:p>
            <a:r>
              <a:rPr lang="en-US" sz="8000" b="1" dirty="0"/>
              <a:t>Public Health Safeguards:</a:t>
            </a:r>
            <a:r>
              <a:rPr lang="en-US" sz="8000" dirty="0"/>
              <a:t> Use AQI data to trigger "Low-Activity Alerts" during peak hours to protect citizens from respiratory distress and reduced oxygen transport.</a:t>
            </a:r>
          </a:p>
          <a:p>
            <a:r>
              <a:rPr lang="en-US" sz="8000" b="1" dirty="0"/>
              <a:t>Infrastructure &amp; Policy:</a:t>
            </a:r>
            <a:r>
              <a:rPr lang="en-US" sz="8000" dirty="0"/>
              <a:t> Expand urban green belts to act as natural $PM_{10}$ filters and enforce cleaner fuel standards across all major metropolitan hubs.</a:t>
            </a:r>
          </a:p>
          <a:p>
            <a:r>
              <a:rPr lang="en-US" sz="8000" b="1" dirty="0"/>
              <a:t>Final Insight:</a:t>
            </a:r>
            <a:r>
              <a:rPr lang="en-US" sz="8000" dirty="0"/>
              <a:t> Data-driven monitoring is the first step toward clean air. By targeting the specific "Morning Peaks" and urban hotspots identified in this dashboard, we can move from reactive healthcare to proactive environmental management.</a:t>
            </a:r>
          </a:p>
          <a:p>
            <a:endParaRPr lang="en-IN" dirty="0"/>
          </a:p>
        </p:txBody>
      </p:sp>
    </p:spTree>
    <p:extLst>
      <p:ext uri="{BB962C8B-B14F-4D97-AF65-F5344CB8AC3E}">
        <p14:creationId xmlns:p14="http://schemas.microsoft.com/office/powerpoint/2010/main" val="32079820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80</TotalTime>
  <Words>729</Words>
  <Application>Microsoft Office PowerPoint</Application>
  <PresentationFormat>On-screen Show (4:3)</PresentationFormat>
  <Paragraphs>48</Paragraphs>
  <Slides>10</Slides>
  <Notes>0</Notes>
  <HiddenSlides>0</HiddenSlides>
  <MMClips>0</MMClips>
  <ScaleCrop>false</ScaleCrop>
  <HeadingPairs>
    <vt:vector size="4" baseType="variant">
      <vt:variant>
        <vt:lpstr>Theme</vt:lpstr>
      </vt:variant>
      <vt:variant>
        <vt:i4>1</vt:i4>
      </vt:variant>
      <vt:variant>
        <vt:lpstr>Slide Titles</vt:lpstr>
      </vt:variant>
      <vt:variant>
        <vt:i4>10</vt:i4>
      </vt:variant>
    </vt:vector>
  </HeadingPairs>
  <TitlesOfParts>
    <vt:vector size="11" baseType="lpstr">
      <vt:lpstr>Office Theme</vt:lpstr>
      <vt:lpstr>The Air We Breathe: A National Analysis of India’s Air Pollution Crisis</vt:lpstr>
      <vt:lpstr>Project Overview &amp; Executive Summary</vt:lpstr>
      <vt:lpstr>Pollutant Breakdown &amp; Health Risk Categories</vt:lpstr>
      <vt:lpstr>Geographic Hotspots (Top 3 Polluted Cities/States)</vt:lpstr>
      <vt:lpstr>Conclusion &amp; Recommendations</vt:lpstr>
      <vt:lpstr>Air Pollution: Root Causes and Observations</vt:lpstr>
      <vt:lpstr>Impact Assessment (The Human Cost)</vt:lpstr>
      <vt:lpstr>Strategic Recommendations &amp; Action Plan</vt:lpstr>
      <vt:lpstr>Strategic Conclusion &amp; Recommendations</vt:lpstr>
      <vt:lpstr> Key Recommendations: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Air We Breathe: A National Analysis of India’s Air Pollution Crisis</dc:title>
  <dc:creator>User</dc:creator>
  <cp:lastModifiedBy>User</cp:lastModifiedBy>
  <cp:revision>26</cp:revision>
  <dcterms:created xsi:type="dcterms:W3CDTF">2026-01-10T11:27:32Z</dcterms:created>
  <dcterms:modified xsi:type="dcterms:W3CDTF">2026-01-10T12:47:38Z</dcterms:modified>
</cp:coreProperties>
</file>