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70" r:id="rId6"/>
    <p:sldId id="271" r:id="rId7"/>
    <p:sldId id="273" r:id="rId8"/>
    <p:sldId id="257" r:id="rId9"/>
    <p:sldId id="272" r:id="rId10"/>
    <p:sldId id="258" r:id="rId11"/>
    <p:sldId id="275" r:id="rId12"/>
    <p:sldId id="274" r:id="rId13"/>
    <p:sldId id="259" r:id="rId14"/>
    <p:sldId id="260" r:id="rId15"/>
    <p:sldId id="276" r:id="rId16"/>
    <p:sldId id="261" r:id="rId17"/>
    <p:sldId id="265" r:id="rId18"/>
    <p:sldId id="277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FD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056841-B690-4B55-8029-4A2C118381A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AABA833-8C1D-4B20-B795-044BD79E16FF}">
      <dgm:prSet/>
      <dgm:spPr>
        <a:solidFill>
          <a:srgbClr val="0FFD9D"/>
        </a:solidFill>
      </dgm:spPr>
      <dgm:t>
        <a:bodyPr/>
        <a:lstStyle/>
        <a:p>
          <a:pPr rtl="0"/>
          <a:r>
            <a:rPr lang="en-US" dirty="0" smtClean="0">
              <a:solidFill>
                <a:srgbClr val="002060"/>
              </a:solidFill>
            </a:rPr>
            <a:t>Air pollution levels in major Indian cities remain high despite control measures.</a:t>
          </a:r>
          <a:br>
            <a:rPr lang="en-US" dirty="0" smtClean="0">
              <a:solidFill>
                <a:srgbClr val="002060"/>
              </a:solidFill>
            </a:rPr>
          </a:br>
          <a:r>
            <a:rPr lang="en-US" dirty="0" smtClean="0">
              <a:solidFill>
                <a:srgbClr val="002060"/>
              </a:solidFill>
            </a:rPr>
            <a:t>There is limited clarity on how pollution changes over time across cities.</a:t>
          </a:r>
          <a:br>
            <a:rPr lang="en-US" dirty="0" smtClean="0">
              <a:solidFill>
                <a:srgbClr val="002060"/>
              </a:solidFill>
            </a:rPr>
          </a:br>
          <a:r>
            <a:rPr lang="en-US" dirty="0" smtClean="0">
              <a:solidFill>
                <a:srgbClr val="002060"/>
              </a:solidFill>
            </a:rPr>
            <a:t>This project uses Power BI to analyze city-wise air quality trends and identify problem areas</a:t>
          </a:r>
          <a:r>
            <a:rPr lang="en-US" dirty="0" smtClean="0"/>
            <a:t>.</a:t>
          </a:r>
          <a:endParaRPr lang="en-IN" dirty="0"/>
        </a:p>
      </dgm:t>
    </dgm:pt>
    <dgm:pt modelId="{1CF9F39D-4909-4D5F-BAA2-F2B4A8C0CA1F}" type="parTrans" cxnId="{DAA77622-1548-4C7C-A4DC-80015FD5E867}">
      <dgm:prSet/>
      <dgm:spPr/>
      <dgm:t>
        <a:bodyPr/>
        <a:lstStyle/>
        <a:p>
          <a:endParaRPr lang="en-IN"/>
        </a:p>
      </dgm:t>
    </dgm:pt>
    <dgm:pt modelId="{C6B8A93D-205D-482B-AF66-F98F5DFE5121}" type="sibTrans" cxnId="{DAA77622-1548-4C7C-A4DC-80015FD5E867}">
      <dgm:prSet/>
      <dgm:spPr/>
      <dgm:t>
        <a:bodyPr/>
        <a:lstStyle/>
        <a:p>
          <a:endParaRPr lang="en-IN"/>
        </a:p>
      </dgm:t>
    </dgm:pt>
    <dgm:pt modelId="{3B4D83EA-6E1F-4ED0-BE06-EF7B3CF83DDC}" type="pres">
      <dgm:prSet presAssocID="{85056841-B690-4B55-8029-4A2C118381AF}" presName="linearFlow" presStyleCnt="0">
        <dgm:presLayoutVars>
          <dgm:dir/>
          <dgm:resizeHandles val="exact"/>
        </dgm:presLayoutVars>
      </dgm:prSet>
      <dgm:spPr/>
    </dgm:pt>
    <dgm:pt modelId="{F1BC964A-E338-4DD5-BE45-3EF6086AAE71}" type="pres">
      <dgm:prSet presAssocID="{2AABA833-8C1D-4B20-B795-044BD79E16FF}" presName="composite" presStyleCnt="0"/>
      <dgm:spPr/>
    </dgm:pt>
    <dgm:pt modelId="{8E71572D-7DEF-45C9-BA72-F23843B7E867}" type="pres">
      <dgm:prSet presAssocID="{2AABA833-8C1D-4B20-B795-044BD79E16FF}" presName="imgShp" presStyleLbl="fgImgPlace1" presStyleIdx="0" presStyleCnt="1" custLinFactNeighborX="-2984" custLinFactNeighborY="-152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738FDD47-9C76-467E-A131-A698CA5DF4AD}" type="pres">
      <dgm:prSet presAssocID="{2AABA833-8C1D-4B20-B795-044BD79E16FF}" presName="txShp" presStyleLbl="node1" presStyleIdx="0" presStyleCnt="1" custScaleX="127818">
        <dgm:presLayoutVars>
          <dgm:bulletEnabled val="1"/>
        </dgm:presLayoutVars>
      </dgm:prSet>
      <dgm:spPr/>
    </dgm:pt>
  </dgm:ptLst>
  <dgm:cxnLst>
    <dgm:cxn modelId="{DAA77622-1548-4C7C-A4DC-80015FD5E867}" srcId="{85056841-B690-4B55-8029-4A2C118381AF}" destId="{2AABA833-8C1D-4B20-B795-044BD79E16FF}" srcOrd="0" destOrd="0" parTransId="{1CF9F39D-4909-4D5F-BAA2-F2B4A8C0CA1F}" sibTransId="{C6B8A93D-205D-482B-AF66-F98F5DFE5121}"/>
    <dgm:cxn modelId="{B945F008-F669-4677-BE0E-69AC3D10286B}" type="presOf" srcId="{85056841-B690-4B55-8029-4A2C118381AF}" destId="{3B4D83EA-6E1F-4ED0-BE06-EF7B3CF83DDC}" srcOrd="0" destOrd="0" presId="urn:microsoft.com/office/officeart/2005/8/layout/vList3"/>
    <dgm:cxn modelId="{3D1AE473-BA14-457B-9A8B-6D57B314F96B}" type="presOf" srcId="{2AABA833-8C1D-4B20-B795-044BD79E16FF}" destId="{738FDD47-9C76-467E-A131-A698CA5DF4AD}" srcOrd="0" destOrd="0" presId="urn:microsoft.com/office/officeart/2005/8/layout/vList3"/>
    <dgm:cxn modelId="{2A1D393F-05A4-4104-922C-5B19B812E1A8}" type="presParOf" srcId="{3B4D83EA-6E1F-4ED0-BE06-EF7B3CF83DDC}" destId="{F1BC964A-E338-4DD5-BE45-3EF6086AAE71}" srcOrd="0" destOrd="0" presId="urn:microsoft.com/office/officeart/2005/8/layout/vList3"/>
    <dgm:cxn modelId="{328EE145-8ECC-4D7B-A621-BC7AFDCE94FB}" type="presParOf" srcId="{F1BC964A-E338-4DD5-BE45-3EF6086AAE71}" destId="{8E71572D-7DEF-45C9-BA72-F23843B7E867}" srcOrd="0" destOrd="0" presId="urn:microsoft.com/office/officeart/2005/8/layout/vList3"/>
    <dgm:cxn modelId="{9010E711-AE8C-4EDD-A6F6-C42C62309706}" type="presParOf" srcId="{F1BC964A-E338-4DD5-BE45-3EF6086AAE71}" destId="{738FDD47-9C76-467E-A131-A698CA5DF4A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D68AAC-6D80-4CB3-959C-475CED57C45C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7266DDA-B0CA-475F-9EE5-A043DCDACF5F}">
      <dgm:prSet phldrT="[Text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 smtClean="0"/>
            <a:t>Dataset</a:t>
          </a:r>
          <a:endParaRPr lang="en-IN" dirty="0"/>
        </a:p>
      </dgm:t>
    </dgm:pt>
    <dgm:pt modelId="{397D5849-E1E2-445C-B52E-5747CAD154C1}" type="parTrans" cxnId="{4163B31F-CE9A-4E99-A876-7B1D5BDF833C}">
      <dgm:prSet/>
      <dgm:spPr/>
      <dgm:t>
        <a:bodyPr/>
        <a:lstStyle/>
        <a:p>
          <a:endParaRPr lang="en-IN"/>
        </a:p>
      </dgm:t>
    </dgm:pt>
    <dgm:pt modelId="{1D8B3E0F-1EF9-4857-A1DE-4BD7A942D628}" type="sibTrans" cxnId="{4163B31F-CE9A-4E99-A876-7B1D5BDF833C}">
      <dgm:prSet/>
      <dgm:spPr/>
      <dgm:t>
        <a:bodyPr/>
        <a:lstStyle/>
        <a:p>
          <a:endParaRPr lang="en-IN"/>
        </a:p>
      </dgm:t>
    </dgm:pt>
    <dgm:pt modelId="{3F4B496D-278F-4BDF-9ED5-04E0F556C60A}">
      <dgm:prSet phldrT="[Text]" custT="1"/>
      <dgm:spPr/>
      <dgm:t>
        <a:bodyPr/>
        <a:lstStyle/>
        <a:p>
          <a:r>
            <a:rPr lang="en-US" sz="1800" dirty="0" smtClean="0"/>
            <a:t>Extracting dataset from excel, where I have major Indian cities, many pollutant, day field, to show changes in air pollution over time</a:t>
          </a:r>
          <a:endParaRPr lang="en-IN" sz="1800" dirty="0"/>
        </a:p>
      </dgm:t>
    </dgm:pt>
    <dgm:pt modelId="{178009E9-2F96-4C21-A0C3-D9840C15D4EF}" type="parTrans" cxnId="{DB419CBB-0F33-4672-AF93-113C37CBF5D4}">
      <dgm:prSet/>
      <dgm:spPr/>
      <dgm:t>
        <a:bodyPr/>
        <a:lstStyle/>
        <a:p>
          <a:endParaRPr lang="en-IN"/>
        </a:p>
      </dgm:t>
    </dgm:pt>
    <dgm:pt modelId="{00E8C6ED-DC22-4FFC-A8EA-79AA657ACD00}" type="sibTrans" cxnId="{DB419CBB-0F33-4672-AF93-113C37CBF5D4}">
      <dgm:prSet/>
      <dgm:spPr/>
      <dgm:t>
        <a:bodyPr/>
        <a:lstStyle/>
        <a:p>
          <a:endParaRPr lang="en-IN"/>
        </a:p>
      </dgm:t>
    </dgm:pt>
    <dgm:pt modelId="{66934046-E3E3-4FF7-B7C3-49087EDFCCFC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 smtClean="0"/>
            <a:t>Cleaning</a:t>
          </a:r>
          <a:endParaRPr lang="en-IN" dirty="0"/>
        </a:p>
      </dgm:t>
    </dgm:pt>
    <dgm:pt modelId="{D3257D70-9FF5-44FC-98B3-06B82F43BB41}" type="parTrans" cxnId="{915A17CC-5BA6-448F-9294-5F5730EF9B36}">
      <dgm:prSet/>
      <dgm:spPr/>
      <dgm:t>
        <a:bodyPr/>
        <a:lstStyle/>
        <a:p>
          <a:endParaRPr lang="en-IN"/>
        </a:p>
      </dgm:t>
    </dgm:pt>
    <dgm:pt modelId="{72948C43-838C-445E-88A6-CD86381D33D7}" type="sibTrans" cxnId="{915A17CC-5BA6-448F-9294-5F5730EF9B36}">
      <dgm:prSet/>
      <dgm:spPr/>
      <dgm:t>
        <a:bodyPr/>
        <a:lstStyle/>
        <a:p>
          <a:endParaRPr lang="en-IN"/>
        </a:p>
      </dgm:t>
    </dgm:pt>
    <dgm:pt modelId="{AE84DFC5-222F-401B-8F3E-CDB81A666790}">
      <dgm:prSet phldrT="[Text]" custT="1"/>
      <dgm:spPr/>
      <dgm:t>
        <a:bodyPr/>
        <a:lstStyle/>
        <a:p>
          <a:r>
            <a:rPr lang="en-US" sz="1800" dirty="0" smtClean="0"/>
            <a:t>Unnecessary column was removed, and by checking all data was proper</a:t>
          </a:r>
          <a:endParaRPr lang="en-IN" sz="1800" dirty="0"/>
        </a:p>
      </dgm:t>
    </dgm:pt>
    <dgm:pt modelId="{A64E8201-504E-435F-B174-6B5E960D9226}" type="parTrans" cxnId="{FBE0A86C-E569-4343-A937-5B07764A69C8}">
      <dgm:prSet/>
      <dgm:spPr/>
      <dgm:t>
        <a:bodyPr/>
        <a:lstStyle/>
        <a:p>
          <a:endParaRPr lang="en-IN"/>
        </a:p>
      </dgm:t>
    </dgm:pt>
    <dgm:pt modelId="{FBF638D9-E8D1-4234-960F-F5ED6AA062BB}" type="sibTrans" cxnId="{FBE0A86C-E569-4343-A937-5B07764A69C8}">
      <dgm:prSet/>
      <dgm:spPr/>
      <dgm:t>
        <a:bodyPr/>
        <a:lstStyle/>
        <a:p>
          <a:endParaRPr lang="en-IN"/>
        </a:p>
      </dgm:t>
    </dgm:pt>
    <dgm:pt modelId="{41C9611C-B878-4545-B53C-F5BB3ED6CD48}">
      <dgm:prSet phldrT="[Text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Technology</a:t>
          </a:r>
          <a:endParaRPr lang="en-IN" dirty="0"/>
        </a:p>
      </dgm:t>
    </dgm:pt>
    <dgm:pt modelId="{180C5721-563C-4B2A-85F4-B0DBC8E3D379}" type="parTrans" cxnId="{B06534A8-7065-4CA3-9E51-B98EAE367747}">
      <dgm:prSet/>
      <dgm:spPr/>
      <dgm:t>
        <a:bodyPr/>
        <a:lstStyle/>
        <a:p>
          <a:endParaRPr lang="en-IN"/>
        </a:p>
      </dgm:t>
    </dgm:pt>
    <dgm:pt modelId="{2F0AC429-891C-44EB-A442-B0DB74131930}" type="sibTrans" cxnId="{B06534A8-7065-4CA3-9E51-B98EAE367747}">
      <dgm:prSet/>
      <dgm:spPr/>
      <dgm:t>
        <a:bodyPr/>
        <a:lstStyle/>
        <a:p>
          <a:endParaRPr lang="en-IN"/>
        </a:p>
      </dgm:t>
    </dgm:pt>
    <dgm:pt modelId="{2CA722B5-A20C-49B2-B9EE-20BD11C3769B}">
      <dgm:prSet phldrT="[Text]" custT="1"/>
      <dgm:spPr/>
      <dgm:t>
        <a:bodyPr/>
        <a:lstStyle/>
        <a:p>
          <a:r>
            <a:rPr lang="en-US" sz="1800" dirty="0" smtClean="0"/>
            <a:t>MS EXCEL, POWERBI, MS POWERPOINT</a:t>
          </a:r>
          <a:endParaRPr lang="en-IN" sz="1800" dirty="0"/>
        </a:p>
      </dgm:t>
    </dgm:pt>
    <dgm:pt modelId="{FFAF1B16-2825-4250-945B-9F760577AA8D}" type="parTrans" cxnId="{80064346-5B76-4574-9A18-95917EB36A61}">
      <dgm:prSet/>
      <dgm:spPr/>
      <dgm:t>
        <a:bodyPr/>
        <a:lstStyle/>
        <a:p>
          <a:endParaRPr lang="en-IN"/>
        </a:p>
      </dgm:t>
    </dgm:pt>
    <dgm:pt modelId="{87A46420-A9B1-40D0-B6D7-1B5D27E47304}" type="sibTrans" cxnId="{80064346-5B76-4574-9A18-95917EB36A61}">
      <dgm:prSet/>
      <dgm:spPr/>
      <dgm:t>
        <a:bodyPr/>
        <a:lstStyle/>
        <a:p>
          <a:endParaRPr lang="en-IN"/>
        </a:p>
      </dgm:t>
    </dgm:pt>
    <dgm:pt modelId="{ADEA5D65-9E54-4158-9915-D781C9DD864F}" type="pres">
      <dgm:prSet presAssocID="{C1D68AAC-6D80-4CB3-959C-475CED57C45C}" presName="linearFlow" presStyleCnt="0">
        <dgm:presLayoutVars>
          <dgm:dir/>
          <dgm:animLvl val="lvl"/>
          <dgm:resizeHandles val="exact"/>
        </dgm:presLayoutVars>
      </dgm:prSet>
      <dgm:spPr/>
    </dgm:pt>
    <dgm:pt modelId="{E2106AE8-D76B-40E7-9DE9-37B5AB1D0398}" type="pres">
      <dgm:prSet presAssocID="{57266DDA-B0CA-475F-9EE5-A043DCDACF5F}" presName="composite" presStyleCnt="0"/>
      <dgm:spPr/>
    </dgm:pt>
    <dgm:pt modelId="{278C25D7-8DB3-434D-867F-B875CCE622A2}" type="pres">
      <dgm:prSet presAssocID="{57266DDA-B0CA-475F-9EE5-A043DCDACF5F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1284267-8B4B-4FC2-9B95-22E61C62B9B1}" type="pres">
      <dgm:prSet presAssocID="{57266DDA-B0CA-475F-9EE5-A043DCDACF5F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D3C86E1-589A-4A64-9B7D-AFA809A96B97}" type="pres">
      <dgm:prSet presAssocID="{1D8B3E0F-1EF9-4857-A1DE-4BD7A942D628}" presName="sp" presStyleCnt="0"/>
      <dgm:spPr/>
    </dgm:pt>
    <dgm:pt modelId="{F45AB65C-4984-421C-8252-082A719ABB53}" type="pres">
      <dgm:prSet presAssocID="{66934046-E3E3-4FF7-B7C3-49087EDFCCFC}" presName="composite" presStyleCnt="0"/>
      <dgm:spPr/>
    </dgm:pt>
    <dgm:pt modelId="{4AC47D4D-09FF-49B4-B920-5B734EE54468}" type="pres">
      <dgm:prSet presAssocID="{66934046-E3E3-4FF7-B7C3-49087EDFCCFC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A0B230D-E712-437D-98D4-2D3B6C50235F}" type="pres">
      <dgm:prSet presAssocID="{66934046-E3E3-4FF7-B7C3-49087EDFCCFC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E9469FD-927F-4D23-A18A-9DAEDDDA4E08}" type="pres">
      <dgm:prSet presAssocID="{72948C43-838C-445E-88A6-CD86381D33D7}" presName="sp" presStyleCnt="0"/>
      <dgm:spPr/>
    </dgm:pt>
    <dgm:pt modelId="{6CFDF9F9-E927-48B5-A802-AC1D1787AFC6}" type="pres">
      <dgm:prSet presAssocID="{41C9611C-B878-4545-B53C-F5BB3ED6CD48}" presName="composite" presStyleCnt="0"/>
      <dgm:spPr/>
    </dgm:pt>
    <dgm:pt modelId="{F1D378ED-3878-43E8-95AC-1BD49904D5FA}" type="pres">
      <dgm:prSet presAssocID="{41C9611C-B878-4545-B53C-F5BB3ED6CD48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137DBBE-9909-4FAC-A6F1-14581A9801DE}" type="pres">
      <dgm:prSet presAssocID="{41C9611C-B878-4545-B53C-F5BB3ED6CD48}" presName="descendantText" presStyleLbl="alignAcc1" presStyleIdx="2" presStyleCnt="3" custLinFactNeighborX="87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019E54BE-5D71-48A2-B45E-AC6CC70C868C}" type="presOf" srcId="{3F4B496D-278F-4BDF-9ED5-04E0F556C60A}" destId="{81284267-8B4B-4FC2-9B95-22E61C62B9B1}" srcOrd="0" destOrd="0" presId="urn:microsoft.com/office/officeart/2005/8/layout/chevron2"/>
    <dgm:cxn modelId="{915A17CC-5BA6-448F-9294-5F5730EF9B36}" srcId="{C1D68AAC-6D80-4CB3-959C-475CED57C45C}" destId="{66934046-E3E3-4FF7-B7C3-49087EDFCCFC}" srcOrd="1" destOrd="0" parTransId="{D3257D70-9FF5-44FC-98B3-06B82F43BB41}" sibTransId="{72948C43-838C-445E-88A6-CD86381D33D7}"/>
    <dgm:cxn modelId="{AA561BD7-F136-4A72-AD70-461A1354790E}" type="presOf" srcId="{41C9611C-B878-4545-B53C-F5BB3ED6CD48}" destId="{F1D378ED-3878-43E8-95AC-1BD49904D5FA}" srcOrd="0" destOrd="0" presId="urn:microsoft.com/office/officeart/2005/8/layout/chevron2"/>
    <dgm:cxn modelId="{B06534A8-7065-4CA3-9E51-B98EAE367747}" srcId="{C1D68AAC-6D80-4CB3-959C-475CED57C45C}" destId="{41C9611C-B878-4545-B53C-F5BB3ED6CD48}" srcOrd="2" destOrd="0" parTransId="{180C5721-563C-4B2A-85F4-B0DBC8E3D379}" sibTransId="{2F0AC429-891C-44EB-A442-B0DB74131930}"/>
    <dgm:cxn modelId="{80064346-5B76-4574-9A18-95917EB36A61}" srcId="{41C9611C-B878-4545-B53C-F5BB3ED6CD48}" destId="{2CA722B5-A20C-49B2-B9EE-20BD11C3769B}" srcOrd="0" destOrd="0" parTransId="{FFAF1B16-2825-4250-945B-9F760577AA8D}" sibTransId="{87A46420-A9B1-40D0-B6D7-1B5D27E47304}"/>
    <dgm:cxn modelId="{DB419CBB-0F33-4672-AF93-113C37CBF5D4}" srcId="{57266DDA-B0CA-475F-9EE5-A043DCDACF5F}" destId="{3F4B496D-278F-4BDF-9ED5-04E0F556C60A}" srcOrd="0" destOrd="0" parTransId="{178009E9-2F96-4C21-A0C3-D9840C15D4EF}" sibTransId="{00E8C6ED-DC22-4FFC-A8EA-79AA657ACD00}"/>
    <dgm:cxn modelId="{4163B31F-CE9A-4E99-A876-7B1D5BDF833C}" srcId="{C1D68AAC-6D80-4CB3-959C-475CED57C45C}" destId="{57266DDA-B0CA-475F-9EE5-A043DCDACF5F}" srcOrd="0" destOrd="0" parTransId="{397D5849-E1E2-445C-B52E-5747CAD154C1}" sibTransId="{1D8B3E0F-1EF9-4857-A1DE-4BD7A942D628}"/>
    <dgm:cxn modelId="{8326BCB1-305A-484A-A519-07449CD4DA9C}" type="presOf" srcId="{AE84DFC5-222F-401B-8F3E-CDB81A666790}" destId="{4A0B230D-E712-437D-98D4-2D3B6C50235F}" srcOrd="0" destOrd="0" presId="urn:microsoft.com/office/officeart/2005/8/layout/chevron2"/>
    <dgm:cxn modelId="{C0ADBED7-0239-408C-9BE1-3CBC62E1BDDB}" type="presOf" srcId="{2CA722B5-A20C-49B2-B9EE-20BD11C3769B}" destId="{7137DBBE-9909-4FAC-A6F1-14581A9801DE}" srcOrd="0" destOrd="0" presId="urn:microsoft.com/office/officeart/2005/8/layout/chevron2"/>
    <dgm:cxn modelId="{20FAB1EC-CECD-4366-86F4-DCEEEE6130D2}" type="presOf" srcId="{C1D68AAC-6D80-4CB3-959C-475CED57C45C}" destId="{ADEA5D65-9E54-4158-9915-D781C9DD864F}" srcOrd="0" destOrd="0" presId="urn:microsoft.com/office/officeart/2005/8/layout/chevron2"/>
    <dgm:cxn modelId="{C8A5AEC3-4A3B-49A3-AC1F-2529783973ED}" type="presOf" srcId="{66934046-E3E3-4FF7-B7C3-49087EDFCCFC}" destId="{4AC47D4D-09FF-49B4-B920-5B734EE54468}" srcOrd="0" destOrd="0" presId="urn:microsoft.com/office/officeart/2005/8/layout/chevron2"/>
    <dgm:cxn modelId="{94ADE01B-985C-4753-B8EC-6889AB5BC7B9}" type="presOf" srcId="{57266DDA-B0CA-475F-9EE5-A043DCDACF5F}" destId="{278C25D7-8DB3-434D-867F-B875CCE622A2}" srcOrd="0" destOrd="0" presId="urn:microsoft.com/office/officeart/2005/8/layout/chevron2"/>
    <dgm:cxn modelId="{FBE0A86C-E569-4343-A937-5B07764A69C8}" srcId="{66934046-E3E3-4FF7-B7C3-49087EDFCCFC}" destId="{AE84DFC5-222F-401B-8F3E-CDB81A666790}" srcOrd="0" destOrd="0" parTransId="{A64E8201-504E-435F-B174-6B5E960D9226}" sibTransId="{FBF638D9-E8D1-4234-960F-F5ED6AA062BB}"/>
    <dgm:cxn modelId="{98F45F7C-E4B8-4433-B5C6-3EE11AA2BDA5}" type="presParOf" srcId="{ADEA5D65-9E54-4158-9915-D781C9DD864F}" destId="{E2106AE8-D76B-40E7-9DE9-37B5AB1D0398}" srcOrd="0" destOrd="0" presId="urn:microsoft.com/office/officeart/2005/8/layout/chevron2"/>
    <dgm:cxn modelId="{8AEEF057-B4C8-4ECC-9936-ECC612F82DCB}" type="presParOf" srcId="{E2106AE8-D76B-40E7-9DE9-37B5AB1D0398}" destId="{278C25D7-8DB3-434D-867F-B875CCE622A2}" srcOrd="0" destOrd="0" presId="urn:microsoft.com/office/officeart/2005/8/layout/chevron2"/>
    <dgm:cxn modelId="{3F1700C1-6550-4B21-B5F0-C5DB198F398E}" type="presParOf" srcId="{E2106AE8-D76B-40E7-9DE9-37B5AB1D0398}" destId="{81284267-8B4B-4FC2-9B95-22E61C62B9B1}" srcOrd="1" destOrd="0" presId="urn:microsoft.com/office/officeart/2005/8/layout/chevron2"/>
    <dgm:cxn modelId="{7F5EDBE8-FAB3-4180-976E-AA7359197C43}" type="presParOf" srcId="{ADEA5D65-9E54-4158-9915-D781C9DD864F}" destId="{2D3C86E1-589A-4A64-9B7D-AFA809A96B97}" srcOrd="1" destOrd="0" presId="urn:microsoft.com/office/officeart/2005/8/layout/chevron2"/>
    <dgm:cxn modelId="{CD3CB47F-9EC4-4551-ADDE-55E127B6FD8A}" type="presParOf" srcId="{ADEA5D65-9E54-4158-9915-D781C9DD864F}" destId="{F45AB65C-4984-421C-8252-082A719ABB53}" srcOrd="2" destOrd="0" presId="urn:microsoft.com/office/officeart/2005/8/layout/chevron2"/>
    <dgm:cxn modelId="{496C4B70-587C-48BE-B956-EE80298CB087}" type="presParOf" srcId="{F45AB65C-4984-421C-8252-082A719ABB53}" destId="{4AC47D4D-09FF-49B4-B920-5B734EE54468}" srcOrd="0" destOrd="0" presId="urn:microsoft.com/office/officeart/2005/8/layout/chevron2"/>
    <dgm:cxn modelId="{ABBC1089-8A38-4AFF-876C-8341F882D243}" type="presParOf" srcId="{F45AB65C-4984-421C-8252-082A719ABB53}" destId="{4A0B230D-E712-437D-98D4-2D3B6C50235F}" srcOrd="1" destOrd="0" presId="urn:microsoft.com/office/officeart/2005/8/layout/chevron2"/>
    <dgm:cxn modelId="{08410026-BD92-4C3E-9B23-EFB76A6054FB}" type="presParOf" srcId="{ADEA5D65-9E54-4158-9915-D781C9DD864F}" destId="{9E9469FD-927F-4D23-A18A-9DAEDDDA4E08}" srcOrd="3" destOrd="0" presId="urn:microsoft.com/office/officeart/2005/8/layout/chevron2"/>
    <dgm:cxn modelId="{65E60C77-EDEA-4B4E-93C9-F093CB1E6C2B}" type="presParOf" srcId="{ADEA5D65-9E54-4158-9915-D781C9DD864F}" destId="{6CFDF9F9-E927-48B5-A802-AC1D1787AFC6}" srcOrd="4" destOrd="0" presId="urn:microsoft.com/office/officeart/2005/8/layout/chevron2"/>
    <dgm:cxn modelId="{09FCD83F-D319-452B-9A3F-DE7CE75B4BC6}" type="presParOf" srcId="{6CFDF9F9-E927-48B5-A802-AC1D1787AFC6}" destId="{F1D378ED-3878-43E8-95AC-1BD49904D5FA}" srcOrd="0" destOrd="0" presId="urn:microsoft.com/office/officeart/2005/8/layout/chevron2"/>
    <dgm:cxn modelId="{5CEA808F-A9BD-43B8-8ABE-F274B4B49975}" type="presParOf" srcId="{6CFDF9F9-E927-48B5-A802-AC1D1787AFC6}" destId="{7137DBBE-9909-4FAC-A6F1-14581A9801D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984FE0-C194-4C68-9F6E-F7ED97F7EE48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628512C2-D37B-4E97-98C6-751D9E9E3D4E}">
      <dgm:prSet/>
      <dgm:spPr/>
      <dgm:t>
        <a:bodyPr/>
        <a:lstStyle/>
        <a:p>
          <a:pPr rtl="0"/>
          <a:r>
            <a:rPr lang="en-US" b="1" dirty="0" smtClean="0"/>
            <a:t>Objective:</a:t>
          </a:r>
          <a:r>
            <a:rPr lang="en-US" dirty="0" smtClean="0"/>
            <a:t> To analyze the severity of air pollution across major Indian cities using key indicators like AQI, PM2.5, NO2, and CO.</a:t>
          </a:r>
          <a:endParaRPr lang="en-IN" dirty="0"/>
        </a:p>
      </dgm:t>
    </dgm:pt>
    <dgm:pt modelId="{A29B11B7-4397-40BB-B066-B1EAA3CC3867}" type="parTrans" cxnId="{58DEF5F6-01EE-4907-A780-4647462BA1EC}">
      <dgm:prSet/>
      <dgm:spPr/>
      <dgm:t>
        <a:bodyPr/>
        <a:lstStyle/>
        <a:p>
          <a:endParaRPr lang="en-IN"/>
        </a:p>
      </dgm:t>
    </dgm:pt>
    <dgm:pt modelId="{A675D5F0-DF32-43F4-9B9A-25F831B7A5CF}" type="sibTrans" cxnId="{58DEF5F6-01EE-4907-A780-4647462BA1EC}">
      <dgm:prSet/>
      <dgm:spPr/>
      <dgm:t>
        <a:bodyPr/>
        <a:lstStyle/>
        <a:p>
          <a:endParaRPr lang="en-IN"/>
        </a:p>
      </dgm:t>
    </dgm:pt>
    <dgm:pt modelId="{3DAA2F32-50BD-4BF6-A788-A236B9FD5FC9}">
      <dgm:prSet custT="1"/>
      <dgm:spPr/>
      <dgm:t>
        <a:bodyPr/>
        <a:lstStyle/>
        <a:p>
          <a:pPr rtl="0"/>
          <a:r>
            <a:rPr lang="en-US" sz="1800" b="1" dirty="0" smtClean="0"/>
            <a:t>Key High-Level Metrics:</a:t>
          </a:r>
          <a:endParaRPr lang="en-IN" sz="1800" dirty="0"/>
        </a:p>
      </dgm:t>
    </dgm:pt>
    <dgm:pt modelId="{A47F2A19-FD8D-44CD-A09F-CB99FCBC4F42}" type="parTrans" cxnId="{50DB8F0D-3057-4012-BB32-EB5BBF2721FB}">
      <dgm:prSet/>
      <dgm:spPr/>
      <dgm:t>
        <a:bodyPr/>
        <a:lstStyle/>
        <a:p>
          <a:endParaRPr lang="en-IN"/>
        </a:p>
      </dgm:t>
    </dgm:pt>
    <dgm:pt modelId="{E330911A-4FFB-4707-BA2B-06AF8E4610BF}" type="sibTrans" cxnId="{50DB8F0D-3057-4012-BB32-EB5BBF2721FB}">
      <dgm:prSet/>
      <dgm:spPr/>
      <dgm:t>
        <a:bodyPr/>
        <a:lstStyle/>
        <a:p>
          <a:endParaRPr lang="en-IN"/>
        </a:p>
      </dgm:t>
    </dgm:pt>
    <dgm:pt modelId="{894FE058-285B-40BB-B9A4-D35B38AE4347}">
      <dgm:prSet custT="1"/>
      <dgm:spPr/>
      <dgm:t>
        <a:bodyPr/>
        <a:lstStyle/>
        <a:p>
          <a:pPr rtl="0"/>
          <a:r>
            <a:rPr lang="en-US" sz="1800" b="1" smtClean="0"/>
            <a:t>National Average AQI:</a:t>
          </a:r>
          <a:r>
            <a:rPr lang="en-US" sz="1800" smtClean="0"/>
            <a:t> 251.11 (Indicates a high pollution baseline).</a:t>
          </a:r>
          <a:endParaRPr lang="en-IN" sz="1800" dirty="0"/>
        </a:p>
      </dgm:t>
    </dgm:pt>
    <dgm:pt modelId="{987C63EC-707B-4EDB-9B40-71944B0E4511}" type="parTrans" cxnId="{1C193E52-A9FA-4531-B2C0-F4A217223440}">
      <dgm:prSet/>
      <dgm:spPr/>
      <dgm:t>
        <a:bodyPr/>
        <a:lstStyle/>
        <a:p>
          <a:endParaRPr lang="en-IN"/>
        </a:p>
      </dgm:t>
    </dgm:pt>
    <dgm:pt modelId="{E001CCA6-6B9A-4A8D-ADF2-77AC8BE61367}" type="sibTrans" cxnId="{1C193E52-A9FA-4531-B2C0-F4A217223440}">
      <dgm:prSet/>
      <dgm:spPr/>
      <dgm:t>
        <a:bodyPr/>
        <a:lstStyle/>
        <a:p>
          <a:endParaRPr lang="en-IN"/>
        </a:p>
      </dgm:t>
    </dgm:pt>
    <dgm:pt modelId="{E9225055-1722-4E63-B511-596BC8CC2028}">
      <dgm:prSet custT="1"/>
      <dgm:spPr/>
      <dgm:t>
        <a:bodyPr/>
        <a:lstStyle/>
        <a:p>
          <a:pPr rtl="0"/>
          <a:r>
            <a:rPr lang="en-US" sz="1800" b="1" dirty="0" smtClean="0"/>
            <a:t>Total PM2.5 Mass:</a:t>
          </a:r>
          <a:r>
            <a:rPr lang="en-US" sz="1800" dirty="0" smtClean="0"/>
            <a:t> 4.58M.</a:t>
          </a:r>
          <a:endParaRPr lang="en-IN" sz="1800" dirty="0"/>
        </a:p>
      </dgm:t>
    </dgm:pt>
    <dgm:pt modelId="{EA23FABD-A6F1-496F-B82F-EAC27F7739EF}" type="parTrans" cxnId="{E3CA0D5E-F8BF-4242-8A3C-BBB55A7B2DE7}">
      <dgm:prSet/>
      <dgm:spPr/>
      <dgm:t>
        <a:bodyPr/>
        <a:lstStyle/>
        <a:p>
          <a:endParaRPr lang="en-IN"/>
        </a:p>
      </dgm:t>
    </dgm:pt>
    <dgm:pt modelId="{241EDAE8-ACE5-4479-9B30-E56DE1FDFFDD}" type="sibTrans" cxnId="{E3CA0D5E-F8BF-4242-8A3C-BBB55A7B2DE7}">
      <dgm:prSet/>
      <dgm:spPr/>
      <dgm:t>
        <a:bodyPr/>
        <a:lstStyle/>
        <a:p>
          <a:endParaRPr lang="en-IN"/>
        </a:p>
      </dgm:t>
    </dgm:pt>
    <dgm:pt modelId="{FC4E0FA2-F052-48CE-A926-33658E94FF3E}">
      <dgm:prSet custT="1"/>
      <dgm:spPr/>
      <dgm:t>
        <a:bodyPr/>
        <a:lstStyle/>
        <a:p>
          <a:pPr rtl="0"/>
          <a:r>
            <a:rPr lang="en-US" sz="1800" b="1" dirty="0" smtClean="0"/>
            <a:t>Average NO2 Levels:</a:t>
          </a:r>
          <a:r>
            <a:rPr lang="en-US" sz="1800" dirty="0" smtClean="0"/>
            <a:t> 75.42.</a:t>
          </a:r>
          <a:endParaRPr lang="en-IN" sz="1800" dirty="0"/>
        </a:p>
      </dgm:t>
    </dgm:pt>
    <dgm:pt modelId="{55A8AF56-44B3-4D42-AE7D-67700640FE9F}" type="parTrans" cxnId="{A6C7F9A7-8EE9-400B-93ED-ADDDF775D82E}">
      <dgm:prSet/>
      <dgm:spPr/>
      <dgm:t>
        <a:bodyPr/>
        <a:lstStyle/>
        <a:p>
          <a:endParaRPr lang="en-IN"/>
        </a:p>
      </dgm:t>
    </dgm:pt>
    <dgm:pt modelId="{C904C58D-E555-4CBD-950A-9739B033643C}" type="sibTrans" cxnId="{A6C7F9A7-8EE9-400B-93ED-ADDDF775D82E}">
      <dgm:prSet/>
      <dgm:spPr/>
      <dgm:t>
        <a:bodyPr/>
        <a:lstStyle/>
        <a:p>
          <a:endParaRPr lang="en-IN"/>
        </a:p>
      </dgm:t>
    </dgm:pt>
    <dgm:pt modelId="{F26EF538-CDE4-41CD-95BE-531543765C77}">
      <dgm:prSet custT="1"/>
      <dgm:spPr/>
      <dgm:t>
        <a:bodyPr/>
        <a:lstStyle/>
        <a:p>
          <a:pPr rtl="0"/>
          <a:r>
            <a:rPr lang="en-US" sz="1800" b="1" smtClean="0"/>
            <a:t>Average CO Levels:</a:t>
          </a:r>
          <a:r>
            <a:rPr lang="en-US" sz="1800" smtClean="0"/>
            <a:t> 5.00.</a:t>
          </a:r>
          <a:endParaRPr lang="en-IN" sz="1800"/>
        </a:p>
      </dgm:t>
    </dgm:pt>
    <dgm:pt modelId="{CEFDA643-F4A4-4712-AF30-9D96566CA296}" type="parTrans" cxnId="{E0A38ED8-BBF4-4AEF-BB4C-CA5743252A14}">
      <dgm:prSet/>
      <dgm:spPr/>
      <dgm:t>
        <a:bodyPr/>
        <a:lstStyle/>
        <a:p>
          <a:endParaRPr lang="en-IN"/>
        </a:p>
      </dgm:t>
    </dgm:pt>
    <dgm:pt modelId="{FA1A0BB6-CF5F-4380-95F9-6AD0DB01BCF4}" type="sibTrans" cxnId="{E0A38ED8-BBF4-4AEF-BB4C-CA5743252A14}">
      <dgm:prSet/>
      <dgm:spPr/>
      <dgm:t>
        <a:bodyPr/>
        <a:lstStyle/>
        <a:p>
          <a:endParaRPr lang="en-IN"/>
        </a:p>
      </dgm:t>
    </dgm:pt>
    <dgm:pt modelId="{D71377D2-B4A5-4B47-9A32-3878EB33D3C7}" type="pres">
      <dgm:prSet presAssocID="{25984FE0-C194-4C68-9F6E-F7ED97F7EE4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95C8F747-B42C-4D16-8F5F-D1D7A7EB754B}" type="pres">
      <dgm:prSet presAssocID="{628512C2-D37B-4E97-98C6-751D9E9E3D4E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49726FC-371C-45DA-96A2-29B86A152313}" type="pres">
      <dgm:prSet presAssocID="{A675D5F0-DF32-43F4-9B9A-25F831B7A5CF}" presName="spacer" presStyleCnt="0"/>
      <dgm:spPr/>
    </dgm:pt>
    <dgm:pt modelId="{9A9ED6A3-EBAA-487B-AA08-333DECCB4256}" type="pres">
      <dgm:prSet presAssocID="{3DAA2F32-50BD-4BF6-A788-A236B9FD5FC9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236DBA7-F88E-4096-8022-84C3F13F4272}" type="pres">
      <dgm:prSet presAssocID="{E330911A-4FFB-4707-BA2B-06AF8E4610BF}" presName="spacer" presStyleCnt="0"/>
      <dgm:spPr/>
    </dgm:pt>
    <dgm:pt modelId="{52F4214C-A649-4BE8-91A9-043D2828BAE3}" type="pres">
      <dgm:prSet presAssocID="{894FE058-285B-40BB-B9A4-D35B38AE4347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3521261-4B37-4A8B-902D-280493436033}" type="pres">
      <dgm:prSet presAssocID="{E001CCA6-6B9A-4A8D-ADF2-77AC8BE61367}" presName="spacer" presStyleCnt="0"/>
      <dgm:spPr/>
    </dgm:pt>
    <dgm:pt modelId="{7B7BB711-13AE-4B65-8108-4BF98D79E7BC}" type="pres">
      <dgm:prSet presAssocID="{E9225055-1722-4E63-B511-596BC8CC2028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7DEDB83-DC30-4A72-AB35-180897D1BF49}" type="pres">
      <dgm:prSet presAssocID="{241EDAE8-ACE5-4479-9B30-E56DE1FDFFDD}" presName="spacer" presStyleCnt="0"/>
      <dgm:spPr/>
    </dgm:pt>
    <dgm:pt modelId="{190E1904-393A-43FB-BC6F-33D172B80159}" type="pres">
      <dgm:prSet presAssocID="{FC4E0FA2-F052-48CE-A926-33658E94FF3E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4EE30C0-F8FC-4D96-9AF5-08B8B024694A}" type="pres">
      <dgm:prSet presAssocID="{C904C58D-E555-4CBD-950A-9739B033643C}" presName="spacer" presStyleCnt="0"/>
      <dgm:spPr/>
    </dgm:pt>
    <dgm:pt modelId="{3E3281D2-D393-4703-8EBB-8C73237B56BD}" type="pres">
      <dgm:prSet presAssocID="{F26EF538-CDE4-41CD-95BE-531543765C77}" presName="parentText" presStyleLbl="node1" presStyleIdx="5" presStyleCnt="6" custLinFactY="4005" custLinFactNeighborX="126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9B3450A0-3186-4E62-BEC3-20401A53B4D0}" type="presOf" srcId="{E9225055-1722-4E63-B511-596BC8CC2028}" destId="{7B7BB711-13AE-4B65-8108-4BF98D79E7BC}" srcOrd="0" destOrd="0" presId="urn:microsoft.com/office/officeart/2005/8/layout/vList2"/>
    <dgm:cxn modelId="{6E8B1DD7-71C7-432C-886A-565602AB8C1E}" type="presOf" srcId="{628512C2-D37B-4E97-98C6-751D9E9E3D4E}" destId="{95C8F747-B42C-4D16-8F5F-D1D7A7EB754B}" srcOrd="0" destOrd="0" presId="urn:microsoft.com/office/officeart/2005/8/layout/vList2"/>
    <dgm:cxn modelId="{1C193E52-A9FA-4531-B2C0-F4A217223440}" srcId="{25984FE0-C194-4C68-9F6E-F7ED97F7EE48}" destId="{894FE058-285B-40BB-B9A4-D35B38AE4347}" srcOrd="2" destOrd="0" parTransId="{987C63EC-707B-4EDB-9B40-71944B0E4511}" sibTransId="{E001CCA6-6B9A-4A8D-ADF2-77AC8BE61367}"/>
    <dgm:cxn modelId="{50DB8F0D-3057-4012-BB32-EB5BBF2721FB}" srcId="{25984FE0-C194-4C68-9F6E-F7ED97F7EE48}" destId="{3DAA2F32-50BD-4BF6-A788-A236B9FD5FC9}" srcOrd="1" destOrd="0" parTransId="{A47F2A19-FD8D-44CD-A09F-CB99FCBC4F42}" sibTransId="{E330911A-4FFB-4707-BA2B-06AF8E4610BF}"/>
    <dgm:cxn modelId="{E3CA0D5E-F8BF-4242-8A3C-BBB55A7B2DE7}" srcId="{25984FE0-C194-4C68-9F6E-F7ED97F7EE48}" destId="{E9225055-1722-4E63-B511-596BC8CC2028}" srcOrd="3" destOrd="0" parTransId="{EA23FABD-A6F1-496F-B82F-EAC27F7739EF}" sibTransId="{241EDAE8-ACE5-4479-9B30-E56DE1FDFFDD}"/>
    <dgm:cxn modelId="{587D7BFF-F311-4293-822A-48181F881730}" type="presOf" srcId="{25984FE0-C194-4C68-9F6E-F7ED97F7EE48}" destId="{D71377D2-B4A5-4B47-9A32-3878EB33D3C7}" srcOrd="0" destOrd="0" presId="urn:microsoft.com/office/officeart/2005/8/layout/vList2"/>
    <dgm:cxn modelId="{58DEF5F6-01EE-4907-A780-4647462BA1EC}" srcId="{25984FE0-C194-4C68-9F6E-F7ED97F7EE48}" destId="{628512C2-D37B-4E97-98C6-751D9E9E3D4E}" srcOrd="0" destOrd="0" parTransId="{A29B11B7-4397-40BB-B066-B1EAA3CC3867}" sibTransId="{A675D5F0-DF32-43F4-9B9A-25F831B7A5CF}"/>
    <dgm:cxn modelId="{A5F5347E-4EAB-4A14-B450-B6F050B65DEE}" type="presOf" srcId="{894FE058-285B-40BB-B9A4-D35B38AE4347}" destId="{52F4214C-A649-4BE8-91A9-043D2828BAE3}" srcOrd="0" destOrd="0" presId="urn:microsoft.com/office/officeart/2005/8/layout/vList2"/>
    <dgm:cxn modelId="{E7E3782E-7EDD-4DBA-9BD0-4F312CBAEE5A}" type="presOf" srcId="{F26EF538-CDE4-41CD-95BE-531543765C77}" destId="{3E3281D2-D393-4703-8EBB-8C73237B56BD}" srcOrd="0" destOrd="0" presId="urn:microsoft.com/office/officeart/2005/8/layout/vList2"/>
    <dgm:cxn modelId="{0E0801C8-3B99-40BD-858A-47ABE3305908}" type="presOf" srcId="{FC4E0FA2-F052-48CE-A926-33658E94FF3E}" destId="{190E1904-393A-43FB-BC6F-33D172B80159}" srcOrd="0" destOrd="0" presId="urn:microsoft.com/office/officeart/2005/8/layout/vList2"/>
    <dgm:cxn modelId="{581CAD4A-E0E9-43F0-9E24-E7CE190A0E20}" type="presOf" srcId="{3DAA2F32-50BD-4BF6-A788-A236B9FD5FC9}" destId="{9A9ED6A3-EBAA-487B-AA08-333DECCB4256}" srcOrd="0" destOrd="0" presId="urn:microsoft.com/office/officeart/2005/8/layout/vList2"/>
    <dgm:cxn modelId="{E0A38ED8-BBF4-4AEF-BB4C-CA5743252A14}" srcId="{25984FE0-C194-4C68-9F6E-F7ED97F7EE48}" destId="{F26EF538-CDE4-41CD-95BE-531543765C77}" srcOrd="5" destOrd="0" parTransId="{CEFDA643-F4A4-4712-AF30-9D96566CA296}" sibTransId="{FA1A0BB6-CF5F-4380-95F9-6AD0DB01BCF4}"/>
    <dgm:cxn modelId="{A6C7F9A7-8EE9-400B-93ED-ADDDF775D82E}" srcId="{25984FE0-C194-4C68-9F6E-F7ED97F7EE48}" destId="{FC4E0FA2-F052-48CE-A926-33658E94FF3E}" srcOrd="4" destOrd="0" parTransId="{55A8AF56-44B3-4D42-AE7D-67700640FE9F}" sibTransId="{C904C58D-E555-4CBD-950A-9739B033643C}"/>
    <dgm:cxn modelId="{633AFA75-D259-4174-886E-EA6A216757A7}" type="presParOf" srcId="{D71377D2-B4A5-4B47-9A32-3878EB33D3C7}" destId="{95C8F747-B42C-4D16-8F5F-D1D7A7EB754B}" srcOrd="0" destOrd="0" presId="urn:microsoft.com/office/officeart/2005/8/layout/vList2"/>
    <dgm:cxn modelId="{31808422-B95C-4577-9DA4-9054305E6800}" type="presParOf" srcId="{D71377D2-B4A5-4B47-9A32-3878EB33D3C7}" destId="{549726FC-371C-45DA-96A2-29B86A152313}" srcOrd="1" destOrd="0" presId="urn:microsoft.com/office/officeart/2005/8/layout/vList2"/>
    <dgm:cxn modelId="{551FD915-7560-47D2-8490-53A68F1DFA44}" type="presParOf" srcId="{D71377D2-B4A5-4B47-9A32-3878EB33D3C7}" destId="{9A9ED6A3-EBAA-487B-AA08-333DECCB4256}" srcOrd="2" destOrd="0" presId="urn:microsoft.com/office/officeart/2005/8/layout/vList2"/>
    <dgm:cxn modelId="{EB7B8B44-880A-4998-8CDD-CD79271C69FD}" type="presParOf" srcId="{D71377D2-B4A5-4B47-9A32-3878EB33D3C7}" destId="{A236DBA7-F88E-4096-8022-84C3F13F4272}" srcOrd="3" destOrd="0" presId="urn:microsoft.com/office/officeart/2005/8/layout/vList2"/>
    <dgm:cxn modelId="{FE6C6D7B-FA70-4C60-AFC1-5146C2B36312}" type="presParOf" srcId="{D71377D2-B4A5-4B47-9A32-3878EB33D3C7}" destId="{52F4214C-A649-4BE8-91A9-043D2828BAE3}" srcOrd="4" destOrd="0" presId="urn:microsoft.com/office/officeart/2005/8/layout/vList2"/>
    <dgm:cxn modelId="{EC4847E3-D00B-45EC-B4B2-123F17DE5AD1}" type="presParOf" srcId="{D71377D2-B4A5-4B47-9A32-3878EB33D3C7}" destId="{73521261-4B37-4A8B-902D-280493436033}" srcOrd="5" destOrd="0" presId="urn:microsoft.com/office/officeart/2005/8/layout/vList2"/>
    <dgm:cxn modelId="{AD7301C8-B264-41AE-AB3A-46F869FE2CB3}" type="presParOf" srcId="{D71377D2-B4A5-4B47-9A32-3878EB33D3C7}" destId="{7B7BB711-13AE-4B65-8108-4BF98D79E7BC}" srcOrd="6" destOrd="0" presId="urn:microsoft.com/office/officeart/2005/8/layout/vList2"/>
    <dgm:cxn modelId="{5B881467-F3BA-4433-BFE9-1A6F9698BABE}" type="presParOf" srcId="{D71377D2-B4A5-4B47-9A32-3878EB33D3C7}" destId="{57DEDB83-DC30-4A72-AB35-180897D1BF49}" srcOrd="7" destOrd="0" presId="urn:microsoft.com/office/officeart/2005/8/layout/vList2"/>
    <dgm:cxn modelId="{856A98CE-04A4-49F5-848A-84E86BE229F8}" type="presParOf" srcId="{D71377D2-B4A5-4B47-9A32-3878EB33D3C7}" destId="{190E1904-393A-43FB-BC6F-33D172B80159}" srcOrd="8" destOrd="0" presId="urn:microsoft.com/office/officeart/2005/8/layout/vList2"/>
    <dgm:cxn modelId="{F09F60EB-4184-4F39-B30F-DCD3E8A016B4}" type="presParOf" srcId="{D71377D2-B4A5-4B47-9A32-3878EB33D3C7}" destId="{04EE30C0-F8FC-4D96-9AF5-08B8B024694A}" srcOrd="9" destOrd="0" presId="urn:microsoft.com/office/officeart/2005/8/layout/vList2"/>
    <dgm:cxn modelId="{1ACF50B7-96CE-42EF-B8DE-6BF963F3F45D}" type="presParOf" srcId="{D71377D2-B4A5-4B47-9A32-3878EB33D3C7}" destId="{3E3281D2-D393-4703-8EBB-8C73237B56B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115D74-D8A3-41F9-A81D-1344C2B1BDC8}" type="doc">
      <dgm:prSet loTypeId="urn:microsoft.com/office/officeart/2005/8/layout/vList2" loCatId="list" qsTypeId="urn:microsoft.com/office/officeart/2005/8/quickstyle/simple3" qsCatId="simple" csTypeId="urn:microsoft.com/office/officeart/2005/8/colors/accent3_4" csCatId="accent3" phldr="1"/>
      <dgm:spPr/>
      <dgm:t>
        <a:bodyPr/>
        <a:lstStyle/>
        <a:p>
          <a:endParaRPr lang="en-IN"/>
        </a:p>
      </dgm:t>
    </dgm:pt>
    <dgm:pt modelId="{B0AD2BBB-60BA-4E4B-8683-C247282DE4C8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rtl="0"/>
          <a:r>
            <a:rPr lang="en-US" b="1" dirty="0" smtClean="0"/>
            <a:t>PM2.5 Distribution:</a:t>
          </a:r>
          <a:r>
            <a:rPr lang="en-US" dirty="0" smtClean="0"/>
            <a:t> A significant portion of cities fall under "Hazardous" or "Very Unhealthy" categories (see pie chart).</a:t>
          </a:r>
          <a:endParaRPr lang="en-IN" dirty="0"/>
        </a:p>
      </dgm:t>
    </dgm:pt>
    <dgm:pt modelId="{516397DF-6960-4675-AA87-CCA5206C0019}" type="parTrans" cxnId="{9E387161-D0B1-4FAD-905D-8211C0C45C45}">
      <dgm:prSet/>
      <dgm:spPr/>
      <dgm:t>
        <a:bodyPr/>
        <a:lstStyle/>
        <a:p>
          <a:endParaRPr lang="en-IN"/>
        </a:p>
      </dgm:t>
    </dgm:pt>
    <dgm:pt modelId="{DAEBAD47-33AF-4C6E-8F8B-86C200837050}" type="sibTrans" cxnId="{9E387161-D0B1-4FAD-905D-8211C0C45C45}">
      <dgm:prSet/>
      <dgm:spPr/>
      <dgm:t>
        <a:bodyPr/>
        <a:lstStyle/>
        <a:p>
          <a:endParaRPr lang="en-IN"/>
        </a:p>
      </dgm:t>
    </dgm:pt>
    <dgm:pt modelId="{C6D36137-9653-4163-887D-8AE45431EB50}">
      <dgm:prSet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b="1" dirty="0" smtClean="0"/>
            <a:t>CO &amp; NO2 Categories:</a:t>
          </a:r>
          <a:r>
            <a:rPr lang="en-US" dirty="0" smtClean="0"/>
            <a:t> * CO levels are predominantly in the "Moderate" to "Good" range for most cities.</a:t>
          </a:r>
          <a:endParaRPr lang="en-IN" dirty="0"/>
        </a:p>
      </dgm:t>
    </dgm:pt>
    <dgm:pt modelId="{419C1496-4771-47F5-A091-0F6D18372950}" type="parTrans" cxnId="{C3578B8B-04FF-4F65-893F-B828592E1FAA}">
      <dgm:prSet/>
      <dgm:spPr/>
      <dgm:t>
        <a:bodyPr/>
        <a:lstStyle/>
        <a:p>
          <a:endParaRPr lang="en-IN"/>
        </a:p>
      </dgm:t>
    </dgm:pt>
    <dgm:pt modelId="{DA17E797-A1DB-4AD6-A70E-0390BEC5F134}" type="sibTrans" cxnId="{C3578B8B-04FF-4F65-893F-B828592E1FAA}">
      <dgm:prSet/>
      <dgm:spPr/>
      <dgm:t>
        <a:bodyPr/>
        <a:lstStyle/>
        <a:p>
          <a:endParaRPr lang="en-IN"/>
        </a:p>
      </dgm:t>
    </dgm:pt>
    <dgm:pt modelId="{A9791E14-D1B0-40BE-81A2-04C370844678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pPr rtl="0"/>
          <a:r>
            <a:rPr lang="en-US" dirty="0" smtClean="0"/>
            <a:t>NO2 levels show a split, with over 30% of cities reaching "Moderate" pollution levels.</a:t>
          </a:r>
          <a:endParaRPr lang="en-IN" dirty="0"/>
        </a:p>
      </dgm:t>
    </dgm:pt>
    <dgm:pt modelId="{F9798B8A-8B99-495D-A728-8F4F770A62AA}" type="parTrans" cxnId="{06862D77-1C20-45B2-BE99-257732AD8735}">
      <dgm:prSet/>
      <dgm:spPr/>
      <dgm:t>
        <a:bodyPr/>
        <a:lstStyle/>
        <a:p>
          <a:endParaRPr lang="en-IN"/>
        </a:p>
      </dgm:t>
    </dgm:pt>
    <dgm:pt modelId="{68F7A416-C7EA-43BB-BF13-AAD1498A946B}" type="sibTrans" cxnId="{06862D77-1C20-45B2-BE99-257732AD8735}">
      <dgm:prSet/>
      <dgm:spPr/>
      <dgm:t>
        <a:bodyPr/>
        <a:lstStyle/>
        <a:p>
          <a:endParaRPr lang="en-IN"/>
        </a:p>
      </dgm:t>
    </dgm:pt>
    <dgm:pt modelId="{406FDB42-6DE0-4CEB-B610-1D3D5771F901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pPr rtl="0"/>
          <a:r>
            <a:rPr lang="en-US" b="1" dirty="0" smtClean="0"/>
            <a:t>PM10 Status:</a:t>
          </a:r>
          <a:r>
            <a:rPr lang="en-US" dirty="0" smtClean="0"/>
            <a:t> A funnel analysis showing the distribution from "Satisfactory" to "Severe."</a:t>
          </a:r>
          <a:endParaRPr lang="en-IN" dirty="0"/>
        </a:p>
      </dgm:t>
    </dgm:pt>
    <dgm:pt modelId="{413C3D8D-25A5-4517-890B-E6334DDA3A0E}" type="parTrans" cxnId="{6DC2BC21-C152-42D9-B66E-57532188F4A1}">
      <dgm:prSet/>
      <dgm:spPr/>
      <dgm:t>
        <a:bodyPr/>
        <a:lstStyle/>
        <a:p>
          <a:endParaRPr lang="en-IN"/>
        </a:p>
      </dgm:t>
    </dgm:pt>
    <dgm:pt modelId="{F6A70631-F4DE-4607-890F-F9DF309A38F1}" type="sibTrans" cxnId="{6DC2BC21-C152-42D9-B66E-57532188F4A1}">
      <dgm:prSet/>
      <dgm:spPr/>
      <dgm:t>
        <a:bodyPr/>
        <a:lstStyle/>
        <a:p>
          <a:endParaRPr lang="en-IN"/>
        </a:p>
      </dgm:t>
    </dgm:pt>
    <dgm:pt modelId="{DD9268AD-26D0-4528-9B2B-5DCDF87694D4}" type="pres">
      <dgm:prSet presAssocID="{B7115D74-D8A3-41F9-A81D-1344C2B1BDC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820A1243-183D-4A07-AC19-D1B21FCA2D0C}" type="pres">
      <dgm:prSet presAssocID="{B0AD2BBB-60BA-4E4B-8683-C247282DE4C8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D10120A-CD85-45E3-B741-B94CA39D2E6D}" type="pres">
      <dgm:prSet presAssocID="{DAEBAD47-33AF-4C6E-8F8B-86C200837050}" presName="spacer" presStyleCnt="0"/>
      <dgm:spPr/>
    </dgm:pt>
    <dgm:pt modelId="{07402AB6-90FD-478E-B868-A8E286B47F49}" type="pres">
      <dgm:prSet presAssocID="{C6D36137-9653-4163-887D-8AE45431EB50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E786FA2-7A11-48D2-8663-B473B0EE813B}" type="pres">
      <dgm:prSet presAssocID="{DA17E797-A1DB-4AD6-A70E-0390BEC5F134}" presName="spacer" presStyleCnt="0"/>
      <dgm:spPr/>
    </dgm:pt>
    <dgm:pt modelId="{603A6298-6F65-4D72-92D7-5342252D1E5E}" type="pres">
      <dgm:prSet presAssocID="{A9791E14-D1B0-40BE-81A2-04C37084467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34D7887-4933-4252-A95E-9B9DB7166A2B}" type="pres">
      <dgm:prSet presAssocID="{68F7A416-C7EA-43BB-BF13-AAD1498A946B}" presName="spacer" presStyleCnt="0"/>
      <dgm:spPr/>
    </dgm:pt>
    <dgm:pt modelId="{5F869688-03F3-4514-AF49-58004C79E23B}" type="pres">
      <dgm:prSet presAssocID="{406FDB42-6DE0-4CEB-B610-1D3D5771F901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7CAF88B0-8143-4AF4-B5DD-1761DEF0F7C5}" type="presOf" srcId="{C6D36137-9653-4163-887D-8AE45431EB50}" destId="{07402AB6-90FD-478E-B868-A8E286B47F49}" srcOrd="0" destOrd="0" presId="urn:microsoft.com/office/officeart/2005/8/layout/vList2"/>
    <dgm:cxn modelId="{06862D77-1C20-45B2-BE99-257732AD8735}" srcId="{B7115D74-D8A3-41F9-A81D-1344C2B1BDC8}" destId="{A9791E14-D1B0-40BE-81A2-04C370844678}" srcOrd="2" destOrd="0" parTransId="{F9798B8A-8B99-495D-A728-8F4F770A62AA}" sibTransId="{68F7A416-C7EA-43BB-BF13-AAD1498A946B}"/>
    <dgm:cxn modelId="{9E387161-D0B1-4FAD-905D-8211C0C45C45}" srcId="{B7115D74-D8A3-41F9-A81D-1344C2B1BDC8}" destId="{B0AD2BBB-60BA-4E4B-8683-C247282DE4C8}" srcOrd="0" destOrd="0" parTransId="{516397DF-6960-4675-AA87-CCA5206C0019}" sibTransId="{DAEBAD47-33AF-4C6E-8F8B-86C200837050}"/>
    <dgm:cxn modelId="{6DC2BC21-C152-42D9-B66E-57532188F4A1}" srcId="{B7115D74-D8A3-41F9-A81D-1344C2B1BDC8}" destId="{406FDB42-6DE0-4CEB-B610-1D3D5771F901}" srcOrd="3" destOrd="0" parTransId="{413C3D8D-25A5-4517-890B-E6334DDA3A0E}" sibTransId="{F6A70631-F4DE-4607-890F-F9DF309A38F1}"/>
    <dgm:cxn modelId="{C3578B8B-04FF-4F65-893F-B828592E1FAA}" srcId="{B7115D74-D8A3-41F9-A81D-1344C2B1BDC8}" destId="{C6D36137-9653-4163-887D-8AE45431EB50}" srcOrd="1" destOrd="0" parTransId="{419C1496-4771-47F5-A091-0F6D18372950}" sibTransId="{DA17E797-A1DB-4AD6-A70E-0390BEC5F134}"/>
    <dgm:cxn modelId="{90287FC2-CF52-4EAE-803F-8E21557C09F5}" type="presOf" srcId="{406FDB42-6DE0-4CEB-B610-1D3D5771F901}" destId="{5F869688-03F3-4514-AF49-58004C79E23B}" srcOrd="0" destOrd="0" presId="urn:microsoft.com/office/officeart/2005/8/layout/vList2"/>
    <dgm:cxn modelId="{8C83D104-F592-4706-9AB3-8260ABC5C99A}" type="presOf" srcId="{B7115D74-D8A3-41F9-A81D-1344C2B1BDC8}" destId="{DD9268AD-26D0-4528-9B2B-5DCDF87694D4}" srcOrd="0" destOrd="0" presId="urn:microsoft.com/office/officeart/2005/8/layout/vList2"/>
    <dgm:cxn modelId="{514BD348-3749-4C3A-BB73-7BA8748D940D}" type="presOf" srcId="{B0AD2BBB-60BA-4E4B-8683-C247282DE4C8}" destId="{820A1243-183D-4A07-AC19-D1B21FCA2D0C}" srcOrd="0" destOrd="0" presId="urn:microsoft.com/office/officeart/2005/8/layout/vList2"/>
    <dgm:cxn modelId="{288E4690-7C39-4B3D-9810-48747FED2966}" type="presOf" srcId="{A9791E14-D1B0-40BE-81A2-04C370844678}" destId="{603A6298-6F65-4D72-92D7-5342252D1E5E}" srcOrd="0" destOrd="0" presId="urn:microsoft.com/office/officeart/2005/8/layout/vList2"/>
    <dgm:cxn modelId="{A08F53E9-83DF-4A58-9AFC-5755F32E9E25}" type="presParOf" srcId="{DD9268AD-26D0-4528-9B2B-5DCDF87694D4}" destId="{820A1243-183D-4A07-AC19-D1B21FCA2D0C}" srcOrd="0" destOrd="0" presId="urn:microsoft.com/office/officeart/2005/8/layout/vList2"/>
    <dgm:cxn modelId="{6816D95C-8205-4F8F-BB5B-2CA0D1A39C59}" type="presParOf" srcId="{DD9268AD-26D0-4528-9B2B-5DCDF87694D4}" destId="{6D10120A-CD85-45E3-B741-B94CA39D2E6D}" srcOrd="1" destOrd="0" presId="urn:microsoft.com/office/officeart/2005/8/layout/vList2"/>
    <dgm:cxn modelId="{DE13FF47-16B5-4B1B-A58F-F0DECFD3569A}" type="presParOf" srcId="{DD9268AD-26D0-4528-9B2B-5DCDF87694D4}" destId="{07402AB6-90FD-478E-B868-A8E286B47F49}" srcOrd="2" destOrd="0" presId="urn:microsoft.com/office/officeart/2005/8/layout/vList2"/>
    <dgm:cxn modelId="{10215D5E-BAB9-4E17-9F32-7BA841589847}" type="presParOf" srcId="{DD9268AD-26D0-4528-9B2B-5DCDF87694D4}" destId="{5E786FA2-7A11-48D2-8663-B473B0EE813B}" srcOrd="3" destOrd="0" presId="urn:microsoft.com/office/officeart/2005/8/layout/vList2"/>
    <dgm:cxn modelId="{E0AABADA-3A45-488E-818C-776A1EA68F06}" type="presParOf" srcId="{DD9268AD-26D0-4528-9B2B-5DCDF87694D4}" destId="{603A6298-6F65-4D72-92D7-5342252D1E5E}" srcOrd="4" destOrd="0" presId="urn:microsoft.com/office/officeart/2005/8/layout/vList2"/>
    <dgm:cxn modelId="{16B57224-C313-4018-88E1-85791D6443EE}" type="presParOf" srcId="{DD9268AD-26D0-4528-9B2B-5DCDF87694D4}" destId="{934D7887-4933-4252-A95E-9B9DB7166A2B}" srcOrd="5" destOrd="0" presId="urn:microsoft.com/office/officeart/2005/8/layout/vList2"/>
    <dgm:cxn modelId="{5B9DFFCC-2910-4EF0-96EC-89BA9BDB5AF5}" type="presParOf" srcId="{DD9268AD-26D0-4528-9B2B-5DCDF87694D4}" destId="{5F869688-03F3-4514-AF49-58004C79E23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7115D74-D8A3-41F9-A81D-1344C2B1BDC8}" type="doc">
      <dgm:prSet loTypeId="urn:microsoft.com/office/officeart/2005/8/layout/vList2" loCatId="list" qsTypeId="urn:microsoft.com/office/officeart/2005/8/quickstyle/simple3" qsCatId="simple" csTypeId="urn:microsoft.com/office/officeart/2005/8/colors/accent3_4" csCatId="accent3" phldr="1"/>
      <dgm:spPr/>
      <dgm:t>
        <a:bodyPr/>
        <a:lstStyle/>
        <a:p>
          <a:endParaRPr lang="en-IN"/>
        </a:p>
      </dgm:t>
    </dgm:pt>
    <dgm:pt modelId="{2525CC42-5A4C-4D12-B4BC-307A9B5F8634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n-US" dirty="0"/>
            <a:t>For PM2.5 (Pie Chart): "I calculated the share of total days that fell into critical categories like 'Hazardous' to visualize the proportion of high-risk time."</a:t>
          </a:r>
          <a:endParaRPr lang="en-IN" dirty="0"/>
        </a:p>
      </dgm:t>
    </dgm:pt>
    <dgm:pt modelId="{977BF1CD-5A4D-4F73-8DDB-5C9202BA4A3B}" type="sibTrans" cxnId="{51C6B2E3-0272-4CA2-A9E6-783CA3510D8C}">
      <dgm:prSet/>
      <dgm:spPr/>
      <dgm:t>
        <a:bodyPr/>
        <a:lstStyle/>
        <a:p>
          <a:endParaRPr lang="en-IN"/>
        </a:p>
      </dgm:t>
    </dgm:pt>
    <dgm:pt modelId="{43A77B50-8E35-4B7D-A24A-9786B1920052}" type="parTrans" cxnId="{51C6B2E3-0272-4CA2-A9E6-783CA3510D8C}">
      <dgm:prSet/>
      <dgm:spPr/>
      <dgm:t>
        <a:bodyPr/>
        <a:lstStyle/>
        <a:p>
          <a:endParaRPr lang="en-IN"/>
        </a:p>
      </dgm:t>
    </dgm:pt>
    <dgm:pt modelId="{58505A62-AC96-4695-80D8-7A72F4D6D2C3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dirty="0"/>
            <a:t>For CO (Bar Chart): "I compared the absolute count of days side-by-side to clearly show that 'Moderate' and 'Good' days are the most frequent for Carbon Monoxide."</a:t>
          </a:r>
          <a:endParaRPr lang="en-IN" dirty="0"/>
        </a:p>
      </dgm:t>
    </dgm:pt>
    <dgm:pt modelId="{6832708F-C560-4393-BFD4-E3A26EA22857}" type="parTrans" cxnId="{1EA93190-55F7-40B6-87BA-874DE560238E}">
      <dgm:prSet/>
      <dgm:spPr/>
      <dgm:t>
        <a:bodyPr/>
        <a:lstStyle/>
        <a:p>
          <a:endParaRPr lang="en-IN"/>
        </a:p>
      </dgm:t>
    </dgm:pt>
    <dgm:pt modelId="{2F37F097-D7FA-4E53-A0E8-5E7C9303C0FE}" type="sibTrans" cxnId="{1EA93190-55F7-40B6-87BA-874DE560238E}">
      <dgm:prSet/>
      <dgm:spPr/>
      <dgm:t>
        <a:bodyPr/>
        <a:lstStyle/>
        <a:p>
          <a:endParaRPr lang="en-IN"/>
        </a:p>
      </dgm:t>
    </dgm:pt>
    <dgm:pt modelId="{1F452CB4-FAAE-486A-AE33-CE85C228502A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For NO2 (Donut Chart): "I broke down the percentage of days to highlight the ratio of safe days versus unhealthy ones for Nitrogen Dioxide."</a:t>
          </a:r>
          <a:endParaRPr lang="en-IN" dirty="0"/>
        </a:p>
      </dgm:t>
    </dgm:pt>
    <dgm:pt modelId="{3F0F25C5-DC0E-4C32-8A05-64507CA86012}" type="parTrans" cxnId="{CF5CDB97-DB17-40BB-813F-EE4C971E4A93}">
      <dgm:prSet/>
      <dgm:spPr/>
      <dgm:t>
        <a:bodyPr/>
        <a:lstStyle/>
        <a:p>
          <a:endParaRPr lang="en-IN"/>
        </a:p>
      </dgm:t>
    </dgm:pt>
    <dgm:pt modelId="{759F6CFE-7A23-402D-99C5-6DE85D17CE74}" type="sibTrans" cxnId="{CF5CDB97-DB17-40BB-813F-EE4C971E4A93}">
      <dgm:prSet/>
      <dgm:spPr/>
      <dgm:t>
        <a:bodyPr/>
        <a:lstStyle/>
        <a:p>
          <a:endParaRPr lang="en-IN"/>
        </a:p>
      </dgm:t>
    </dgm:pt>
    <dgm:pt modelId="{9673773D-72F6-4553-8EE1-90628FDA9BE6}">
      <dgm:prSet/>
      <dgm:spPr/>
      <dgm:t>
        <a:bodyPr/>
        <a:lstStyle/>
        <a:p>
          <a:r>
            <a:rPr lang="en-US" smtClean="0"/>
            <a:t>For PM10 (Funnel Chart): "I arranged the volume of days in a hierarchy to show how the frequency drops as we move from 'Severe' down to 'Satisfactory' levels."</a:t>
          </a:r>
          <a:endParaRPr lang="en-IN" smtClean="0"/>
        </a:p>
      </dgm:t>
    </dgm:pt>
    <dgm:pt modelId="{7BE70284-1410-4A68-B786-7243AE358FB8}" type="parTrans" cxnId="{8105D42C-6E22-475A-B4F2-D5DFFEFB7763}">
      <dgm:prSet/>
      <dgm:spPr/>
      <dgm:t>
        <a:bodyPr/>
        <a:lstStyle/>
        <a:p>
          <a:endParaRPr lang="en-IN"/>
        </a:p>
      </dgm:t>
    </dgm:pt>
    <dgm:pt modelId="{8F809169-E6FF-4D88-BF84-37C2D70AF8DD}" type="sibTrans" cxnId="{8105D42C-6E22-475A-B4F2-D5DFFEFB7763}">
      <dgm:prSet/>
      <dgm:spPr/>
      <dgm:t>
        <a:bodyPr/>
        <a:lstStyle/>
        <a:p>
          <a:endParaRPr lang="en-IN"/>
        </a:p>
      </dgm:t>
    </dgm:pt>
    <dgm:pt modelId="{DD9268AD-26D0-4528-9B2B-5DCDF87694D4}" type="pres">
      <dgm:prSet presAssocID="{B7115D74-D8A3-41F9-A81D-1344C2B1BDC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6CFD4FD1-E960-4A60-B123-F5FE06B77A76}" type="pres">
      <dgm:prSet presAssocID="{2525CC42-5A4C-4D12-B4BC-307A9B5F8634}" presName="parentText" presStyleLbl="node1" presStyleIdx="0" presStyleCnt="4" custScaleY="125353" custLinFactY="-37662" custLinFactNeighborX="126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85EED17-D506-4DC4-B79D-EC3087D6335B}" type="pres">
      <dgm:prSet presAssocID="{977BF1CD-5A4D-4F73-8DDB-5C9202BA4A3B}" presName="spacer" presStyleCnt="0"/>
      <dgm:spPr/>
    </dgm:pt>
    <dgm:pt modelId="{0DE3A2FF-17D5-4539-B633-0FC0D10A3B7A}" type="pres">
      <dgm:prSet presAssocID="{58505A62-AC96-4695-80D8-7A72F4D6D2C3}" presName="parentText" presStyleLbl="node1" presStyleIdx="1" presStyleCnt="4" custScaleY="117523" custLinFactY="-26084" custLinFactNeighborX="126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F9A5DC7-C84C-4B25-BCF3-1165C67947A6}" type="pres">
      <dgm:prSet presAssocID="{2F37F097-D7FA-4E53-A0E8-5E7C9303C0FE}" presName="spacer" presStyleCnt="0"/>
      <dgm:spPr/>
    </dgm:pt>
    <dgm:pt modelId="{93CF0DA8-2080-4610-8D34-B6C192894C88}" type="pres">
      <dgm:prSet presAssocID="{1F452CB4-FAAE-486A-AE33-CE85C228502A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CC5BCCF-2A09-4599-915B-37D82ADE2FFE}" type="pres">
      <dgm:prSet presAssocID="{759F6CFE-7A23-402D-99C5-6DE85D17CE74}" presName="spacer" presStyleCnt="0"/>
      <dgm:spPr/>
    </dgm:pt>
    <dgm:pt modelId="{09693C22-10C6-49B7-B1A3-B5EED897C6F9}" type="pres">
      <dgm:prSet presAssocID="{9673773D-72F6-4553-8EE1-90628FDA9BE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4C3DAB4-382B-457F-90CC-43CFDA58DA50}" type="presOf" srcId="{58505A62-AC96-4695-80D8-7A72F4D6D2C3}" destId="{0DE3A2FF-17D5-4539-B633-0FC0D10A3B7A}" srcOrd="0" destOrd="0" presId="urn:microsoft.com/office/officeart/2005/8/layout/vList2"/>
    <dgm:cxn modelId="{1EA93190-55F7-40B6-87BA-874DE560238E}" srcId="{B7115D74-D8A3-41F9-A81D-1344C2B1BDC8}" destId="{58505A62-AC96-4695-80D8-7A72F4D6D2C3}" srcOrd="1" destOrd="0" parTransId="{6832708F-C560-4393-BFD4-E3A26EA22857}" sibTransId="{2F37F097-D7FA-4E53-A0E8-5E7C9303C0FE}"/>
    <dgm:cxn modelId="{CF5CDB97-DB17-40BB-813F-EE4C971E4A93}" srcId="{B7115D74-D8A3-41F9-A81D-1344C2B1BDC8}" destId="{1F452CB4-FAAE-486A-AE33-CE85C228502A}" srcOrd="2" destOrd="0" parTransId="{3F0F25C5-DC0E-4C32-8A05-64507CA86012}" sibTransId="{759F6CFE-7A23-402D-99C5-6DE85D17CE74}"/>
    <dgm:cxn modelId="{E65FDAB0-23E2-425D-82E3-3167B4548AD6}" type="presOf" srcId="{2525CC42-5A4C-4D12-B4BC-307A9B5F8634}" destId="{6CFD4FD1-E960-4A60-B123-F5FE06B77A76}" srcOrd="0" destOrd="0" presId="urn:microsoft.com/office/officeart/2005/8/layout/vList2"/>
    <dgm:cxn modelId="{4390039F-FAB6-41BA-A34A-E422D187E866}" type="presOf" srcId="{B7115D74-D8A3-41F9-A81D-1344C2B1BDC8}" destId="{DD9268AD-26D0-4528-9B2B-5DCDF87694D4}" srcOrd="0" destOrd="0" presId="urn:microsoft.com/office/officeart/2005/8/layout/vList2"/>
    <dgm:cxn modelId="{928CF08A-1368-4C8F-91C5-194D81E86EA4}" type="presOf" srcId="{1F452CB4-FAAE-486A-AE33-CE85C228502A}" destId="{93CF0DA8-2080-4610-8D34-B6C192894C88}" srcOrd="0" destOrd="0" presId="urn:microsoft.com/office/officeart/2005/8/layout/vList2"/>
    <dgm:cxn modelId="{51C6B2E3-0272-4CA2-A9E6-783CA3510D8C}" srcId="{B7115D74-D8A3-41F9-A81D-1344C2B1BDC8}" destId="{2525CC42-5A4C-4D12-B4BC-307A9B5F8634}" srcOrd="0" destOrd="0" parTransId="{43A77B50-8E35-4B7D-A24A-9786B1920052}" sibTransId="{977BF1CD-5A4D-4F73-8DDB-5C9202BA4A3B}"/>
    <dgm:cxn modelId="{BCC1BD6E-DDF7-4B0B-A509-BE27D6386183}" type="presOf" srcId="{9673773D-72F6-4553-8EE1-90628FDA9BE6}" destId="{09693C22-10C6-49B7-B1A3-B5EED897C6F9}" srcOrd="0" destOrd="0" presId="urn:microsoft.com/office/officeart/2005/8/layout/vList2"/>
    <dgm:cxn modelId="{8105D42C-6E22-475A-B4F2-D5DFFEFB7763}" srcId="{B7115D74-D8A3-41F9-A81D-1344C2B1BDC8}" destId="{9673773D-72F6-4553-8EE1-90628FDA9BE6}" srcOrd="3" destOrd="0" parTransId="{7BE70284-1410-4A68-B786-7243AE358FB8}" sibTransId="{8F809169-E6FF-4D88-BF84-37C2D70AF8DD}"/>
    <dgm:cxn modelId="{C8A7A00D-C313-4094-A922-F6269F9842C3}" type="presParOf" srcId="{DD9268AD-26D0-4528-9B2B-5DCDF87694D4}" destId="{6CFD4FD1-E960-4A60-B123-F5FE06B77A76}" srcOrd="0" destOrd="0" presId="urn:microsoft.com/office/officeart/2005/8/layout/vList2"/>
    <dgm:cxn modelId="{E2927BA4-1406-40A6-B104-42FA913FDEED}" type="presParOf" srcId="{DD9268AD-26D0-4528-9B2B-5DCDF87694D4}" destId="{D85EED17-D506-4DC4-B79D-EC3087D6335B}" srcOrd="1" destOrd="0" presId="urn:microsoft.com/office/officeart/2005/8/layout/vList2"/>
    <dgm:cxn modelId="{B7F99C3D-8C19-4DDE-8F99-BB0BF2923354}" type="presParOf" srcId="{DD9268AD-26D0-4528-9B2B-5DCDF87694D4}" destId="{0DE3A2FF-17D5-4539-B633-0FC0D10A3B7A}" srcOrd="2" destOrd="0" presId="urn:microsoft.com/office/officeart/2005/8/layout/vList2"/>
    <dgm:cxn modelId="{868FCC0B-A77B-4304-B4EB-8F4FBB5E8F9D}" type="presParOf" srcId="{DD9268AD-26D0-4528-9B2B-5DCDF87694D4}" destId="{1F9A5DC7-C84C-4B25-BCF3-1165C67947A6}" srcOrd="3" destOrd="0" presId="urn:microsoft.com/office/officeart/2005/8/layout/vList2"/>
    <dgm:cxn modelId="{734100E8-CF9D-4B55-B86D-0CE518A292D4}" type="presParOf" srcId="{DD9268AD-26D0-4528-9B2B-5DCDF87694D4}" destId="{93CF0DA8-2080-4610-8D34-B6C192894C88}" srcOrd="4" destOrd="0" presId="urn:microsoft.com/office/officeart/2005/8/layout/vList2"/>
    <dgm:cxn modelId="{094AC92C-E037-41C3-AE80-B63A26216089}" type="presParOf" srcId="{DD9268AD-26D0-4528-9B2B-5DCDF87694D4}" destId="{5CC5BCCF-2A09-4599-915B-37D82ADE2FFE}" srcOrd="5" destOrd="0" presId="urn:microsoft.com/office/officeart/2005/8/layout/vList2"/>
    <dgm:cxn modelId="{FFAA5A12-140E-48D3-912E-BD0DEA55023A}" type="presParOf" srcId="{DD9268AD-26D0-4528-9B2B-5DCDF87694D4}" destId="{09693C22-10C6-49B7-B1A3-B5EED897C6F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AA2A243-BAD9-4C47-B09F-A519C72EC9FD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69D6407-5DF2-4FC3-A64E-110B50C243F2}">
      <dgm:prSet/>
      <dgm:spPr/>
      <dgm:t>
        <a:bodyPr/>
        <a:lstStyle/>
        <a:p>
          <a:pPr rtl="0"/>
          <a:r>
            <a:rPr lang="en-US" b="1" smtClean="0"/>
            <a:t>Summary:</a:t>
          </a:r>
          <a:r>
            <a:rPr lang="en-US" smtClean="0"/>
            <a:t> Urban centers like Delhi, Mumbai, and Kolkata are consistently exceeding safe air quality limits.</a:t>
          </a:r>
          <a:endParaRPr lang="en-IN"/>
        </a:p>
      </dgm:t>
    </dgm:pt>
    <dgm:pt modelId="{E238EBBD-0028-4DBD-BCE7-AADA5C80A679}" type="parTrans" cxnId="{A14C6D7F-D618-4815-9E24-9358E5D9CE18}">
      <dgm:prSet/>
      <dgm:spPr/>
      <dgm:t>
        <a:bodyPr/>
        <a:lstStyle/>
        <a:p>
          <a:endParaRPr lang="en-IN"/>
        </a:p>
      </dgm:t>
    </dgm:pt>
    <dgm:pt modelId="{C3D391E3-D23D-4469-BE46-0CC3EAC60A00}" type="sibTrans" cxnId="{A14C6D7F-D618-4815-9E24-9358E5D9CE18}">
      <dgm:prSet/>
      <dgm:spPr/>
      <dgm:t>
        <a:bodyPr/>
        <a:lstStyle/>
        <a:p>
          <a:endParaRPr lang="en-IN"/>
        </a:p>
      </dgm:t>
    </dgm:pt>
    <dgm:pt modelId="{227812DC-888C-42E1-ABDD-33ED29C15A31}">
      <dgm:prSet/>
      <dgm:spPr/>
      <dgm:t>
        <a:bodyPr/>
        <a:lstStyle/>
        <a:p>
          <a:pPr rtl="0"/>
          <a:r>
            <a:rPr lang="en-US" b="1" smtClean="0"/>
            <a:t>Data Insight:</a:t>
          </a:r>
          <a:r>
            <a:rPr lang="en-US" smtClean="0"/>
            <a:t> While CO levels remain manageable, PM2.5 and NO2 are the primary drivers of the "Hazardous" AQI ratings.</a:t>
          </a:r>
          <a:endParaRPr lang="en-IN"/>
        </a:p>
      </dgm:t>
    </dgm:pt>
    <dgm:pt modelId="{65BA1C73-9BA0-4CBE-A4DB-9844334B0566}" type="parTrans" cxnId="{A6122EA7-26AA-48D3-84C5-B024984C86E4}">
      <dgm:prSet/>
      <dgm:spPr/>
      <dgm:t>
        <a:bodyPr/>
        <a:lstStyle/>
        <a:p>
          <a:endParaRPr lang="en-IN"/>
        </a:p>
      </dgm:t>
    </dgm:pt>
    <dgm:pt modelId="{3834B7BC-B7AF-45D7-8DF2-5279C65E2DF8}" type="sibTrans" cxnId="{A6122EA7-26AA-48D3-84C5-B024984C86E4}">
      <dgm:prSet/>
      <dgm:spPr/>
      <dgm:t>
        <a:bodyPr/>
        <a:lstStyle/>
        <a:p>
          <a:endParaRPr lang="en-IN"/>
        </a:p>
      </dgm:t>
    </dgm:pt>
    <dgm:pt modelId="{AE3FD80F-888C-4F3E-A2C0-95B464C4392C}">
      <dgm:prSet/>
      <dgm:spPr/>
      <dgm:t>
        <a:bodyPr/>
        <a:lstStyle/>
        <a:p>
          <a:pPr rtl="0"/>
          <a:r>
            <a:rPr lang="en-US" b="1" smtClean="0"/>
            <a:t>Call to Action:</a:t>
          </a:r>
          <a:r>
            <a:rPr lang="en-US" smtClean="0"/>
            <a:t> * Implement stricter industrial emission controls in metro hubs.</a:t>
          </a:r>
          <a:endParaRPr lang="en-IN"/>
        </a:p>
      </dgm:t>
    </dgm:pt>
    <dgm:pt modelId="{14ABBB94-FC06-42BD-9A4A-FD506C601000}" type="parTrans" cxnId="{29B9374C-F277-4685-BB00-64E402464E1A}">
      <dgm:prSet/>
      <dgm:spPr/>
      <dgm:t>
        <a:bodyPr/>
        <a:lstStyle/>
        <a:p>
          <a:endParaRPr lang="en-IN"/>
        </a:p>
      </dgm:t>
    </dgm:pt>
    <dgm:pt modelId="{833B3EF4-2AAB-48C1-86A8-20FC172BED4D}" type="sibTrans" cxnId="{29B9374C-F277-4685-BB00-64E402464E1A}">
      <dgm:prSet/>
      <dgm:spPr/>
      <dgm:t>
        <a:bodyPr/>
        <a:lstStyle/>
        <a:p>
          <a:endParaRPr lang="en-IN"/>
        </a:p>
      </dgm:t>
    </dgm:pt>
    <dgm:pt modelId="{2488E4CC-541E-4BA4-8A69-03B003C6E4F8}">
      <dgm:prSet/>
      <dgm:spPr/>
      <dgm:t>
        <a:bodyPr/>
        <a:lstStyle/>
        <a:p>
          <a:pPr rtl="0"/>
          <a:r>
            <a:rPr lang="en-US" smtClean="0"/>
            <a:t>Enhance green cover and public transport to reduce NO2 from vehicular </a:t>
          </a:r>
          <a:r>
            <a:rPr lang="en-IN" smtClean="0"/>
            <a:t>exhaust.</a:t>
          </a:r>
          <a:endParaRPr lang="en-IN"/>
        </a:p>
      </dgm:t>
    </dgm:pt>
    <dgm:pt modelId="{902D637D-21B9-4A96-87B8-E0C83D69F4CF}" type="parTrans" cxnId="{B16C6F1D-3FA5-466A-9CB6-27694AA5A6FC}">
      <dgm:prSet/>
      <dgm:spPr/>
      <dgm:t>
        <a:bodyPr/>
        <a:lstStyle/>
        <a:p>
          <a:endParaRPr lang="en-IN"/>
        </a:p>
      </dgm:t>
    </dgm:pt>
    <dgm:pt modelId="{4D6F4C80-4993-424D-8D6C-8CCF65DD021A}" type="sibTrans" cxnId="{B16C6F1D-3FA5-466A-9CB6-27694AA5A6FC}">
      <dgm:prSet/>
      <dgm:spPr/>
      <dgm:t>
        <a:bodyPr/>
        <a:lstStyle/>
        <a:p>
          <a:endParaRPr lang="en-IN"/>
        </a:p>
      </dgm:t>
    </dgm:pt>
    <dgm:pt modelId="{C668B658-19CD-442B-A86E-F718C0DAC02B}" type="pres">
      <dgm:prSet presAssocID="{BAA2A243-BAD9-4C47-B09F-A519C72EC9FD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45563474-9AB2-4DA5-B896-8022210755C9}" type="pres">
      <dgm:prSet presAssocID="{D69D6407-5DF2-4FC3-A64E-110B50C243F2}" presName="circle1" presStyleLbl="node1" presStyleIdx="0" presStyleCnt="4"/>
      <dgm:spPr/>
    </dgm:pt>
    <dgm:pt modelId="{2FC0081E-F695-4A21-BE5B-A937C2D00073}" type="pres">
      <dgm:prSet presAssocID="{D69D6407-5DF2-4FC3-A64E-110B50C243F2}" presName="space" presStyleCnt="0"/>
      <dgm:spPr/>
    </dgm:pt>
    <dgm:pt modelId="{AF19F208-1D39-4E39-8957-4B8A1B8FE1EA}" type="pres">
      <dgm:prSet presAssocID="{D69D6407-5DF2-4FC3-A64E-110B50C243F2}" presName="rect1" presStyleLbl="alignAcc1" presStyleIdx="0" presStyleCnt="4"/>
      <dgm:spPr/>
      <dgm:t>
        <a:bodyPr/>
        <a:lstStyle/>
        <a:p>
          <a:endParaRPr lang="en-IN"/>
        </a:p>
      </dgm:t>
    </dgm:pt>
    <dgm:pt modelId="{57767A49-448E-4E86-BC42-2EF63A0A2A23}" type="pres">
      <dgm:prSet presAssocID="{227812DC-888C-42E1-ABDD-33ED29C15A31}" presName="vertSpace2" presStyleLbl="node1" presStyleIdx="0" presStyleCnt="4"/>
      <dgm:spPr/>
    </dgm:pt>
    <dgm:pt modelId="{B91174AF-40DE-4383-90AA-F7F8C101758D}" type="pres">
      <dgm:prSet presAssocID="{227812DC-888C-42E1-ABDD-33ED29C15A31}" presName="circle2" presStyleLbl="node1" presStyleIdx="1" presStyleCnt="4"/>
      <dgm:spPr/>
    </dgm:pt>
    <dgm:pt modelId="{C52623D4-6668-4829-A23C-7EBEBF0509E1}" type="pres">
      <dgm:prSet presAssocID="{227812DC-888C-42E1-ABDD-33ED29C15A31}" presName="rect2" presStyleLbl="alignAcc1" presStyleIdx="1" presStyleCnt="4"/>
      <dgm:spPr/>
      <dgm:t>
        <a:bodyPr/>
        <a:lstStyle/>
        <a:p>
          <a:endParaRPr lang="en-IN"/>
        </a:p>
      </dgm:t>
    </dgm:pt>
    <dgm:pt modelId="{6CA9FA5B-E9CB-4DA1-A0E0-2886B8CAAACB}" type="pres">
      <dgm:prSet presAssocID="{AE3FD80F-888C-4F3E-A2C0-95B464C4392C}" presName="vertSpace3" presStyleLbl="node1" presStyleIdx="1" presStyleCnt="4"/>
      <dgm:spPr/>
    </dgm:pt>
    <dgm:pt modelId="{32B86162-29CD-4287-A8B1-3CBE749C7388}" type="pres">
      <dgm:prSet presAssocID="{AE3FD80F-888C-4F3E-A2C0-95B464C4392C}" presName="circle3" presStyleLbl="node1" presStyleIdx="2" presStyleCnt="4"/>
      <dgm:spPr/>
    </dgm:pt>
    <dgm:pt modelId="{A573B078-2CD1-4049-8E5C-CB981E43705B}" type="pres">
      <dgm:prSet presAssocID="{AE3FD80F-888C-4F3E-A2C0-95B464C4392C}" presName="rect3" presStyleLbl="alignAcc1" presStyleIdx="2" presStyleCnt="4"/>
      <dgm:spPr/>
      <dgm:t>
        <a:bodyPr/>
        <a:lstStyle/>
        <a:p>
          <a:endParaRPr lang="en-IN"/>
        </a:p>
      </dgm:t>
    </dgm:pt>
    <dgm:pt modelId="{B9B3F19E-A895-4F17-A930-7E175BFD717B}" type="pres">
      <dgm:prSet presAssocID="{2488E4CC-541E-4BA4-8A69-03B003C6E4F8}" presName="vertSpace4" presStyleLbl="node1" presStyleIdx="2" presStyleCnt="4"/>
      <dgm:spPr/>
    </dgm:pt>
    <dgm:pt modelId="{362AB059-058F-4944-BA91-5E34F91D4285}" type="pres">
      <dgm:prSet presAssocID="{2488E4CC-541E-4BA4-8A69-03B003C6E4F8}" presName="circle4" presStyleLbl="node1" presStyleIdx="3" presStyleCnt="4"/>
      <dgm:spPr/>
    </dgm:pt>
    <dgm:pt modelId="{972FD5B9-60F5-4161-8239-DDDC1FEC4AFE}" type="pres">
      <dgm:prSet presAssocID="{2488E4CC-541E-4BA4-8A69-03B003C6E4F8}" presName="rect4" presStyleLbl="alignAcc1" presStyleIdx="3" presStyleCnt="4"/>
      <dgm:spPr/>
      <dgm:t>
        <a:bodyPr/>
        <a:lstStyle/>
        <a:p>
          <a:endParaRPr lang="en-IN"/>
        </a:p>
      </dgm:t>
    </dgm:pt>
    <dgm:pt modelId="{A3855AD5-F25C-42B6-B06A-89B747D6701C}" type="pres">
      <dgm:prSet presAssocID="{D69D6407-5DF2-4FC3-A64E-110B50C243F2}" presName="rect1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99E0D29-BF56-4694-A42E-BA6D79D03B1D}" type="pres">
      <dgm:prSet presAssocID="{227812DC-888C-42E1-ABDD-33ED29C15A31}" presName="rect2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CA31830-15FF-43D0-AE6E-E3C8E4EC0197}" type="pres">
      <dgm:prSet presAssocID="{AE3FD80F-888C-4F3E-A2C0-95B464C4392C}" presName="rect3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6417349-0466-44E8-87AF-34C991C30AE5}" type="pres">
      <dgm:prSet presAssocID="{2488E4CC-541E-4BA4-8A69-03B003C6E4F8}" presName="rect4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A14C6D7F-D618-4815-9E24-9358E5D9CE18}" srcId="{BAA2A243-BAD9-4C47-B09F-A519C72EC9FD}" destId="{D69D6407-5DF2-4FC3-A64E-110B50C243F2}" srcOrd="0" destOrd="0" parTransId="{E238EBBD-0028-4DBD-BCE7-AADA5C80A679}" sibTransId="{C3D391E3-D23D-4469-BE46-0CC3EAC60A00}"/>
    <dgm:cxn modelId="{B4ABEB41-8DCB-44C0-A82D-ED86EF0EE5D8}" type="presOf" srcId="{AE3FD80F-888C-4F3E-A2C0-95B464C4392C}" destId="{4CA31830-15FF-43D0-AE6E-E3C8E4EC0197}" srcOrd="1" destOrd="0" presId="urn:microsoft.com/office/officeart/2005/8/layout/target3"/>
    <dgm:cxn modelId="{4FEFDEB0-4A5B-4599-9344-66F645A250BC}" type="presOf" srcId="{AE3FD80F-888C-4F3E-A2C0-95B464C4392C}" destId="{A573B078-2CD1-4049-8E5C-CB981E43705B}" srcOrd="0" destOrd="0" presId="urn:microsoft.com/office/officeart/2005/8/layout/target3"/>
    <dgm:cxn modelId="{B4E6C6F5-EFC0-4FE4-8FAB-73B7A3F9C5B7}" type="presOf" srcId="{D69D6407-5DF2-4FC3-A64E-110B50C243F2}" destId="{A3855AD5-F25C-42B6-B06A-89B747D6701C}" srcOrd="1" destOrd="0" presId="urn:microsoft.com/office/officeart/2005/8/layout/target3"/>
    <dgm:cxn modelId="{756AD35B-EC1D-4411-881D-0AD2850D24EE}" type="presOf" srcId="{D69D6407-5DF2-4FC3-A64E-110B50C243F2}" destId="{AF19F208-1D39-4E39-8957-4B8A1B8FE1EA}" srcOrd="0" destOrd="0" presId="urn:microsoft.com/office/officeart/2005/8/layout/target3"/>
    <dgm:cxn modelId="{A1A7875A-22A6-42EC-B902-0AECB1F5A001}" type="presOf" srcId="{2488E4CC-541E-4BA4-8A69-03B003C6E4F8}" destId="{66417349-0466-44E8-87AF-34C991C30AE5}" srcOrd="1" destOrd="0" presId="urn:microsoft.com/office/officeart/2005/8/layout/target3"/>
    <dgm:cxn modelId="{847B6082-4C7B-4241-94E0-04803097BB11}" type="presOf" srcId="{BAA2A243-BAD9-4C47-B09F-A519C72EC9FD}" destId="{C668B658-19CD-442B-A86E-F718C0DAC02B}" srcOrd="0" destOrd="0" presId="urn:microsoft.com/office/officeart/2005/8/layout/target3"/>
    <dgm:cxn modelId="{59ED4488-A157-4A00-980F-73858F34EE50}" type="presOf" srcId="{227812DC-888C-42E1-ABDD-33ED29C15A31}" destId="{099E0D29-BF56-4694-A42E-BA6D79D03B1D}" srcOrd="1" destOrd="0" presId="urn:microsoft.com/office/officeart/2005/8/layout/target3"/>
    <dgm:cxn modelId="{A6122EA7-26AA-48D3-84C5-B024984C86E4}" srcId="{BAA2A243-BAD9-4C47-B09F-A519C72EC9FD}" destId="{227812DC-888C-42E1-ABDD-33ED29C15A31}" srcOrd="1" destOrd="0" parTransId="{65BA1C73-9BA0-4CBE-A4DB-9844334B0566}" sibTransId="{3834B7BC-B7AF-45D7-8DF2-5279C65E2DF8}"/>
    <dgm:cxn modelId="{B16C6F1D-3FA5-466A-9CB6-27694AA5A6FC}" srcId="{BAA2A243-BAD9-4C47-B09F-A519C72EC9FD}" destId="{2488E4CC-541E-4BA4-8A69-03B003C6E4F8}" srcOrd="3" destOrd="0" parTransId="{902D637D-21B9-4A96-87B8-E0C83D69F4CF}" sibTransId="{4D6F4C80-4993-424D-8D6C-8CCF65DD021A}"/>
    <dgm:cxn modelId="{C4A5A20C-6530-417A-BD38-30C41CD9575C}" type="presOf" srcId="{227812DC-888C-42E1-ABDD-33ED29C15A31}" destId="{C52623D4-6668-4829-A23C-7EBEBF0509E1}" srcOrd="0" destOrd="0" presId="urn:microsoft.com/office/officeart/2005/8/layout/target3"/>
    <dgm:cxn modelId="{29B9374C-F277-4685-BB00-64E402464E1A}" srcId="{BAA2A243-BAD9-4C47-B09F-A519C72EC9FD}" destId="{AE3FD80F-888C-4F3E-A2C0-95B464C4392C}" srcOrd="2" destOrd="0" parTransId="{14ABBB94-FC06-42BD-9A4A-FD506C601000}" sibTransId="{833B3EF4-2AAB-48C1-86A8-20FC172BED4D}"/>
    <dgm:cxn modelId="{2B165142-04F1-48AA-BC80-6D5E527E6F2E}" type="presOf" srcId="{2488E4CC-541E-4BA4-8A69-03B003C6E4F8}" destId="{972FD5B9-60F5-4161-8239-DDDC1FEC4AFE}" srcOrd="0" destOrd="0" presId="urn:microsoft.com/office/officeart/2005/8/layout/target3"/>
    <dgm:cxn modelId="{FF15D898-CBA3-4816-9105-094B129319FE}" type="presParOf" srcId="{C668B658-19CD-442B-A86E-F718C0DAC02B}" destId="{45563474-9AB2-4DA5-B896-8022210755C9}" srcOrd="0" destOrd="0" presId="urn:microsoft.com/office/officeart/2005/8/layout/target3"/>
    <dgm:cxn modelId="{CCC1638D-7D2E-41FC-B22D-BB37C924A553}" type="presParOf" srcId="{C668B658-19CD-442B-A86E-F718C0DAC02B}" destId="{2FC0081E-F695-4A21-BE5B-A937C2D00073}" srcOrd="1" destOrd="0" presId="urn:microsoft.com/office/officeart/2005/8/layout/target3"/>
    <dgm:cxn modelId="{30D841BB-6BDB-4024-B749-0EF808F707EC}" type="presParOf" srcId="{C668B658-19CD-442B-A86E-F718C0DAC02B}" destId="{AF19F208-1D39-4E39-8957-4B8A1B8FE1EA}" srcOrd="2" destOrd="0" presId="urn:microsoft.com/office/officeart/2005/8/layout/target3"/>
    <dgm:cxn modelId="{475DE8BC-8FAC-456C-910F-2968F21DD9D6}" type="presParOf" srcId="{C668B658-19CD-442B-A86E-F718C0DAC02B}" destId="{57767A49-448E-4E86-BC42-2EF63A0A2A23}" srcOrd="3" destOrd="0" presId="urn:microsoft.com/office/officeart/2005/8/layout/target3"/>
    <dgm:cxn modelId="{2FEB4DF6-69A9-4186-A623-F53EC3D26FF6}" type="presParOf" srcId="{C668B658-19CD-442B-A86E-F718C0DAC02B}" destId="{B91174AF-40DE-4383-90AA-F7F8C101758D}" srcOrd="4" destOrd="0" presId="urn:microsoft.com/office/officeart/2005/8/layout/target3"/>
    <dgm:cxn modelId="{6001887F-6643-4547-B8D6-F5A64FAA3884}" type="presParOf" srcId="{C668B658-19CD-442B-A86E-F718C0DAC02B}" destId="{C52623D4-6668-4829-A23C-7EBEBF0509E1}" srcOrd="5" destOrd="0" presId="urn:microsoft.com/office/officeart/2005/8/layout/target3"/>
    <dgm:cxn modelId="{1541ED89-6FAD-4FAB-9639-ACC2C685A7DE}" type="presParOf" srcId="{C668B658-19CD-442B-A86E-F718C0DAC02B}" destId="{6CA9FA5B-E9CB-4DA1-A0E0-2886B8CAAACB}" srcOrd="6" destOrd="0" presId="urn:microsoft.com/office/officeart/2005/8/layout/target3"/>
    <dgm:cxn modelId="{C3223782-531E-4E66-A2B3-4A57D1416D64}" type="presParOf" srcId="{C668B658-19CD-442B-A86E-F718C0DAC02B}" destId="{32B86162-29CD-4287-A8B1-3CBE749C7388}" srcOrd="7" destOrd="0" presId="urn:microsoft.com/office/officeart/2005/8/layout/target3"/>
    <dgm:cxn modelId="{1941F8CE-1EEC-4DE1-A783-B2455F58E726}" type="presParOf" srcId="{C668B658-19CD-442B-A86E-F718C0DAC02B}" destId="{A573B078-2CD1-4049-8E5C-CB981E43705B}" srcOrd="8" destOrd="0" presId="urn:microsoft.com/office/officeart/2005/8/layout/target3"/>
    <dgm:cxn modelId="{441BAFB0-1C3D-43A4-B812-0839B8DA4877}" type="presParOf" srcId="{C668B658-19CD-442B-A86E-F718C0DAC02B}" destId="{B9B3F19E-A895-4F17-A930-7E175BFD717B}" srcOrd="9" destOrd="0" presId="urn:microsoft.com/office/officeart/2005/8/layout/target3"/>
    <dgm:cxn modelId="{29DE6C9E-D011-42E4-93C3-EAC352B26562}" type="presParOf" srcId="{C668B658-19CD-442B-A86E-F718C0DAC02B}" destId="{362AB059-058F-4944-BA91-5E34F91D4285}" srcOrd="10" destOrd="0" presId="urn:microsoft.com/office/officeart/2005/8/layout/target3"/>
    <dgm:cxn modelId="{FB2CD8D1-9813-46BB-B9B3-4199B448DF89}" type="presParOf" srcId="{C668B658-19CD-442B-A86E-F718C0DAC02B}" destId="{972FD5B9-60F5-4161-8239-DDDC1FEC4AFE}" srcOrd="11" destOrd="0" presId="urn:microsoft.com/office/officeart/2005/8/layout/target3"/>
    <dgm:cxn modelId="{7859C9E9-1C5D-4BDC-83FE-39AF9A03BC9C}" type="presParOf" srcId="{C668B658-19CD-442B-A86E-F718C0DAC02B}" destId="{A3855AD5-F25C-42B6-B06A-89B747D6701C}" srcOrd="12" destOrd="0" presId="urn:microsoft.com/office/officeart/2005/8/layout/target3"/>
    <dgm:cxn modelId="{CBCC06A3-F433-4D36-92C1-7AAE2C2779B8}" type="presParOf" srcId="{C668B658-19CD-442B-A86E-F718C0DAC02B}" destId="{099E0D29-BF56-4694-A42E-BA6D79D03B1D}" srcOrd="13" destOrd="0" presId="urn:microsoft.com/office/officeart/2005/8/layout/target3"/>
    <dgm:cxn modelId="{F08AD524-022C-430C-9A58-5523F8210CC8}" type="presParOf" srcId="{C668B658-19CD-442B-A86E-F718C0DAC02B}" destId="{4CA31830-15FF-43D0-AE6E-E3C8E4EC0197}" srcOrd="14" destOrd="0" presId="urn:microsoft.com/office/officeart/2005/8/layout/target3"/>
    <dgm:cxn modelId="{9D02E212-F217-416E-979E-23F3D3E16EEA}" type="presParOf" srcId="{C668B658-19CD-442B-A86E-F718C0DAC02B}" destId="{66417349-0466-44E8-87AF-34C991C30AE5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5A85C5A-9A20-46A4-82D7-E59B4536B2C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91D2EF7-2E3E-4DD7-B86C-4293C39D5384}">
      <dgm:prSet/>
      <dgm:spPr/>
      <dgm:t>
        <a:bodyPr/>
        <a:lstStyle/>
        <a:p>
          <a:pPr rtl="0"/>
          <a:r>
            <a:rPr lang="en-US" b="1" smtClean="0"/>
            <a:t>Primary Pollutants Identified:</a:t>
          </a:r>
          <a:r>
            <a:rPr lang="en-US" smtClean="0"/>
            <a:t> The analysis focuses on $CO$, $NO_2$, $O_3$, $PM10$, $PM2.5$, and $SO_2$.</a:t>
          </a:r>
          <a:endParaRPr lang="en-IN"/>
        </a:p>
      </dgm:t>
    </dgm:pt>
    <dgm:pt modelId="{FE5B1897-30A3-4D47-B202-A36A6DE4268C}" type="parTrans" cxnId="{9254ABB2-2AD8-45DE-ABC4-4E7822D47EEF}">
      <dgm:prSet/>
      <dgm:spPr/>
      <dgm:t>
        <a:bodyPr/>
        <a:lstStyle/>
        <a:p>
          <a:endParaRPr lang="en-IN"/>
        </a:p>
      </dgm:t>
    </dgm:pt>
    <dgm:pt modelId="{A8B714A9-E716-46D6-82A5-F3CAF1F9AB6C}" type="sibTrans" cxnId="{9254ABB2-2AD8-45DE-ABC4-4E7822D47EEF}">
      <dgm:prSet/>
      <dgm:spPr/>
      <dgm:t>
        <a:bodyPr/>
        <a:lstStyle/>
        <a:p>
          <a:endParaRPr lang="en-IN"/>
        </a:p>
      </dgm:t>
    </dgm:pt>
    <dgm:pt modelId="{1D9AA5AE-77D7-45F4-B5CA-44D461A71596}">
      <dgm:prSet/>
      <dgm:spPr/>
      <dgm:t>
        <a:bodyPr/>
        <a:lstStyle/>
        <a:p>
          <a:pPr rtl="0"/>
          <a:r>
            <a:rPr lang="en-US" b="1" smtClean="0"/>
            <a:t>Observed Trends:</a:t>
          </a:r>
          <a:r>
            <a:rPr lang="en-US" smtClean="0"/>
            <a:t> Data indicates that pollution levels reach "Morning peaks".</a:t>
          </a:r>
          <a:endParaRPr lang="en-IN"/>
        </a:p>
      </dgm:t>
    </dgm:pt>
    <dgm:pt modelId="{3DD4407F-DAFC-49DA-86DB-E2A4E7A7C30F}" type="parTrans" cxnId="{F539836F-3B14-4409-A6BD-CE7A2F60CD15}">
      <dgm:prSet/>
      <dgm:spPr/>
      <dgm:t>
        <a:bodyPr/>
        <a:lstStyle/>
        <a:p>
          <a:endParaRPr lang="en-IN"/>
        </a:p>
      </dgm:t>
    </dgm:pt>
    <dgm:pt modelId="{D4BA24FA-2FCB-46A1-8A04-FDE78514B3C7}" type="sibTrans" cxnId="{F539836F-3B14-4409-A6BD-CE7A2F60CD15}">
      <dgm:prSet/>
      <dgm:spPr/>
      <dgm:t>
        <a:bodyPr/>
        <a:lstStyle/>
        <a:p>
          <a:endParaRPr lang="en-IN"/>
        </a:p>
      </dgm:t>
    </dgm:pt>
    <dgm:pt modelId="{AE83F6E3-2A87-4D4C-9B03-ECCE9D30BCAA}">
      <dgm:prSet/>
      <dgm:spPr/>
      <dgm:t>
        <a:bodyPr/>
        <a:lstStyle/>
        <a:p>
          <a:pPr rtl="0"/>
          <a:r>
            <a:rPr lang="en-US" b="1" smtClean="0"/>
            <a:t>Primary Cause:</a:t>
          </a:r>
          <a:r>
            <a:rPr lang="en-US" smtClean="0"/>
            <a:t> "Vehicle exhaust" is identified as the first possible cause for these elevated levels.</a:t>
          </a:r>
          <a:endParaRPr lang="en-IN"/>
        </a:p>
      </dgm:t>
    </dgm:pt>
    <dgm:pt modelId="{BEAADD6D-AB22-43B8-B593-221CDED06296}" type="parTrans" cxnId="{98D71104-642F-47DD-911B-B7010FF79A0B}">
      <dgm:prSet/>
      <dgm:spPr/>
      <dgm:t>
        <a:bodyPr/>
        <a:lstStyle/>
        <a:p>
          <a:endParaRPr lang="en-IN"/>
        </a:p>
      </dgm:t>
    </dgm:pt>
    <dgm:pt modelId="{20106E61-E0A2-4CDB-8773-6B2C7289D5E3}" type="sibTrans" cxnId="{98D71104-642F-47DD-911B-B7010FF79A0B}">
      <dgm:prSet/>
      <dgm:spPr/>
      <dgm:t>
        <a:bodyPr/>
        <a:lstStyle/>
        <a:p>
          <a:endParaRPr lang="en-IN"/>
        </a:p>
      </dgm:t>
    </dgm:pt>
    <dgm:pt modelId="{5550C81A-9083-4B68-88F5-026DDC4AB23F}" type="pres">
      <dgm:prSet presAssocID="{85A85C5A-9A20-46A4-82D7-E59B4536B2C4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48B9F0DC-B3AC-419A-9B9F-463EEBBFEBCC}" type="pres">
      <dgm:prSet presAssocID="{691D2EF7-2E3E-4DD7-B86C-4293C39D5384}" presName="composite" presStyleCnt="0"/>
      <dgm:spPr/>
    </dgm:pt>
    <dgm:pt modelId="{7FFD873E-548E-4701-8E14-203C2E60F8DE}" type="pres">
      <dgm:prSet presAssocID="{691D2EF7-2E3E-4DD7-B86C-4293C39D5384}" presName="imgShp" presStyleLbl="fgImgPlace1" presStyleIdx="0" presStyleCnt="3"/>
      <dgm:spPr/>
    </dgm:pt>
    <dgm:pt modelId="{C09B222D-42CB-4985-A81E-2887875217F1}" type="pres">
      <dgm:prSet presAssocID="{691D2EF7-2E3E-4DD7-B86C-4293C39D5384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A3C3782-E8BE-4024-A2BE-7B0C0F654734}" type="pres">
      <dgm:prSet presAssocID="{A8B714A9-E716-46D6-82A5-F3CAF1F9AB6C}" presName="spacing" presStyleCnt="0"/>
      <dgm:spPr/>
    </dgm:pt>
    <dgm:pt modelId="{37F4A1A7-4E53-4834-B9A9-76D1F3C91B9B}" type="pres">
      <dgm:prSet presAssocID="{1D9AA5AE-77D7-45F4-B5CA-44D461A71596}" presName="composite" presStyleCnt="0"/>
      <dgm:spPr/>
    </dgm:pt>
    <dgm:pt modelId="{0287FED3-26B7-4B0D-8392-5F11EAD4DF61}" type="pres">
      <dgm:prSet presAssocID="{1D9AA5AE-77D7-45F4-B5CA-44D461A71596}" presName="imgShp" presStyleLbl="fgImgPlace1" presStyleIdx="1" presStyleCnt="3"/>
      <dgm:spPr/>
    </dgm:pt>
    <dgm:pt modelId="{24B13565-CE81-459F-9F67-46395C2F8F20}" type="pres">
      <dgm:prSet presAssocID="{1D9AA5AE-77D7-45F4-B5CA-44D461A71596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71BF2EE-5B6A-409C-AA51-5C0B72A4AAFC}" type="pres">
      <dgm:prSet presAssocID="{D4BA24FA-2FCB-46A1-8A04-FDE78514B3C7}" presName="spacing" presStyleCnt="0"/>
      <dgm:spPr/>
    </dgm:pt>
    <dgm:pt modelId="{92C2EE08-FB13-4C3B-9274-55A027DD45C9}" type="pres">
      <dgm:prSet presAssocID="{AE83F6E3-2A87-4D4C-9B03-ECCE9D30BCAA}" presName="composite" presStyleCnt="0"/>
      <dgm:spPr/>
    </dgm:pt>
    <dgm:pt modelId="{99E1402C-B269-4A8F-9B66-D18475D976E8}" type="pres">
      <dgm:prSet presAssocID="{AE83F6E3-2A87-4D4C-9B03-ECCE9D30BCAA}" presName="imgShp" presStyleLbl="fgImgPlace1" presStyleIdx="2" presStyleCnt="3"/>
      <dgm:spPr/>
    </dgm:pt>
    <dgm:pt modelId="{39866816-F1F3-4314-ADD9-636F77DD6331}" type="pres">
      <dgm:prSet presAssocID="{AE83F6E3-2A87-4D4C-9B03-ECCE9D30BCAA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16F505A3-BAFE-4E9E-BC2B-2E64FBF14EBC}" type="presOf" srcId="{691D2EF7-2E3E-4DD7-B86C-4293C39D5384}" destId="{C09B222D-42CB-4985-A81E-2887875217F1}" srcOrd="0" destOrd="0" presId="urn:microsoft.com/office/officeart/2005/8/layout/vList3"/>
    <dgm:cxn modelId="{BF23B585-B85A-4C3F-8C05-12A9DC214216}" type="presOf" srcId="{1D9AA5AE-77D7-45F4-B5CA-44D461A71596}" destId="{24B13565-CE81-459F-9F67-46395C2F8F20}" srcOrd="0" destOrd="0" presId="urn:microsoft.com/office/officeart/2005/8/layout/vList3"/>
    <dgm:cxn modelId="{F539836F-3B14-4409-A6BD-CE7A2F60CD15}" srcId="{85A85C5A-9A20-46A4-82D7-E59B4536B2C4}" destId="{1D9AA5AE-77D7-45F4-B5CA-44D461A71596}" srcOrd="1" destOrd="0" parTransId="{3DD4407F-DAFC-49DA-86DB-E2A4E7A7C30F}" sibTransId="{D4BA24FA-2FCB-46A1-8A04-FDE78514B3C7}"/>
    <dgm:cxn modelId="{98D71104-642F-47DD-911B-B7010FF79A0B}" srcId="{85A85C5A-9A20-46A4-82D7-E59B4536B2C4}" destId="{AE83F6E3-2A87-4D4C-9B03-ECCE9D30BCAA}" srcOrd="2" destOrd="0" parTransId="{BEAADD6D-AB22-43B8-B593-221CDED06296}" sibTransId="{20106E61-E0A2-4CDB-8773-6B2C7289D5E3}"/>
    <dgm:cxn modelId="{9254ABB2-2AD8-45DE-ABC4-4E7822D47EEF}" srcId="{85A85C5A-9A20-46A4-82D7-E59B4536B2C4}" destId="{691D2EF7-2E3E-4DD7-B86C-4293C39D5384}" srcOrd="0" destOrd="0" parTransId="{FE5B1897-30A3-4D47-B202-A36A6DE4268C}" sibTransId="{A8B714A9-E716-46D6-82A5-F3CAF1F9AB6C}"/>
    <dgm:cxn modelId="{57CB72FA-14B0-4754-AE28-6FF16E9DFD05}" type="presOf" srcId="{85A85C5A-9A20-46A4-82D7-E59B4536B2C4}" destId="{5550C81A-9083-4B68-88F5-026DDC4AB23F}" srcOrd="0" destOrd="0" presId="urn:microsoft.com/office/officeart/2005/8/layout/vList3"/>
    <dgm:cxn modelId="{90FC3C6D-EC6D-46C2-A469-8856CE73EF14}" type="presOf" srcId="{AE83F6E3-2A87-4D4C-9B03-ECCE9D30BCAA}" destId="{39866816-F1F3-4314-ADD9-636F77DD6331}" srcOrd="0" destOrd="0" presId="urn:microsoft.com/office/officeart/2005/8/layout/vList3"/>
    <dgm:cxn modelId="{D7C2920F-9DE8-42C6-8C6C-EA83D4EB83CE}" type="presParOf" srcId="{5550C81A-9083-4B68-88F5-026DDC4AB23F}" destId="{48B9F0DC-B3AC-419A-9B9F-463EEBBFEBCC}" srcOrd="0" destOrd="0" presId="urn:microsoft.com/office/officeart/2005/8/layout/vList3"/>
    <dgm:cxn modelId="{9D2A2A67-D36C-4908-875B-7DD6C5D512C0}" type="presParOf" srcId="{48B9F0DC-B3AC-419A-9B9F-463EEBBFEBCC}" destId="{7FFD873E-548E-4701-8E14-203C2E60F8DE}" srcOrd="0" destOrd="0" presId="urn:microsoft.com/office/officeart/2005/8/layout/vList3"/>
    <dgm:cxn modelId="{EC3262CD-FC93-48BE-A30D-9C08EAE45E8D}" type="presParOf" srcId="{48B9F0DC-B3AC-419A-9B9F-463EEBBFEBCC}" destId="{C09B222D-42CB-4985-A81E-2887875217F1}" srcOrd="1" destOrd="0" presId="urn:microsoft.com/office/officeart/2005/8/layout/vList3"/>
    <dgm:cxn modelId="{90FC6498-7988-4984-8193-A20F8BAE124C}" type="presParOf" srcId="{5550C81A-9083-4B68-88F5-026DDC4AB23F}" destId="{BA3C3782-E8BE-4024-A2BE-7B0C0F654734}" srcOrd="1" destOrd="0" presId="urn:microsoft.com/office/officeart/2005/8/layout/vList3"/>
    <dgm:cxn modelId="{D5338A28-27E7-4F5F-844B-B621D339B2F1}" type="presParOf" srcId="{5550C81A-9083-4B68-88F5-026DDC4AB23F}" destId="{37F4A1A7-4E53-4834-B9A9-76D1F3C91B9B}" srcOrd="2" destOrd="0" presId="urn:microsoft.com/office/officeart/2005/8/layout/vList3"/>
    <dgm:cxn modelId="{27074567-7D00-43E2-9DCC-E1D6ED87BA10}" type="presParOf" srcId="{37F4A1A7-4E53-4834-B9A9-76D1F3C91B9B}" destId="{0287FED3-26B7-4B0D-8392-5F11EAD4DF61}" srcOrd="0" destOrd="0" presId="urn:microsoft.com/office/officeart/2005/8/layout/vList3"/>
    <dgm:cxn modelId="{A09C2B72-796E-42B9-8FA0-1DC63C5B1566}" type="presParOf" srcId="{37F4A1A7-4E53-4834-B9A9-76D1F3C91B9B}" destId="{24B13565-CE81-459F-9F67-46395C2F8F20}" srcOrd="1" destOrd="0" presId="urn:microsoft.com/office/officeart/2005/8/layout/vList3"/>
    <dgm:cxn modelId="{458DFF26-68E0-4645-9FCD-C71A8AAA87FE}" type="presParOf" srcId="{5550C81A-9083-4B68-88F5-026DDC4AB23F}" destId="{C71BF2EE-5B6A-409C-AA51-5C0B72A4AAFC}" srcOrd="3" destOrd="0" presId="urn:microsoft.com/office/officeart/2005/8/layout/vList3"/>
    <dgm:cxn modelId="{B89EE9FB-339F-4620-A4E8-86E3E700B778}" type="presParOf" srcId="{5550C81A-9083-4B68-88F5-026DDC4AB23F}" destId="{92C2EE08-FB13-4C3B-9274-55A027DD45C9}" srcOrd="4" destOrd="0" presId="urn:microsoft.com/office/officeart/2005/8/layout/vList3"/>
    <dgm:cxn modelId="{06A2614D-EEC5-44DF-825C-9D5E537FA131}" type="presParOf" srcId="{92C2EE08-FB13-4C3B-9274-55A027DD45C9}" destId="{99E1402C-B269-4A8F-9B66-D18475D976E8}" srcOrd="0" destOrd="0" presId="urn:microsoft.com/office/officeart/2005/8/layout/vList3"/>
    <dgm:cxn modelId="{BD7E8CA8-4C59-4D50-B6D8-1FA20F8938D2}" type="presParOf" srcId="{92C2EE08-FB13-4C3B-9274-55A027DD45C9}" destId="{39866816-F1F3-4314-ADD9-636F77DD633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FD782DB-6268-426D-B876-D41962A44D3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172F16D-C986-4FA4-A80A-004CA19F78A1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pPr rtl="0"/>
          <a:r>
            <a:rPr lang="en-US" sz="1600" b="1" dirty="0" smtClean="0"/>
            <a:t>Decarbonizing Transport:</a:t>
          </a:r>
          <a:r>
            <a:rPr lang="en-US" sz="1600" dirty="0" smtClean="0"/>
            <a:t> Prioritize the transition to </a:t>
          </a:r>
          <a:r>
            <a:rPr lang="en-US" sz="1600" b="1" dirty="0" smtClean="0"/>
            <a:t>Electric Vehicles (EVs)</a:t>
          </a:r>
          <a:r>
            <a:rPr lang="en-US" sz="1600" dirty="0" smtClean="0"/>
            <a:t> and improve traffic flow to mitigate "Morning Peaks" caused by vehicle exhaust, which the data identifies as a primary pollutant source.</a:t>
          </a:r>
          <a:endParaRPr lang="en-IN" sz="1600" dirty="0"/>
        </a:p>
      </dgm:t>
    </dgm:pt>
    <dgm:pt modelId="{AC084FA2-D347-4EC7-971C-B0FA2A441E93}" type="parTrans" cxnId="{533D6892-D4C5-4FCE-BEDD-554680B054C8}">
      <dgm:prSet/>
      <dgm:spPr/>
      <dgm:t>
        <a:bodyPr/>
        <a:lstStyle/>
        <a:p>
          <a:endParaRPr lang="en-IN"/>
        </a:p>
      </dgm:t>
    </dgm:pt>
    <dgm:pt modelId="{8D219180-4A35-4A8A-BA66-77EF87095E51}" type="sibTrans" cxnId="{533D6892-D4C5-4FCE-BEDD-554680B054C8}">
      <dgm:prSet/>
      <dgm:spPr/>
      <dgm:t>
        <a:bodyPr/>
        <a:lstStyle/>
        <a:p>
          <a:endParaRPr lang="en-IN"/>
        </a:p>
      </dgm:t>
    </dgm:pt>
    <dgm:pt modelId="{3843CBB6-6A33-43CF-B6B5-4BABAF1A1DC9}">
      <dgm:prSet custT="1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pPr rtl="0"/>
          <a:r>
            <a:rPr lang="en-US" sz="1600" b="1" dirty="0" smtClean="0"/>
            <a:t>Stricter Industrial Oversight:</a:t>
          </a:r>
          <a:r>
            <a:rPr lang="en-US" sz="1600" dirty="0" smtClean="0"/>
            <a:t> Implement 24/7 real-time monitoring of $SO_2$ and $NO_2$ in industrial clusters to prevent cities from entering the "Severe" category.</a:t>
          </a:r>
          <a:endParaRPr lang="en-IN" sz="1600" dirty="0"/>
        </a:p>
      </dgm:t>
    </dgm:pt>
    <dgm:pt modelId="{8BEDA74F-EAB1-4F30-831E-931B6C8F46D9}" type="parTrans" cxnId="{F26CC3EB-EA66-4EDD-926A-38C472E1F2BB}">
      <dgm:prSet/>
      <dgm:spPr/>
      <dgm:t>
        <a:bodyPr/>
        <a:lstStyle/>
        <a:p>
          <a:endParaRPr lang="en-IN"/>
        </a:p>
      </dgm:t>
    </dgm:pt>
    <dgm:pt modelId="{E8F015AD-D19B-408C-BD71-4C15249E8819}" type="sibTrans" cxnId="{F26CC3EB-EA66-4EDD-926A-38C472E1F2BB}">
      <dgm:prSet/>
      <dgm:spPr/>
      <dgm:t>
        <a:bodyPr/>
        <a:lstStyle/>
        <a:p>
          <a:endParaRPr lang="en-IN"/>
        </a:p>
      </dgm:t>
    </dgm:pt>
    <dgm:pt modelId="{DB0E994A-04B3-4BF3-9E61-D262F1FFDE70}">
      <dgm:prSet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pPr rtl="0"/>
          <a:r>
            <a:rPr lang="en-US" sz="1600" b="1" dirty="0" smtClean="0"/>
            <a:t>Public Health Safeguards:</a:t>
          </a:r>
          <a:r>
            <a:rPr lang="en-US" sz="1600" dirty="0" smtClean="0"/>
            <a:t> Use AQI data to trigger "Low-Activity Alerts" during peak hours to protect citizens from respiratory distress and reduced oxygen transport.</a:t>
          </a:r>
          <a:endParaRPr lang="en-IN" sz="1600" dirty="0"/>
        </a:p>
      </dgm:t>
    </dgm:pt>
    <dgm:pt modelId="{50C14243-2203-49B6-A51C-706B20A489A2}" type="parTrans" cxnId="{48CE4979-CC62-46A2-932A-BC07CA653F7B}">
      <dgm:prSet/>
      <dgm:spPr/>
      <dgm:t>
        <a:bodyPr/>
        <a:lstStyle/>
        <a:p>
          <a:endParaRPr lang="en-IN"/>
        </a:p>
      </dgm:t>
    </dgm:pt>
    <dgm:pt modelId="{45AC0FF6-768F-44EC-B6AE-E9FF70C5B39F}" type="sibTrans" cxnId="{48CE4979-CC62-46A2-932A-BC07CA653F7B}">
      <dgm:prSet/>
      <dgm:spPr/>
      <dgm:t>
        <a:bodyPr/>
        <a:lstStyle/>
        <a:p>
          <a:endParaRPr lang="en-IN"/>
        </a:p>
      </dgm:t>
    </dgm:pt>
    <dgm:pt modelId="{7DD0E00D-F1C2-486C-BB32-8D73BFE322CA}">
      <dgm:prSet/>
      <dgm:spPr>
        <a:solidFill>
          <a:schemeClr val="tx1">
            <a:lumMod val="85000"/>
            <a:lumOff val="15000"/>
          </a:schemeClr>
        </a:solidFill>
      </dgm:spPr>
      <dgm:t>
        <a:bodyPr/>
        <a:lstStyle/>
        <a:p>
          <a:pPr rtl="0"/>
          <a:r>
            <a:rPr lang="en-US" b="1" dirty="0" smtClean="0"/>
            <a:t>Infrastructure &amp; Policy:</a:t>
          </a:r>
          <a:r>
            <a:rPr lang="en-US" dirty="0" smtClean="0"/>
            <a:t> Expand urban green belts to act as natural $PM_{10}$ filters and enforce cleaner fuel standards across all major metropolitan hubs.</a:t>
          </a:r>
          <a:endParaRPr lang="en-IN" dirty="0"/>
        </a:p>
      </dgm:t>
    </dgm:pt>
    <dgm:pt modelId="{1EA851BC-72BF-4468-B9F0-D1A2A0061766}" type="parTrans" cxnId="{BE920FD8-0000-40CA-BC1A-E933945E4988}">
      <dgm:prSet/>
      <dgm:spPr/>
      <dgm:t>
        <a:bodyPr/>
        <a:lstStyle/>
        <a:p>
          <a:endParaRPr lang="en-IN"/>
        </a:p>
      </dgm:t>
    </dgm:pt>
    <dgm:pt modelId="{5AB3A195-2C9F-4EAC-A1A1-7BA3F147F10B}" type="sibTrans" cxnId="{BE920FD8-0000-40CA-BC1A-E933945E4988}">
      <dgm:prSet/>
      <dgm:spPr/>
      <dgm:t>
        <a:bodyPr/>
        <a:lstStyle/>
        <a:p>
          <a:endParaRPr lang="en-IN"/>
        </a:p>
      </dgm:t>
    </dgm:pt>
    <dgm:pt modelId="{6B6523DD-A1B1-436A-8CC7-6E0C42D141D1}">
      <dgm:prSet/>
      <dgm:spPr/>
    </dgm:pt>
    <dgm:pt modelId="{E56558D5-BCCC-464A-9327-123534BAFC8C}" type="parTrans" cxnId="{77257731-C13A-4BED-9855-75EE21C0648B}">
      <dgm:prSet/>
      <dgm:spPr/>
      <dgm:t>
        <a:bodyPr/>
        <a:lstStyle/>
        <a:p>
          <a:endParaRPr lang="en-IN"/>
        </a:p>
      </dgm:t>
    </dgm:pt>
    <dgm:pt modelId="{02EB4CE7-16C1-40F6-989B-80A387589264}" type="sibTrans" cxnId="{77257731-C13A-4BED-9855-75EE21C0648B}">
      <dgm:prSet/>
      <dgm:spPr/>
      <dgm:t>
        <a:bodyPr/>
        <a:lstStyle/>
        <a:p>
          <a:endParaRPr lang="en-IN"/>
        </a:p>
      </dgm:t>
    </dgm:pt>
    <dgm:pt modelId="{16F002DB-93AE-451D-A582-A4296F0286D4}" type="pres">
      <dgm:prSet presAssocID="{7FD782DB-6268-426D-B876-D41962A44D39}" presName="matrix" presStyleCnt="0">
        <dgm:presLayoutVars>
          <dgm:chMax val="1"/>
          <dgm:dir/>
          <dgm:resizeHandles val="exact"/>
        </dgm:presLayoutVars>
      </dgm:prSet>
      <dgm:spPr/>
    </dgm:pt>
    <dgm:pt modelId="{17934D01-C5C5-4D34-993E-9028623A469F}" type="pres">
      <dgm:prSet presAssocID="{7FD782DB-6268-426D-B876-D41962A44D39}" presName="diamond" presStyleLbl="bgShp" presStyleIdx="0" presStyleCnt="1"/>
      <dgm:spPr/>
    </dgm:pt>
    <dgm:pt modelId="{2CBBCE66-BAB0-4FDD-9A4A-1D8988914D19}" type="pres">
      <dgm:prSet presAssocID="{7FD782DB-6268-426D-B876-D41962A44D39}" presName="quad1" presStyleLbl="node1" presStyleIdx="0" presStyleCnt="4" custScaleX="204906" custScaleY="99292" custLinFactNeighborX="-54203" custLinFactNeighborY="0">
        <dgm:presLayoutVars>
          <dgm:chMax val="0"/>
          <dgm:chPref val="0"/>
          <dgm:bulletEnabled val="1"/>
        </dgm:presLayoutVars>
      </dgm:prSet>
      <dgm:spPr/>
    </dgm:pt>
    <dgm:pt modelId="{644E104F-01E6-42DE-B6BB-C18668B9483D}" type="pres">
      <dgm:prSet presAssocID="{7FD782DB-6268-426D-B876-D41962A44D39}" presName="quad2" presStyleLbl="node1" presStyleIdx="1" presStyleCnt="4" custScaleX="182058" custScaleY="103975" custLinFactNeighborX="51927" custLinFactNeighborY="-354">
        <dgm:presLayoutVars>
          <dgm:chMax val="0"/>
          <dgm:chPref val="0"/>
          <dgm:bulletEnabled val="1"/>
        </dgm:presLayoutVars>
      </dgm:prSet>
      <dgm:spPr/>
    </dgm:pt>
    <dgm:pt modelId="{E6587E5A-AF49-4EA1-AA3F-A0D0EEC1FE72}" type="pres">
      <dgm:prSet presAssocID="{7FD782DB-6268-426D-B876-D41962A44D39}" presName="quad3" presStyleLbl="node1" presStyleIdx="2" presStyleCnt="4" custScaleX="200309" custScaleY="112133" custLinFactNeighborX="-55627" custLinFactNeighborY="2099">
        <dgm:presLayoutVars>
          <dgm:chMax val="0"/>
          <dgm:chPref val="0"/>
          <dgm:bulletEnabled val="1"/>
        </dgm:presLayoutVars>
      </dgm:prSet>
      <dgm:spPr/>
    </dgm:pt>
    <dgm:pt modelId="{7D7D10F3-C0E8-4FE3-B317-886EF9D150BE}" type="pres">
      <dgm:prSet presAssocID="{7FD782DB-6268-426D-B876-D41962A44D39}" presName="quad4" presStyleLbl="node1" presStyleIdx="3" presStyleCnt="4" custScaleX="182292" custScaleY="104199" custLinFactNeighborX="52683" custLinFactNeighborY="2212">
        <dgm:presLayoutVars>
          <dgm:chMax val="0"/>
          <dgm:chPref val="0"/>
          <dgm:bulletEnabled val="1"/>
        </dgm:presLayoutVars>
      </dgm:prSet>
      <dgm:spPr/>
    </dgm:pt>
  </dgm:ptLst>
  <dgm:cxnLst>
    <dgm:cxn modelId="{2E0A4B30-0236-4B6A-9255-9102337DD4BE}" type="presOf" srcId="{7DD0E00D-F1C2-486C-BB32-8D73BFE322CA}" destId="{7D7D10F3-C0E8-4FE3-B317-886EF9D150BE}" srcOrd="0" destOrd="0" presId="urn:microsoft.com/office/officeart/2005/8/layout/matrix3"/>
    <dgm:cxn modelId="{77257731-C13A-4BED-9855-75EE21C0648B}" srcId="{7FD782DB-6268-426D-B876-D41962A44D39}" destId="{6B6523DD-A1B1-436A-8CC7-6E0C42D141D1}" srcOrd="4" destOrd="0" parTransId="{E56558D5-BCCC-464A-9327-123534BAFC8C}" sibTransId="{02EB4CE7-16C1-40F6-989B-80A387589264}"/>
    <dgm:cxn modelId="{B0D7FF4D-00EB-498A-B206-C353D27F3BD1}" type="presOf" srcId="{3843CBB6-6A33-43CF-B6B5-4BABAF1A1DC9}" destId="{644E104F-01E6-42DE-B6BB-C18668B9483D}" srcOrd="0" destOrd="0" presId="urn:microsoft.com/office/officeart/2005/8/layout/matrix3"/>
    <dgm:cxn modelId="{F26CC3EB-EA66-4EDD-926A-38C472E1F2BB}" srcId="{7FD782DB-6268-426D-B876-D41962A44D39}" destId="{3843CBB6-6A33-43CF-B6B5-4BABAF1A1DC9}" srcOrd="1" destOrd="0" parTransId="{8BEDA74F-EAB1-4F30-831E-931B6C8F46D9}" sibTransId="{E8F015AD-D19B-408C-BD71-4C15249E8819}"/>
    <dgm:cxn modelId="{1756F535-ED61-4949-8E19-7FD49C315C35}" type="presOf" srcId="{9172F16D-C986-4FA4-A80A-004CA19F78A1}" destId="{2CBBCE66-BAB0-4FDD-9A4A-1D8988914D19}" srcOrd="0" destOrd="0" presId="urn:microsoft.com/office/officeart/2005/8/layout/matrix3"/>
    <dgm:cxn modelId="{BE920FD8-0000-40CA-BC1A-E933945E4988}" srcId="{7FD782DB-6268-426D-B876-D41962A44D39}" destId="{7DD0E00D-F1C2-486C-BB32-8D73BFE322CA}" srcOrd="3" destOrd="0" parTransId="{1EA851BC-72BF-4468-B9F0-D1A2A0061766}" sibTransId="{5AB3A195-2C9F-4EAC-A1A1-7BA3F147F10B}"/>
    <dgm:cxn modelId="{48CE4979-CC62-46A2-932A-BC07CA653F7B}" srcId="{7FD782DB-6268-426D-B876-D41962A44D39}" destId="{DB0E994A-04B3-4BF3-9E61-D262F1FFDE70}" srcOrd="2" destOrd="0" parTransId="{50C14243-2203-49B6-A51C-706B20A489A2}" sibTransId="{45AC0FF6-768F-44EC-B6AE-E9FF70C5B39F}"/>
    <dgm:cxn modelId="{A6691238-CFE8-4135-BBB1-ABC32B6ADB31}" type="presOf" srcId="{7FD782DB-6268-426D-B876-D41962A44D39}" destId="{16F002DB-93AE-451D-A582-A4296F0286D4}" srcOrd="0" destOrd="0" presId="urn:microsoft.com/office/officeart/2005/8/layout/matrix3"/>
    <dgm:cxn modelId="{F038FAEE-AD6D-4FAC-9734-0218A0CE1152}" type="presOf" srcId="{DB0E994A-04B3-4BF3-9E61-D262F1FFDE70}" destId="{E6587E5A-AF49-4EA1-AA3F-A0D0EEC1FE72}" srcOrd="0" destOrd="0" presId="urn:microsoft.com/office/officeart/2005/8/layout/matrix3"/>
    <dgm:cxn modelId="{533D6892-D4C5-4FCE-BEDD-554680B054C8}" srcId="{7FD782DB-6268-426D-B876-D41962A44D39}" destId="{9172F16D-C986-4FA4-A80A-004CA19F78A1}" srcOrd="0" destOrd="0" parTransId="{AC084FA2-D347-4EC7-971C-B0FA2A441E93}" sibTransId="{8D219180-4A35-4A8A-BA66-77EF87095E51}"/>
    <dgm:cxn modelId="{4E262A5F-7A61-48B6-8541-DFB0547F97D5}" type="presParOf" srcId="{16F002DB-93AE-451D-A582-A4296F0286D4}" destId="{17934D01-C5C5-4D34-993E-9028623A469F}" srcOrd="0" destOrd="0" presId="urn:microsoft.com/office/officeart/2005/8/layout/matrix3"/>
    <dgm:cxn modelId="{0924D5F0-23E8-4504-9B0E-3238F199A223}" type="presParOf" srcId="{16F002DB-93AE-451D-A582-A4296F0286D4}" destId="{2CBBCE66-BAB0-4FDD-9A4A-1D8988914D19}" srcOrd="1" destOrd="0" presId="urn:microsoft.com/office/officeart/2005/8/layout/matrix3"/>
    <dgm:cxn modelId="{688FC7BD-2776-4B56-B0AB-62EE1E6A4366}" type="presParOf" srcId="{16F002DB-93AE-451D-A582-A4296F0286D4}" destId="{644E104F-01E6-42DE-B6BB-C18668B9483D}" srcOrd="2" destOrd="0" presId="urn:microsoft.com/office/officeart/2005/8/layout/matrix3"/>
    <dgm:cxn modelId="{BB0C27F0-2B84-450F-8DF0-5ED9742A85A0}" type="presParOf" srcId="{16F002DB-93AE-451D-A582-A4296F0286D4}" destId="{E6587E5A-AF49-4EA1-AA3F-A0D0EEC1FE72}" srcOrd="3" destOrd="0" presId="urn:microsoft.com/office/officeart/2005/8/layout/matrix3"/>
    <dgm:cxn modelId="{809FE412-CC5E-4089-B4D0-4B663D42D8A1}" type="presParOf" srcId="{16F002DB-93AE-451D-A582-A4296F0286D4}" destId="{7D7D10F3-C0E8-4FE3-B317-886EF9D150B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8FDD47-9C76-467E-A131-A698CA5DF4AD}">
      <dsp:nvSpPr>
        <dsp:cNvPr id="0" name=""/>
        <dsp:cNvSpPr/>
      </dsp:nvSpPr>
      <dsp:spPr>
        <a:xfrm rot="10800000">
          <a:off x="925893" y="618195"/>
          <a:ext cx="6995075" cy="2756916"/>
        </a:xfrm>
        <a:prstGeom prst="homePlate">
          <a:avLst/>
        </a:prstGeom>
        <a:solidFill>
          <a:srgbClr val="0FFD9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5723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>
              <a:solidFill>
                <a:srgbClr val="002060"/>
              </a:solidFill>
            </a:rPr>
            <a:t>Air pollution levels in major Indian cities remain high despite control measures.</a:t>
          </a:r>
          <a:br>
            <a:rPr lang="en-US" sz="2300" kern="1200" dirty="0" smtClean="0">
              <a:solidFill>
                <a:srgbClr val="002060"/>
              </a:solidFill>
            </a:rPr>
          </a:br>
          <a:r>
            <a:rPr lang="en-US" sz="2300" kern="1200" dirty="0" smtClean="0">
              <a:solidFill>
                <a:srgbClr val="002060"/>
              </a:solidFill>
            </a:rPr>
            <a:t>There is limited clarity on how pollution changes over time across cities.</a:t>
          </a:r>
          <a:br>
            <a:rPr lang="en-US" sz="2300" kern="1200" dirty="0" smtClean="0">
              <a:solidFill>
                <a:srgbClr val="002060"/>
              </a:solidFill>
            </a:rPr>
          </a:br>
          <a:r>
            <a:rPr lang="en-US" sz="2300" kern="1200" dirty="0" smtClean="0">
              <a:solidFill>
                <a:srgbClr val="002060"/>
              </a:solidFill>
            </a:rPr>
            <a:t>This project uses Power BI to analyze city-wise air quality trends and identify problem areas</a:t>
          </a:r>
          <a:r>
            <a:rPr lang="en-US" sz="2300" kern="1200" dirty="0" smtClean="0"/>
            <a:t>.</a:t>
          </a:r>
          <a:endParaRPr lang="en-IN" sz="2300" kern="1200" dirty="0"/>
        </a:p>
      </dsp:txBody>
      <dsp:txXfrm rot="10800000">
        <a:off x="1615122" y="618195"/>
        <a:ext cx="6305846" cy="2756916"/>
      </dsp:txXfrm>
    </dsp:sp>
    <dsp:sp modelId="{8E71572D-7DEF-45C9-BA72-F23843B7E867}">
      <dsp:nvSpPr>
        <dsp:cNvPr id="0" name=""/>
        <dsp:cNvSpPr/>
      </dsp:nvSpPr>
      <dsp:spPr>
        <a:xfrm>
          <a:off x="226364" y="576069"/>
          <a:ext cx="2756916" cy="2756916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8C25D7-8DB3-434D-867F-B875CCE622A2}">
      <dsp:nvSpPr>
        <dsp:cNvPr id="0" name=""/>
        <dsp:cNvSpPr/>
      </dsp:nvSpPr>
      <dsp:spPr>
        <a:xfrm rot="5400000">
          <a:off x="-245635" y="246082"/>
          <a:ext cx="1637567" cy="1146297"/>
        </a:xfrm>
        <a:prstGeom prst="chevron">
          <a:avLst/>
        </a:prstGeom>
        <a:solidFill>
          <a:schemeClr val="accent4">
            <a:lumMod val="5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Dataset</a:t>
          </a:r>
          <a:endParaRPr lang="en-IN" sz="1900" kern="1200" dirty="0"/>
        </a:p>
      </dsp:txBody>
      <dsp:txXfrm rot="-5400000">
        <a:off x="1" y="573596"/>
        <a:ext cx="1146297" cy="491270"/>
      </dsp:txXfrm>
    </dsp:sp>
    <dsp:sp modelId="{81284267-8B4B-4FC2-9B95-22E61C62B9B1}">
      <dsp:nvSpPr>
        <dsp:cNvPr id="0" name=""/>
        <dsp:cNvSpPr/>
      </dsp:nvSpPr>
      <dsp:spPr>
        <a:xfrm rot="5400000">
          <a:off x="4155739" y="-300899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Extracting dataset from excel, where I have major Indian cities, many pollutant, day field, to show changes in air pollution over time</a:t>
          </a:r>
          <a:endParaRPr lang="en-IN" sz="1800" kern="1200" dirty="0"/>
        </a:p>
      </dsp:txBody>
      <dsp:txXfrm rot="-5400000">
        <a:off x="1146298" y="52408"/>
        <a:ext cx="7031341" cy="960496"/>
      </dsp:txXfrm>
    </dsp:sp>
    <dsp:sp modelId="{4AC47D4D-09FF-49B4-B920-5B734EE54468}">
      <dsp:nvSpPr>
        <dsp:cNvPr id="0" name=""/>
        <dsp:cNvSpPr/>
      </dsp:nvSpPr>
      <dsp:spPr>
        <a:xfrm rot="5400000">
          <a:off x="-245635" y="1689832"/>
          <a:ext cx="1637567" cy="1146297"/>
        </a:xfrm>
        <a:prstGeom prst="chevron">
          <a:avLst/>
        </a:prstGeom>
        <a:solidFill>
          <a:schemeClr val="accent4">
            <a:lumMod val="7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Cleaning</a:t>
          </a:r>
          <a:endParaRPr lang="en-IN" sz="1900" kern="1200" dirty="0"/>
        </a:p>
      </dsp:txBody>
      <dsp:txXfrm rot="-5400000">
        <a:off x="1" y="2017346"/>
        <a:ext cx="1146297" cy="491270"/>
      </dsp:txXfrm>
    </dsp:sp>
    <dsp:sp modelId="{4A0B230D-E712-437D-98D4-2D3B6C50235F}">
      <dsp:nvSpPr>
        <dsp:cNvPr id="0" name=""/>
        <dsp:cNvSpPr/>
      </dsp:nvSpPr>
      <dsp:spPr>
        <a:xfrm rot="5400000">
          <a:off x="4155739" y="-156524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Unnecessary column was removed, and by checking all data was proper</a:t>
          </a:r>
          <a:endParaRPr lang="en-IN" sz="1800" kern="1200" dirty="0"/>
        </a:p>
      </dsp:txBody>
      <dsp:txXfrm rot="-5400000">
        <a:off x="1146298" y="1496158"/>
        <a:ext cx="7031341" cy="960496"/>
      </dsp:txXfrm>
    </dsp:sp>
    <dsp:sp modelId="{F1D378ED-3878-43E8-95AC-1BD49904D5FA}">
      <dsp:nvSpPr>
        <dsp:cNvPr id="0" name=""/>
        <dsp:cNvSpPr/>
      </dsp:nvSpPr>
      <dsp:spPr>
        <a:xfrm rot="5400000">
          <a:off x="-245635" y="3133582"/>
          <a:ext cx="1637567" cy="1146297"/>
        </a:xfrm>
        <a:prstGeom prst="chevron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Technology</a:t>
          </a:r>
          <a:endParaRPr lang="en-IN" sz="1900" kern="1200" dirty="0"/>
        </a:p>
      </dsp:txBody>
      <dsp:txXfrm rot="-5400000">
        <a:off x="1" y="3461096"/>
        <a:ext cx="1146297" cy="491270"/>
      </dsp:txXfrm>
    </dsp:sp>
    <dsp:sp modelId="{7137DBBE-9909-4FAC-A6F1-14581A9801DE}">
      <dsp:nvSpPr>
        <dsp:cNvPr id="0" name=""/>
        <dsp:cNvSpPr/>
      </dsp:nvSpPr>
      <dsp:spPr>
        <a:xfrm rot="5400000">
          <a:off x="4155739" y="-12149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MS EXCEL, POWERBI, MS POWERPOINT</a:t>
          </a:r>
          <a:endParaRPr lang="en-IN" sz="1800" kern="1200" dirty="0"/>
        </a:p>
      </dsp:txBody>
      <dsp:txXfrm rot="-5400000">
        <a:off x="1146298" y="2939908"/>
        <a:ext cx="7031341" cy="9604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C8F747-B42C-4D16-8F5F-D1D7A7EB754B}">
      <dsp:nvSpPr>
        <dsp:cNvPr id="0" name=""/>
        <dsp:cNvSpPr/>
      </dsp:nvSpPr>
      <dsp:spPr>
        <a:xfrm>
          <a:off x="0" y="44021"/>
          <a:ext cx="8229600" cy="636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Objective:</a:t>
          </a:r>
          <a:r>
            <a:rPr lang="en-US" sz="1600" kern="1200" dirty="0" smtClean="0"/>
            <a:t> To analyze the severity of air pollution across major Indian cities using key indicators like AQI, PM2.5, NO2, and CO.</a:t>
          </a:r>
          <a:endParaRPr lang="en-IN" sz="1600" kern="1200" dirty="0"/>
        </a:p>
      </dsp:txBody>
      <dsp:txXfrm>
        <a:off x="31070" y="75091"/>
        <a:ext cx="8167460" cy="574340"/>
      </dsp:txXfrm>
    </dsp:sp>
    <dsp:sp modelId="{9A9ED6A3-EBAA-487B-AA08-333DECCB4256}">
      <dsp:nvSpPr>
        <dsp:cNvPr id="0" name=""/>
        <dsp:cNvSpPr/>
      </dsp:nvSpPr>
      <dsp:spPr>
        <a:xfrm>
          <a:off x="0" y="726581"/>
          <a:ext cx="8229600" cy="6364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Key High-Level Metrics:</a:t>
          </a:r>
          <a:endParaRPr lang="en-IN" sz="1800" kern="1200" dirty="0"/>
        </a:p>
      </dsp:txBody>
      <dsp:txXfrm>
        <a:off x="31070" y="757651"/>
        <a:ext cx="8167460" cy="574340"/>
      </dsp:txXfrm>
    </dsp:sp>
    <dsp:sp modelId="{52F4214C-A649-4BE8-91A9-043D2828BAE3}">
      <dsp:nvSpPr>
        <dsp:cNvPr id="0" name=""/>
        <dsp:cNvSpPr/>
      </dsp:nvSpPr>
      <dsp:spPr>
        <a:xfrm>
          <a:off x="0" y="1409141"/>
          <a:ext cx="8229600" cy="6364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smtClean="0"/>
            <a:t>National Average AQI:</a:t>
          </a:r>
          <a:r>
            <a:rPr lang="en-US" sz="1800" kern="1200" smtClean="0"/>
            <a:t> 251.11 (Indicates a high pollution baseline).</a:t>
          </a:r>
          <a:endParaRPr lang="en-IN" sz="1800" kern="1200" dirty="0"/>
        </a:p>
      </dsp:txBody>
      <dsp:txXfrm>
        <a:off x="31070" y="1440211"/>
        <a:ext cx="8167460" cy="574340"/>
      </dsp:txXfrm>
    </dsp:sp>
    <dsp:sp modelId="{7B7BB711-13AE-4B65-8108-4BF98D79E7BC}">
      <dsp:nvSpPr>
        <dsp:cNvPr id="0" name=""/>
        <dsp:cNvSpPr/>
      </dsp:nvSpPr>
      <dsp:spPr>
        <a:xfrm>
          <a:off x="0" y="2091701"/>
          <a:ext cx="8229600" cy="6364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Total PM2.5 Mass:</a:t>
          </a:r>
          <a:r>
            <a:rPr lang="en-US" sz="1800" kern="1200" dirty="0" smtClean="0"/>
            <a:t> 4.58M.</a:t>
          </a:r>
          <a:endParaRPr lang="en-IN" sz="1800" kern="1200" dirty="0"/>
        </a:p>
      </dsp:txBody>
      <dsp:txXfrm>
        <a:off x="31070" y="2122771"/>
        <a:ext cx="8167460" cy="574340"/>
      </dsp:txXfrm>
    </dsp:sp>
    <dsp:sp modelId="{190E1904-393A-43FB-BC6F-33D172B80159}">
      <dsp:nvSpPr>
        <dsp:cNvPr id="0" name=""/>
        <dsp:cNvSpPr/>
      </dsp:nvSpPr>
      <dsp:spPr>
        <a:xfrm>
          <a:off x="0" y="2774261"/>
          <a:ext cx="8229600" cy="63648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Average NO2 Levels:</a:t>
          </a:r>
          <a:r>
            <a:rPr lang="en-US" sz="1800" kern="1200" dirty="0" smtClean="0"/>
            <a:t> 75.42.</a:t>
          </a:r>
          <a:endParaRPr lang="en-IN" sz="1800" kern="1200" dirty="0"/>
        </a:p>
      </dsp:txBody>
      <dsp:txXfrm>
        <a:off x="31070" y="2805331"/>
        <a:ext cx="8167460" cy="574340"/>
      </dsp:txXfrm>
    </dsp:sp>
    <dsp:sp modelId="{3E3281D2-D393-4703-8EBB-8C73237B56BD}">
      <dsp:nvSpPr>
        <dsp:cNvPr id="0" name=""/>
        <dsp:cNvSpPr/>
      </dsp:nvSpPr>
      <dsp:spPr>
        <a:xfrm>
          <a:off x="0" y="3500842"/>
          <a:ext cx="8229600" cy="636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smtClean="0"/>
            <a:t>Average CO Levels:</a:t>
          </a:r>
          <a:r>
            <a:rPr lang="en-US" sz="1800" kern="1200" smtClean="0"/>
            <a:t> 5.00.</a:t>
          </a:r>
          <a:endParaRPr lang="en-IN" sz="1800" kern="1200"/>
        </a:p>
      </dsp:txBody>
      <dsp:txXfrm>
        <a:off x="31070" y="3531912"/>
        <a:ext cx="8167460" cy="5743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0A1243-183D-4A07-AC19-D1B21FCA2D0C}">
      <dsp:nvSpPr>
        <dsp:cNvPr id="0" name=""/>
        <dsp:cNvSpPr/>
      </dsp:nvSpPr>
      <dsp:spPr>
        <a:xfrm>
          <a:off x="0" y="31409"/>
          <a:ext cx="8229600" cy="914940"/>
        </a:xfrm>
        <a:prstGeom prst="roundRec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PM2.5 Distribution:</a:t>
          </a:r>
          <a:r>
            <a:rPr lang="en-US" sz="2300" kern="1200" dirty="0" smtClean="0"/>
            <a:t> A significant portion of cities fall under "Hazardous" or "Very Unhealthy" categories (see pie chart).</a:t>
          </a:r>
          <a:endParaRPr lang="en-IN" sz="2300" kern="1200" dirty="0"/>
        </a:p>
      </dsp:txBody>
      <dsp:txXfrm>
        <a:off x="44664" y="76073"/>
        <a:ext cx="8140272" cy="825612"/>
      </dsp:txXfrm>
    </dsp:sp>
    <dsp:sp modelId="{07402AB6-90FD-478E-B868-A8E286B47F49}">
      <dsp:nvSpPr>
        <dsp:cNvPr id="0" name=""/>
        <dsp:cNvSpPr/>
      </dsp:nvSpPr>
      <dsp:spPr>
        <a:xfrm>
          <a:off x="0" y="1012589"/>
          <a:ext cx="8229600" cy="914940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CO &amp; NO2 Categories:</a:t>
          </a:r>
          <a:r>
            <a:rPr lang="en-US" sz="2300" kern="1200" dirty="0" smtClean="0"/>
            <a:t> * CO levels are predominantly in the "Moderate" to "Good" range for most cities.</a:t>
          </a:r>
          <a:endParaRPr lang="en-IN" sz="2300" kern="1200" dirty="0"/>
        </a:p>
      </dsp:txBody>
      <dsp:txXfrm>
        <a:off x="44664" y="1057253"/>
        <a:ext cx="8140272" cy="825612"/>
      </dsp:txXfrm>
    </dsp:sp>
    <dsp:sp modelId="{603A6298-6F65-4D72-92D7-5342252D1E5E}">
      <dsp:nvSpPr>
        <dsp:cNvPr id="0" name=""/>
        <dsp:cNvSpPr/>
      </dsp:nvSpPr>
      <dsp:spPr>
        <a:xfrm>
          <a:off x="0" y="1993769"/>
          <a:ext cx="8229600" cy="914940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NO2 levels show a split, with over 30% of cities reaching "Moderate" pollution levels.</a:t>
          </a:r>
          <a:endParaRPr lang="en-IN" sz="2300" kern="1200" dirty="0"/>
        </a:p>
      </dsp:txBody>
      <dsp:txXfrm>
        <a:off x="44664" y="2038433"/>
        <a:ext cx="8140272" cy="825612"/>
      </dsp:txXfrm>
    </dsp:sp>
    <dsp:sp modelId="{5F869688-03F3-4514-AF49-58004C79E23B}">
      <dsp:nvSpPr>
        <dsp:cNvPr id="0" name=""/>
        <dsp:cNvSpPr/>
      </dsp:nvSpPr>
      <dsp:spPr>
        <a:xfrm>
          <a:off x="0" y="2974949"/>
          <a:ext cx="8229600" cy="914940"/>
        </a:xfrm>
        <a:prstGeom prst="roundRect">
          <a:avLst/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PM10 Status:</a:t>
          </a:r>
          <a:r>
            <a:rPr lang="en-US" sz="2300" kern="1200" dirty="0" smtClean="0"/>
            <a:t> A funnel analysis showing the distribution from "Satisfactory" to "Severe."</a:t>
          </a:r>
          <a:endParaRPr lang="en-IN" sz="2300" kern="1200" dirty="0"/>
        </a:p>
      </dsp:txBody>
      <dsp:txXfrm>
        <a:off x="44664" y="3019613"/>
        <a:ext cx="8140272" cy="8256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D4FD1-E960-4A60-B123-F5FE06B77A76}">
      <dsp:nvSpPr>
        <dsp:cNvPr id="0" name=""/>
        <dsp:cNvSpPr/>
      </dsp:nvSpPr>
      <dsp:spPr>
        <a:xfrm>
          <a:off x="0" y="0"/>
          <a:ext cx="8229600" cy="897577"/>
        </a:xfrm>
        <a:prstGeom prst="roundRect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For PM2.5 (Pie Chart): "I calculated the share of total days that fell into critical categories like 'Hazardous' to visualize the proportion of high-risk time."</a:t>
          </a:r>
          <a:endParaRPr lang="en-IN" sz="1800" kern="1200" dirty="0"/>
        </a:p>
      </dsp:txBody>
      <dsp:txXfrm>
        <a:off x="43816" y="43816"/>
        <a:ext cx="8141968" cy="809945"/>
      </dsp:txXfrm>
    </dsp:sp>
    <dsp:sp modelId="{0DE3A2FF-17D5-4539-B633-0FC0D10A3B7A}">
      <dsp:nvSpPr>
        <dsp:cNvPr id="0" name=""/>
        <dsp:cNvSpPr/>
      </dsp:nvSpPr>
      <dsp:spPr>
        <a:xfrm>
          <a:off x="0" y="1008110"/>
          <a:ext cx="8229600" cy="841511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For CO (Bar Chart): "I compared the absolute count of days side-by-side to clearly show that 'Moderate' and 'Good' days are the most frequent for Carbon Monoxide."</a:t>
          </a:r>
          <a:endParaRPr lang="en-IN" sz="1800" kern="1200" dirty="0"/>
        </a:p>
      </dsp:txBody>
      <dsp:txXfrm>
        <a:off x="41079" y="1049189"/>
        <a:ext cx="8147442" cy="759353"/>
      </dsp:txXfrm>
    </dsp:sp>
    <dsp:sp modelId="{93CF0DA8-2080-4610-8D34-B6C192894C88}">
      <dsp:nvSpPr>
        <dsp:cNvPr id="0" name=""/>
        <dsp:cNvSpPr/>
      </dsp:nvSpPr>
      <dsp:spPr>
        <a:xfrm>
          <a:off x="0" y="2140074"/>
          <a:ext cx="8229600" cy="716040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For NO2 (Donut Chart): "I broke down the percentage of days to highlight the ratio of safe days versus unhealthy ones for Nitrogen Dioxide."</a:t>
          </a:r>
          <a:endParaRPr lang="en-IN" sz="1800" kern="1200" dirty="0"/>
        </a:p>
      </dsp:txBody>
      <dsp:txXfrm>
        <a:off x="34954" y="2175028"/>
        <a:ext cx="8159692" cy="646132"/>
      </dsp:txXfrm>
    </dsp:sp>
    <dsp:sp modelId="{09693C22-10C6-49B7-B1A3-B5EED897C6F9}">
      <dsp:nvSpPr>
        <dsp:cNvPr id="0" name=""/>
        <dsp:cNvSpPr/>
      </dsp:nvSpPr>
      <dsp:spPr>
        <a:xfrm>
          <a:off x="0" y="2907954"/>
          <a:ext cx="8229600" cy="716040"/>
        </a:xfrm>
        <a:prstGeom prst="roundRect">
          <a:avLst/>
        </a:prstGeom>
        <a:gradFill rotWithShape="0">
          <a:gsLst>
            <a:gs pos="0">
              <a:schemeClr val="accent3">
                <a:shade val="50000"/>
                <a:hueOff val="133778"/>
                <a:satOff val="-2135"/>
                <a:lumOff val="20553"/>
                <a:alphaOff val="0"/>
                <a:tint val="50000"/>
                <a:satMod val="300000"/>
              </a:schemeClr>
            </a:gs>
            <a:gs pos="35000">
              <a:schemeClr val="accent3">
                <a:shade val="50000"/>
                <a:hueOff val="133778"/>
                <a:satOff val="-2135"/>
                <a:lumOff val="20553"/>
                <a:alphaOff val="0"/>
                <a:tint val="37000"/>
                <a:satMod val="300000"/>
              </a:schemeClr>
            </a:gs>
            <a:gs pos="100000">
              <a:schemeClr val="accent3">
                <a:shade val="50000"/>
                <a:hueOff val="133778"/>
                <a:satOff val="-2135"/>
                <a:lumOff val="2055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/>
            <a:t>For PM10 (Funnel Chart): "I arranged the volume of days in a hierarchy to show how the frequency drops as we move from 'Severe' down to 'Satisfactory' levels."</a:t>
          </a:r>
          <a:endParaRPr lang="en-IN" sz="1800" kern="1200" smtClean="0"/>
        </a:p>
      </dsp:txBody>
      <dsp:txXfrm>
        <a:off x="34954" y="2942908"/>
        <a:ext cx="8159692" cy="6461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63474-9AB2-4DA5-B896-8022210755C9}">
      <dsp:nvSpPr>
        <dsp:cNvPr id="0" name=""/>
        <dsp:cNvSpPr/>
      </dsp:nvSpPr>
      <dsp:spPr>
        <a:xfrm>
          <a:off x="0" y="0"/>
          <a:ext cx="4137323" cy="413732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19F208-1D39-4E39-8957-4B8A1B8FE1EA}">
      <dsp:nvSpPr>
        <dsp:cNvPr id="0" name=""/>
        <dsp:cNvSpPr/>
      </dsp:nvSpPr>
      <dsp:spPr>
        <a:xfrm>
          <a:off x="2068661" y="0"/>
          <a:ext cx="6160938" cy="413732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smtClean="0"/>
            <a:t>Summary:</a:t>
          </a:r>
          <a:r>
            <a:rPr lang="en-US" sz="1900" kern="1200" smtClean="0"/>
            <a:t> Urban centers like Delhi, Mumbai, and Kolkata are consistently exceeding safe air quality limits.</a:t>
          </a:r>
          <a:endParaRPr lang="en-IN" sz="1900" kern="1200"/>
        </a:p>
      </dsp:txBody>
      <dsp:txXfrm>
        <a:off x="2068661" y="0"/>
        <a:ext cx="6160938" cy="879181"/>
      </dsp:txXfrm>
    </dsp:sp>
    <dsp:sp modelId="{B91174AF-40DE-4383-90AA-F7F8C101758D}">
      <dsp:nvSpPr>
        <dsp:cNvPr id="0" name=""/>
        <dsp:cNvSpPr/>
      </dsp:nvSpPr>
      <dsp:spPr>
        <a:xfrm>
          <a:off x="543023" y="879181"/>
          <a:ext cx="3051275" cy="305127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623D4-6668-4829-A23C-7EBEBF0509E1}">
      <dsp:nvSpPr>
        <dsp:cNvPr id="0" name=""/>
        <dsp:cNvSpPr/>
      </dsp:nvSpPr>
      <dsp:spPr>
        <a:xfrm>
          <a:off x="2068661" y="879181"/>
          <a:ext cx="6160938" cy="30512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smtClean="0"/>
            <a:t>Data Insight:</a:t>
          </a:r>
          <a:r>
            <a:rPr lang="en-US" sz="1900" kern="1200" smtClean="0"/>
            <a:t> While CO levels remain manageable, PM2.5 and NO2 are the primary drivers of the "Hazardous" AQI ratings.</a:t>
          </a:r>
          <a:endParaRPr lang="en-IN" sz="1900" kern="1200"/>
        </a:p>
      </dsp:txBody>
      <dsp:txXfrm>
        <a:off x="2068661" y="879181"/>
        <a:ext cx="6160938" cy="879181"/>
      </dsp:txXfrm>
    </dsp:sp>
    <dsp:sp modelId="{32B86162-29CD-4287-A8B1-3CBE749C7388}">
      <dsp:nvSpPr>
        <dsp:cNvPr id="0" name=""/>
        <dsp:cNvSpPr/>
      </dsp:nvSpPr>
      <dsp:spPr>
        <a:xfrm>
          <a:off x="1086047" y="1758362"/>
          <a:ext cx="1965228" cy="196522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73B078-2CD1-4049-8E5C-CB981E43705B}">
      <dsp:nvSpPr>
        <dsp:cNvPr id="0" name=""/>
        <dsp:cNvSpPr/>
      </dsp:nvSpPr>
      <dsp:spPr>
        <a:xfrm>
          <a:off x="2068661" y="1758362"/>
          <a:ext cx="6160938" cy="19652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smtClean="0"/>
            <a:t>Call to Action:</a:t>
          </a:r>
          <a:r>
            <a:rPr lang="en-US" sz="1900" kern="1200" smtClean="0"/>
            <a:t> * Implement stricter industrial emission controls in metro hubs.</a:t>
          </a:r>
          <a:endParaRPr lang="en-IN" sz="1900" kern="1200"/>
        </a:p>
      </dsp:txBody>
      <dsp:txXfrm>
        <a:off x="2068661" y="1758362"/>
        <a:ext cx="6160938" cy="879181"/>
      </dsp:txXfrm>
    </dsp:sp>
    <dsp:sp modelId="{362AB059-058F-4944-BA91-5E34F91D4285}">
      <dsp:nvSpPr>
        <dsp:cNvPr id="0" name=""/>
        <dsp:cNvSpPr/>
      </dsp:nvSpPr>
      <dsp:spPr>
        <a:xfrm>
          <a:off x="1629070" y="2637543"/>
          <a:ext cx="879181" cy="87918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2FD5B9-60F5-4161-8239-DDDC1FEC4AFE}">
      <dsp:nvSpPr>
        <dsp:cNvPr id="0" name=""/>
        <dsp:cNvSpPr/>
      </dsp:nvSpPr>
      <dsp:spPr>
        <a:xfrm>
          <a:off x="2068661" y="2637543"/>
          <a:ext cx="6160938" cy="87918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/>
            <a:t>Enhance green cover and public transport to reduce NO2 from vehicular </a:t>
          </a:r>
          <a:r>
            <a:rPr lang="en-IN" sz="1900" kern="1200" smtClean="0"/>
            <a:t>exhaust.</a:t>
          </a:r>
          <a:endParaRPr lang="en-IN" sz="1900" kern="1200"/>
        </a:p>
      </dsp:txBody>
      <dsp:txXfrm>
        <a:off x="2068661" y="2637543"/>
        <a:ext cx="6160938" cy="8791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9B222D-42CB-4985-A81E-2887875217F1}">
      <dsp:nvSpPr>
        <dsp:cNvPr id="0" name=""/>
        <dsp:cNvSpPr/>
      </dsp:nvSpPr>
      <dsp:spPr>
        <a:xfrm rot="10800000">
          <a:off x="1635909" y="525"/>
          <a:ext cx="5472684" cy="10298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115" tIns="76200" rIns="14224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smtClean="0"/>
            <a:t>Primary Pollutants Identified:</a:t>
          </a:r>
          <a:r>
            <a:rPr lang="en-US" sz="2000" kern="1200" smtClean="0"/>
            <a:t> The analysis focuses on $CO$, $NO_2$, $O_3$, $PM10$, $PM2.5$, and $SO_2$.</a:t>
          </a:r>
          <a:endParaRPr lang="en-IN" sz="2000" kern="1200"/>
        </a:p>
      </dsp:txBody>
      <dsp:txXfrm rot="10800000">
        <a:off x="1893360" y="525"/>
        <a:ext cx="5215233" cy="1029805"/>
      </dsp:txXfrm>
    </dsp:sp>
    <dsp:sp modelId="{7FFD873E-548E-4701-8E14-203C2E60F8DE}">
      <dsp:nvSpPr>
        <dsp:cNvPr id="0" name=""/>
        <dsp:cNvSpPr/>
      </dsp:nvSpPr>
      <dsp:spPr>
        <a:xfrm>
          <a:off x="1121006" y="525"/>
          <a:ext cx="1029805" cy="10298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B13565-CE81-459F-9F67-46395C2F8F20}">
      <dsp:nvSpPr>
        <dsp:cNvPr id="0" name=""/>
        <dsp:cNvSpPr/>
      </dsp:nvSpPr>
      <dsp:spPr>
        <a:xfrm rot="10800000">
          <a:off x="1635909" y="1337734"/>
          <a:ext cx="5472684" cy="10298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115" tIns="76200" rIns="14224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smtClean="0"/>
            <a:t>Observed Trends:</a:t>
          </a:r>
          <a:r>
            <a:rPr lang="en-US" sz="2000" kern="1200" smtClean="0"/>
            <a:t> Data indicates that pollution levels reach "Morning peaks".</a:t>
          </a:r>
          <a:endParaRPr lang="en-IN" sz="2000" kern="1200"/>
        </a:p>
      </dsp:txBody>
      <dsp:txXfrm rot="10800000">
        <a:off x="1893360" y="1337734"/>
        <a:ext cx="5215233" cy="1029805"/>
      </dsp:txXfrm>
    </dsp:sp>
    <dsp:sp modelId="{0287FED3-26B7-4B0D-8392-5F11EAD4DF61}">
      <dsp:nvSpPr>
        <dsp:cNvPr id="0" name=""/>
        <dsp:cNvSpPr/>
      </dsp:nvSpPr>
      <dsp:spPr>
        <a:xfrm>
          <a:off x="1121006" y="1337734"/>
          <a:ext cx="1029805" cy="10298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66816-F1F3-4314-ADD9-636F77DD6331}">
      <dsp:nvSpPr>
        <dsp:cNvPr id="0" name=""/>
        <dsp:cNvSpPr/>
      </dsp:nvSpPr>
      <dsp:spPr>
        <a:xfrm rot="10800000">
          <a:off x="1635909" y="2674944"/>
          <a:ext cx="5472684" cy="10298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115" tIns="76200" rIns="14224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smtClean="0"/>
            <a:t>Primary Cause:</a:t>
          </a:r>
          <a:r>
            <a:rPr lang="en-US" sz="2000" kern="1200" smtClean="0"/>
            <a:t> "Vehicle exhaust" is identified as the first possible cause for these elevated levels.</a:t>
          </a:r>
          <a:endParaRPr lang="en-IN" sz="2000" kern="1200"/>
        </a:p>
      </dsp:txBody>
      <dsp:txXfrm rot="10800000">
        <a:off x="1893360" y="2674944"/>
        <a:ext cx="5215233" cy="1029805"/>
      </dsp:txXfrm>
    </dsp:sp>
    <dsp:sp modelId="{99E1402C-B269-4A8F-9B66-D18475D976E8}">
      <dsp:nvSpPr>
        <dsp:cNvPr id="0" name=""/>
        <dsp:cNvSpPr/>
      </dsp:nvSpPr>
      <dsp:spPr>
        <a:xfrm>
          <a:off x="1121006" y="2674944"/>
          <a:ext cx="1029805" cy="10298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934D01-C5C5-4D34-993E-9028623A469F}">
      <dsp:nvSpPr>
        <dsp:cNvPr id="0" name=""/>
        <dsp:cNvSpPr/>
      </dsp:nvSpPr>
      <dsp:spPr>
        <a:xfrm>
          <a:off x="1951609" y="0"/>
          <a:ext cx="4525963" cy="4525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BBCE66-BAB0-4FDD-9A4A-1D8988914D19}">
      <dsp:nvSpPr>
        <dsp:cNvPr id="0" name=""/>
        <dsp:cNvSpPr/>
      </dsp:nvSpPr>
      <dsp:spPr>
        <a:xfrm>
          <a:off x="498964" y="429966"/>
          <a:ext cx="3616848" cy="1752628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Decarbonizing Transport:</a:t>
          </a:r>
          <a:r>
            <a:rPr lang="en-US" sz="1600" kern="1200" dirty="0" smtClean="0"/>
            <a:t> Prioritize the transition to </a:t>
          </a:r>
          <a:r>
            <a:rPr lang="en-US" sz="1600" b="1" kern="1200" dirty="0" smtClean="0"/>
            <a:t>Electric Vehicles (EVs)</a:t>
          </a:r>
          <a:r>
            <a:rPr lang="en-US" sz="1600" kern="1200" dirty="0" smtClean="0"/>
            <a:t> and improve traffic flow to mitigate "Morning Peaks" caused by vehicle exhaust, which the data identifies as a primary pollutant source.</a:t>
          </a:r>
          <a:endParaRPr lang="en-IN" sz="1600" kern="1200" dirty="0"/>
        </a:p>
      </dsp:txBody>
      <dsp:txXfrm>
        <a:off x="584520" y="515522"/>
        <a:ext cx="3445736" cy="1581516"/>
      </dsp:txXfrm>
    </dsp:sp>
    <dsp:sp modelId="{644E104F-01E6-42DE-B6BB-C18668B9483D}">
      <dsp:nvSpPr>
        <dsp:cNvPr id="0" name=""/>
        <dsp:cNvSpPr/>
      </dsp:nvSpPr>
      <dsp:spPr>
        <a:xfrm>
          <a:off x="4474844" y="388636"/>
          <a:ext cx="3213552" cy="1835289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Stricter Industrial Oversight:</a:t>
          </a:r>
          <a:r>
            <a:rPr lang="en-US" sz="1600" kern="1200" dirty="0" smtClean="0"/>
            <a:t> Implement 24/7 real-time monitoring of $SO_2$ and $NO_2$ in industrial clusters to prevent cities from entering the "Severe" category.</a:t>
          </a:r>
          <a:endParaRPr lang="en-IN" sz="1600" kern="1200" dirty="0"/>
        </a:p>
      </dsp:txBody>
      <dsp:txXfrm>
        <a:off x="4564435" y="478227"/>
        <a:ext cx="3034370" cy="1656107"/>
      </dsp:txXfrm>
    </dsp:sp>
    <dsp:sp modelId="{E6587E5A-AF49-4EA1-AA3F-A0D0EEC1FE72}">
      <dsp:nvSpPr>
        <dsp:cNvPr id="0" name=""/>
        <dsp:cNvSpPr/>
      </dsp:nvSpPr>
      <dsp:spPr>
        <a:xfrm>
          <a:off x="514400" y="2260839"/>
          <a:ext cx="3535705" cy="1979288"/>
        </a:xfrm>
        <a:prstGeom prst="roundRect">
          <a:avLst/>
        </a:prstGeom>
        <a:solidFill>
          <a:schemeClr val="tx1">
            <a:lumMod val="75000"/>
            <a:lumOff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Public Health Safeguards:</a:t>
          </a:r>
          <a:r>
            <a:rPr lang="en-US" sz="1600" kern="1200" dirty="0" smtClean="0"/>
            <a:t> Use AQI data to trigger "Low-Activity Alerts" during peak hours to protect citizens from respiratory distress and reduced oxygen transport.</a:t>
          </a:r>
          <a:endParaRPr lang="en-IN" sz="1600" kern="1200" dirty="0"/>
        </a:p>
      </dsp:txBody>
      <dsp:txXfrm>
        <a:off x="611021" y="2357460"/>
        <a:ext cx="3342463" cy="1786046"/>
      </dsp:txXfrm>
    </dsp:sp>
    <dsp:sp modelId="{7D7D10F3-C0E8-4FE3-B317-886EF9D150BE}">
      <dsp:nvSpPr>
        <dsp:cNvPr id="0" name=""/>
        <dsp:cNvSpPr/>
      </dsp:nvSpPr>
      <dsp:spPr>
        <a:xfrm>
          <a:off x="4486123" y="2332856"/>
          <a:ext cx="3217682" cy="1839243"/>
        </a:xfrm>
        <a:prstGeom prst="roundRect">
          <a:avLst/>
        </a:prstGeom>
        <a:solidFill>
          <a:schemeClr val="tx1">
            <a:lumMod val="85000"/>
            <a:lumOff val="1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Infrastructure &amp; Policy:</a:t>
          </a:r>
          <a:r>
            <a:rPr lang="en-US" sz="1700" kern="1200" dirty="0" smtClean="0"/>
            <a:t> Expand urban green belts to act as natural $PM_{10}$ filters and enforce cleaner fuel standards across all major metropolitan hubs.</a:t>
          </a:r>
          <a:endParaRPr lang="en-IN" sz="1700" kern="1200" dirty="0"/>
        </a:p>
      </dsp:txBody>
      <dsp:txXfrm>
        <a:off x="4575907" y="2422640"/>
        <a:ext cx="3038114" cy="1659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02F1-85A5-46A4-B1F3-D509595545B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E3C7-1479-4F11-B603-DF64D366A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043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02F1-85A5-46A4-B1F3-D509595545B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E3C7-1479-4F11-B603-DF64D366A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405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02F1-85A5-46A4-B1F3-D509595545B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E3C7-1479-4F11-B603-DF64D366A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92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02F1-85A5-46A4-B1F3-D509595545B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E3C7-1479-4F11-B603-DF64D366A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517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02F1-85A5-46A4-B1F3-D509595545B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E3C7-1479-4F11-B603-DF64D366A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137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02F1-85A5-46A4-B1F3-D509595545B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E3C7-1479-4F11-B603-DF64D366A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00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02F1-85A5-46A4-B1F3-D509595545B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E3C7-1479-4F11-B603-DF64D366A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773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02F1-85A5-46A4-B1F3-D509595545B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E3C7-1479-4F11-B603-DF64D366A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18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02F1-85A5-46A4-B1F3-D509595545B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E3C7-1479-4F11-B603-DF64D366A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290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02F1-85A5-46A4-B1F3-D509595545B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E3C7-1479-4F11-B603-DF64D366A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60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02F1-85A5-46A4-B1F3-D509595545B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E3C7-1479-4F11-B603-DF64D366A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98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702F1-85A5-46A4-B1F3-D509595545B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AE3C7-1479-4F11-B603-DF64D366A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244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80729"/>
            <a:ext cx="7772400" cy="1872207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Air We Breathe: A National Analysis of India’s Air Pollution Crisis</a:t>
            </a:r>
            <a:endParaRPr lang="en-IN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22098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Data-Driven Insights into Urban Air Quality and Pollutant Trends</a:t>
            </a:r>
          </a:p>
          <a:p>
            <a:r>
              <a:rPr lang="en-IN" sz="2400" b="1" dirty="0" smtClean="0">
                <a:solidFill>
                  <a:schemeClr val="tx2">
                    <a:lumMod val="50000"/>
                  </a:schemeClr>
                </a:solidFill>
              </a:rPr>
              <a:t>Presenter Name:</a:t>
            </a:r>
            <a:r>
              <a:rPr lang="en-IN" sz="2400" dirty="0" smtClean="0">
                <a:solidFill>
                  <a:schemeClr val="tx2">
                    <a:lumMod val="50000"/>
                  </a:schemeClr>
                </a:solidFill>
              </a:rPr>
              <a:t> LOPAMUDRA ROY</a:t>
            </a:r>
            <a:endParaRPr lang="en-IN" sz="2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085184"/>
            <a:ext cx="2376264" cy="13920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5085184"/>
            <a:ext cx="2448272" cy="13914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5085184"/>
            <a:ext cx="2664296" cy="139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25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476672"/>
            <a:ext cx="2736304" cy="612068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Introduction  </a:t>
            </a:r>
          </a:p>
          <a:p>
            <a:pPr algn="ctr"/>
            <a:r>
              <a:rPr lang="en-US" dirty="0"/>
              <a:t>2. Problem Statement  </a:t>
            </a:r>
          </a:p>
          <a:p>
            <a:pPr algn="ctr"/>
            <a:r>
              <a:rPr lang="en-US" dirty="0"/>
              <a:t>3. Dataset Overview  </a:t>
            </a:r>
          </a:p>
          <a:p>
            <a:pPr algn="ctr"/>
            <a:r>
              <a:rPr lang="en-US" dirty="0"/>
              <a:t>4. Data Cleaning &amp; Preparation 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400725" y="476672"/>
            <a:ext cx="2664296" cy="612068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5. Tools &amp; Technologies Used  </a:t>
            </a:r>
          </a:p>
          <a:p>
            <a:pPr algn="ctr"/>
            <a:r>
              <a:rPr lang="en-US" dirty="0"/>
              <a:t>6. Dashboard Overview  </a:t>
            </a:r>
          </a:p>
          <a:p>
            <a:pPr algn="ctr"/>
            <a:r>
              <a:rPr lang="en-US" dirty="0"/>
              <a:t>7. City-wise AQI Analysis  </a:t>
            </a:r>
          </a:p>
          <a:p>
            <a:pPr algn="ctr"/>
            <a:r>
              <a:rPr lang="en-US" dirty="0"/>
              <a:t>8. Pollutant-wise </a:t>
            </a:r>
            <a:r>
              <a:rPr lang="en-US" dirty="0" smtClean="0"/>
              <a:t>Analysis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042069" y="492696"/>
            <a:ext cx="2736304" cy="612068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9. AQI Category </a:t>
            </a:r>
            <a:r>
              <a:rPr lang="en-US" sz="2400" dirty="0" smtClean="0"/>
              <a:t>Distribution</a:t>
            </a:r>
          </a:p>
          <a:p>
            <a:r>
              <a:rPr lang="en-US" sz="2400" dirty="0" smtClean="0"/>
              <a:t>  </a:t>
            </a:r>
            <a:endParaRPr lang="en-US" sz="2400" dirty="0"/>
          </a:p>
          <a:p>
            <a:r>
              <a:rPr lang="en-US" sz="2400" dirty="0"/>
              <a:t>10. Trend Analysis </a:t>
            </a:r>
            <a:endParaRPr lang="en-US" sz="2400" dirty="0" smtClean="0"/>
          </a:p>
          <a:p>
            <a:r>
              <a:rPr lang="en-US" sz="2400" dirty="0" smtClean="0"/>
              <a:t> </a:t>
            </a:r>
            <a:endParaRPr lang="en-US" sz="2400" dirty="0"/>
          </a:p>
          <a:p>
            <a:r>
              <a:rPr lang="en-US" sz="2400" dirty="0"/>
              <a:t>11. Key Insights &amp; Findings  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/>
              <a:t>12. Conclusion &amp; Future Scope</a:t>
            </a:r>
            <a:endParaRPr lang="en-IN" sz="2400" dirty="0"/>
          </a:p>
        </p:txBody>
      </p:sp>
      <p:sp>
        <p:nvSpPr>
          <p:cNvPr id="7" name="Rectangle 6"/>
          <p:cNvSpPr/>
          <p:nvPr/>
        </p:nvSpPr>
        <p:spPr>
          <a:xfrm>
            <a:off x="3131840" y="476672"/>
            <a:ext cx="2925153" cy="612068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5. Tools &amp; Technologies </a:t>
            </a:r>
            <a:r>
              <a:rPr lang="en-US" sz="2400" dirty="0" smtClean="0"/>
              <a:t>Used</a:t>
            </a:r>
          </a:p>
          <a:p>
            <a:r>
              <a:rPr lang="en-US" sz="2400" dirty="0" smtClean="0"/>
              <a:t>  </a:t>
            </a:r>
            <a:endParaRPr lang="en-US" sz="2400" dirty="0"/>
          </a:p>
          <a:p>
            <a:r>
              <a:rPr lang="en-US" sz="2400" dirty="0"/>
              <a:t>6. Dashboard Overview  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/>
              <a:t>7. </a:t>
            </a:r>
            <a:r>
              <a:rPr lang="en-US" sz="2400" dirty="0" smtClean="0"/>
              <a:t>City days-wise </a:t>
            </a:r>
            <a:r>
              <a:rPr lang="en-US" sz="2400" dirty="0"/>
              <a:t>AQI Analysis  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/>
              <a:t>8. Pollutant-wise </a:t>
            </a:r>
            <a:r>
              <a:rPr lang="en-US" sz="2400" dirty="0" smtClean="0"/>
              <a:t>Analysis</a:t>
            </a:r>
            <a:endParaRPr lang="en-IN" sz="2400" dirty="0"/>
          </a:p>
        </p:txBody>
      </p:sp>
      <p:sp>
        <p:nvSpPr>
          <p:cNvPr id="6" name="Rectangle 5"/>
          <p:cNvSpPr/>
          <p:nvPr/>
        </p:nvSpPr>
        <p:spPr>
          <a:xfrm>
            <a:off x="119601" y="476672"/>
            <a:ext cx="3004211" cy="612068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Introduction  </a:t>
            </a:r>
          </a:p>
          <a:p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Problem Statement </a:t>
            </a:r>
            <a:endParaRPr 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Dataset Overview </a:t>
            </a:r>
            <a:endParaRPr 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Data Cleaning &amp; Preparation </a:t>
            </a: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hevron 4"/>
          <p:cNvSpPr/>
          <p:nvPr/>
        </p:nvSpPr>
        <p:spPr>
          <a:xfrm>
            <a:off x="2568886" y="2924944"/>
            <a:ext cx="554925" cy="612068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5436096" y="2924944"/>
            <a:ext cx="628925" cy="612068"/>
          </a:xfrm>
          <a:prstGeom prst="chevron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888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MY TOPIC</a:t>
            </a:r>
            <a:endParaRPr lang="en-IN" sz="36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412777"/>
            <a:ext cx="8280920" cy="2160240"/>
          </a:xfrm>
        </p:spPr>
      </p:pic>
      <p:sp>
        <p:nvSpPr>
          <p:cNvPr id="6" name="Rectangle 5"/>
          <p:cNvSpPr/>
          <p:nvPr/>
        </p:nvSpPr>
        <p:spPr>
          <a:xfrm>
            <a:off x="467544" y="3861048"/>
            <a:ext cx="820891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Air pollution is a major environmental and health issue in India caused by rapid urbanization, industrialization, and increasing vehicle emissions.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Many Indian cities regularly exceed safe air quality limits, leading to serious health problems.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This project uses Power BI to analyze air pollution data across India and identify trends and regional patterns.</a:t>
            </a:r>
            <a:endParaRPr lang="en-IN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197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  <a:endParaRPr lang="en-IN" sz="36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3001071"/>
              </p:ext>
            </p:extLst>
          </p:nvPr>
        </p:nvGraphicFramePr>
        <p:xfrm>
          <a:off x="457200" y="2132856"/>
          <a:ext cx="8229600" cy="39933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2711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Dataset-&gt;Cleaning-&gt;Technology used</a:t>
            </a:r>
            <a:endParaRPr lang="en-IN" sz="36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945877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2711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OVERVIEW</a:t>
            </a:r>
            <a:endParaRPr lang="en-IN" sz="36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194054"/>
            <a:ext cx="8208912" cy="4259282"/>
          </a:xfrm>
        </p:spPr>
      </p:pic>
      <p:sp>
        <p:nvSpPr>
          <p:cNvPr id="7" name="Rectangle 6"/>
          <p:cNvSpPr/>
          <p:nvPr/>
        </p:nvSpPr>
        <p:spPr>
          <a:xfrm>
            <a:off x="1259632" y="1670834"/>
            <a:ext cx="64087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Lets explain the overall view part by part</a:t>
            </a:r>
            <a:endParaRPr lang="en-IN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74151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KPI Prospective</a:t>
            </a:r>
            <a:endParaRPr lang="en-IN" sz="36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807520"/>
            <a:ext cx="7992887" cy="2088231"/>
          </a:xfrm>
        </p:spPr>
      </p:pic>
      <p:sp>
        <p:nvSpPr>
          <p:cNvPr id="7" name="Rectangle 6"/>
          <p:cNvSpPr/>
          <p:nvPr/>
        </p:nvSpPr>
        <p:spPr>
          <a:xfrm>
            <a:off x="1835696" y="1670834"/>
            <a:ext cx="49794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view basis of KPIS</a:t>
            </a:r>
            <a:endParaRPr lang="en-IN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1708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sz="3600" dirty="0" smtClean="0">
                <a:solidFill>
                  <a:schemeClr val="tx2">
                    <a:lumMod val="50000"/>
                  </a:schemeClr>
                </a:solidFill>
              </a:rPr>
              <a:t>Project Overview &amp; Executive Summary</a:t>
            </a:r>
            <a:endParaRPr lang="en-IN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582066"/>
              </p:ext>
            </p:extLst>
          </p:nvPr>
        </p:nvGraphicFramePr>
        <p:xfrm>
          <a:off x="457200" y="1988840"/>
          <a:ext cx="8229600" cy="4137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2054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Pollutant Breakdown &amp; Health Risk Categories</a:t>
            </a:r>
            <a:endParaRPr lang="en-IN" sz="36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468940"/>
              </p:ext>
            </p:extLst>
          </p:nvPr>
        </p:nvGraphicFramePr>
        <p:xfrm>
          <a:off x="457200" y="2204864"/>
          <a:ext cx="8229600" cy="3921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464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Citi days on pollutant</a:t>
            </a:r>
            <a:endParaRPr lang="en-IN" sz="36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708920"/>
            <a:ext cx="8280920" cy="2088231"/>
          </a:xfrm>
        </p:spPr>
      </p:pic>
      <p:sp>
        <p:nvSpPr>
          <p:cNvPr id="6" name="Rectangle 5"/>
          <p:cNvSpPr/>
          <p:nvPr/>
        </p:nvSpPr>
        <p:spPr>
          <a:xfrm>
            <a:off x="1475656" y="1556792"/>
            <a:ext cx="53823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solidFill>
                  <a:srgbClr val="002060"/>
                </a:solidFill>
              </a:rPr>
              <a:t>Basis of number of city days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822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Pollutant Breakdown &amp; Health Risk Categories</a:t>
            </a:r>
            <a:endParaRPr lang="en-IN" sz="36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8076422"/>
              </p:ext>
            </p:extLst>
          </p:nvPr>
        </p:nvGraphicFramePr>
        <p:xfrm>
          <a:off x="457200" y="2204864"/>
          <a:ext cx="8229600" cy="3921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5458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States</a:t>
            </a:r>
            <a:endParaRPr lang="en-IN" sz="36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018173"/>
            <a:ext cx="8280920" cy="2139019"/>
          </a:xfrm>
        </p:spPr>
      </p:pic>
      <p:sp>
        <p:nvSpPr>
          <p:cNvPr id="6" name="Rectangle 5"/>
          <p:cNvSpPr/>
          <p:nvPr/>
        </p:nvSpPr>
        <p:spPr>
          <a:xfrm>
            <a:off x="1475656" y="1556792"/>
            <a:ext cx="53823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solidFill>
                  <a:srgbClr val="002060"/>
                </a:solidFill>
              </a:rPr>
              <a:t>Basis of 3 top state at a glance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499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Geographic Hotspots (Top 3 Polluted Cities/States)</a:t>
            </a:r>
            <a:endParaRPr lang="en-IN" sz="36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</p:spPr>
        <p:txBody>
          <a:bodyPr>
            <a:normAutofit fontScale="85000" lnSpcReduction="20000"/>
          </a:bodyPr>
          <a:lstStyle/>
          <a:p>
            <a:r>
              <a:rPr lang="en-IN" sz="3100" b="1" dirty="0"/>
              <a:t>G</a:t>
            </a:r>
            <a:r>
              <a:rPr lang="en-IN" sz="3100" b="1" dirty="0" smtClean="0"/>
              <a:t>eographic </a:t>
            </a:r>
            <a:r>
              <a:rPr lang="en-IN" sz="3100" b="1" dirty="0"/>
              <a:t>Hotspots (Top 3 Polluted Cities/States)</a:t>
            </a:r>
          </a:p>
          <a:p>
            <a:r>
              <a:rPr lang="en-IN" sz="3100" b="1" dirty="0"/>
              <a:t>Highest Average AQI:</a:t>
            </a:r>
            <a:endParaRPr lang="en-IN" sz="3100" dirty="0"/>
          </a:p>
          <a:p>
            <a:pPr lvl="1"/>
            <a:r>
              <a:rPr lang="en-IN" sz="3100" b="1" dirty="0"/>
              <a:t>Mumbai:</a:t>
            </a:r>
            <a:r>
              <a:rPr lang="en-IN" sz="3100" dirty="0"/>
              <a:t> 253</a:t>
            </a:r>
          </a:p>
          <a:p>
            <a:pPr lvl="1"/>
            <a:r>
              <a:rPr lang="en-IN" sz="3100" b="1" dirty="0"/>
              <a:t>Delhi:</a:t>
            </a:r>
            <a:r>
              <a:rPr lang="en-IN" sz="3100" dirty="0"/>
              <a:t> 251</a:t>
            </a:r>
          </a:p>
          <a:p>
            <a:pPr lvl="1"/>
            <a:r>
              <a:rPr lang="en-IN" sz="3100" b="1" dirty="0"/>
              <a:t>Kolkata:</a:t>
            </a:r>
            <a:r>
              <a:rPr lang="en-IN" sz="3100" dirty="0"/>
              <a:t> 251</a:t>
            </a:r>
          </a:p>
          <a:p>
            <a:r>
              <a:rPr lang="en-IN" sz="3100" b="1" dirty="0"/>
              <a:t>Pollutant Specifics:</a:t>
            </a:r>
            <a:endParaRPr lang="en-IN" sz="3100" dirty="0"/>
          </a:p>
          <a:p>
            <a:pPr lvl="1"/>
            <a:r>
              <a:rPr lang="en-IN" sz="3100" b="1" dirty="0"/>
              <a:t>Ozone ($O_3$):</a:t>
            </a:r>
            <a:r>
              <a:rPr lang="en-IN" sz="3100" dirty="0"/>
              <a:t> Kolkata leads in Ozone concentration among the top three.</a:t>
            </a:r>
          </a:p>
          <a:p>
            <a:pPr lvl="1"/>
            <a:r>
              <a:rPr lang="en-IN" sz="3100" b="1" dirty="0"/>
              <a:t>Nitrogen Dioxide ($NO_2$):</a:t>
            </a:r>
            <a:r>
              <a:rPr lang="en-IN" sz="3100" dirty="0"/>
              <a:t> Delhi shows the highest average $NO_2$ (75.91), followed closely by Mumbai and </a:t>
            </a:r>
            <a:r>
              <a:rPr lang="en-IN" sz="3100" dirty="0" smtClean="0"/>
              <a:t>Kolkata.</a:t>
            </a:r>
            <a:endParaRPr lang="en-IN" sz="31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458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IN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 &amp; Recommendations</a:t>
            </a:r>
            <a:endParaRPr lang="en-IN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2560189"/>
              </p:ext>
            </p:extLst>
          </p:nvPr>
        </p:nvGraphicFramePr>
        <p:xfrm>
          <a:off x="457200" y="1988840"/>
          <a:ext cx="8229600" cy="4137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3825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CAUSE-&gt;EFFECT-&gt;TREND-&gt;ACTION</a:t>
            </a:r>
            <a:endParaRPr lang="en-IN" sz="36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348880"/>
            <a:ext cx="8064896" cy="4176463"/>
          </a:xfrm>
        </p:spPr>
      </p:pic>
    </p:spTree>
    <p:extLst>
      <p:ext uri="{BB962C8B-B14F-4D97-AF65-F5344CB8AC3E}">
        <p14:creationId xmlns:p14="http://schemas.microsoft.com/office/powerpoint/2010/main" val="1390627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Air Pollution: Root Causes and Observations</a:t>
            </a:r>
            <a:endParaRPr lang="en-IN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5822525"/>
              </p:ext>
            </p:extLst>
          </p:nvPr>
        </p:nvGraphicFramePr>
        <p:xfrm>
          <a:off x="457200" y="2420888"/>
          <a:ext cx="8229600" cy="3705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7327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Recommendations: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115397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7982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048672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dirty="0" smtClean="0"/>
          </a:p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endParaRPr lang="en-US" sz="4400" dirty="0" smtClean="0"/>
          </a:p>
          <a:p>
            <a:pPr marL="0" indent="0" algn="ctr">
              <a:buNone/>
            </a:pPr>
            <a:r>
              <a:rPr lang="en-US" sz="6000" dirty="0" smtClean="0"/>
              <a:t>THANK YOU</a:t>
            </a:r>
          </a:p>
          <a:p>
            <a:pPr marL="0" indent="0" algn="ctr">
              <a:buNone/>
            </a:pPr>
            <a:r>
              <a:rPr lang="en-US" sz="2400" dirty="0"/>
              <a:t>“Let’s breathe life into our future—take care of the air we share.”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14232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901</Words>
  <Application>Microsoft Office PowerPoint</Application>
  <PresentationFormat>On-screen Show (4:3)</PresentationFormat>
  <Paragraphs>98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The Air We Breathe: A National Analysis of India’s Air Pollution Crisis</vt:lpstr>
      <vt:lpstr>PowerPoint Presentation</vt:lpstr>
      <vt:lpstr>INTRODUCTION TO MY TOPIC</vt:lpstr>
      <vt:lpstr>Problem statement</vt:lpstr>
      <vt:lpstr>Dataset-&gt;Cleaning-&gt;Technology used</vt:lpstr>
      <vt:lpstr>DASHBOARD OVERVIEW</vt:lpstr>
      <vt:lpstr>On KPI Prospective</vt:lpstr>
      <vt:lpstr>Project Overview &amp; Executive Summary</vt:lpstr>
      <vt:lpstr>Pollutant Breakdown &amp; Health Risk Categories</vt:lpstr>
      <vt:lpstr>Citi days on pollutant</vt:lpstr>
      <vt:lpstr>Pollutant Breakdown &amp; Health Risk Categories</vt:lpstr>
      <vt:lpstr>Top States</vt:lpstr>
      <vt:lpstr>Geographic Hotspots (Top 3 Polluted Cities/States)</vt:lpstr>
      <vt:lpstr>Conclusion &amp; Recommendations</vt:lpstr>
      <vt:lpstr>CAUSE-&gt;EFFECT-&gt;TREND-&gt;ACTION</vt:lpstr>
      <vt:lpstr>Air Pollution: Root Causes and Observations</vt:lpstr>
      <vt:lpstr> Key Recommendations: 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Air We Breathe: A National Analysis of India’s Air Pollution Crisis</dc:title>
  <dc:creator>User</dc:creator>
  <cp:lastModifiedBy>User</cp:lastModifiedBy>
  <cp:revision>70</cp:revision>
  <dcterms:created xsi:type="dcterms:W3CDTF">2026-01-10T11:27:32Z</dcterms:created>
  <dcterms:modified xsi:type="dcterms:W3CDTF">2026-02-02T03:57:47Z</dcterms:modified>
</cp:coreProperties>
</file>